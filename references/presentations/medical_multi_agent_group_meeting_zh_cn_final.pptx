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5" r:id="rId11"/>
    <p:sldId id="267" r:id="rId12"/>
    <p:sldId id="268" r:id="rId1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本次汇报围绕九篇医疗 LLM Agent / Multi-Agent 论文展开。</a:t>
            </a:r>
          </a:p>
          <a:p>
            <a:r>
              <a:t>汇报目标有两个：第一，建立清晰的研究版图；第二，确定一个适合首次复现的多智能体项目。</a:t>
            </a:r>
          </a:p>
          <a:p>
            <a:r>
              <a:t>封面视觉为抽象示意，不代表真实临床部署。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这张表只讲每篇论文的一句话定位，不在这里展开数字。</a:t>
            </a:r>
          </a:p>
          <a:p>
            <a:r>
              <a:t>前两篇主要研究动态团队；MedLA 和 ToR 研究结构化推理；MAM、TriageAgent、DoctorAgent-RL、DeepRare强调具体临床流程；Optimization Paradox负责提醒端到端风险。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MDAgents 的核心不是让所有题都多人讨论，而是先判断复杂度，再决定协作规模。</a:t>
            </a:r>
          </a:p>
          <a:p>
            <a:r>
              <a:t>低复杂度由单个基层医生 Agent 处理；中等复杂度用 MDT 多轮讨论；高复杂度用多层团队和汇总报告。</a:t>
            </a:r>
          </a:p>
          <a:p>
            <a:r>
              <a:t>论文在 10 个数据集上测试，每个数据集抽取 50 个样本，报告 7/10 个数据集最好，最大提升 11.8%。</a:t>
            </a:r>
          </a:p>
          <a:p>
            <a:r>
              <a:t>Source: MDAgents: An Adaptive Collaboration of LLMs for Medical Decision-Making, Figure 1, Table 2. Repository: https://github.com/mitmedialab/MDAgents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KAMAC 比 MDAgents 更动态。MDAgents 在开始前确定团队规模，KAMAC 可以在讨论中继续招募新专家。</a:t>
            </a:r>
          </a:p>
          <a:p>
            <a:r>
              <a:t>GPT-4.1-mini 上，KAMAC 在 Progn-VQA 的四指标平均分从 70.95 提升到 78.31，增加 7.36 个点。</a:t>
            </a:r>
          </a:p>
          <a:p>
            <a:r>
              <a:t>作者还发现从 1 个初始专家开始比 5 个更有效，原因是知识缺口检测更聚焦，冗余更少。</a:t>
            </a:r>
          </a:p>
          <a:p>
            <a:r>
              <a:t>Source: A Knowledge-driven Adaptive Collaboration of LLMs for Enhancing Medical Decision-making, Figure 2, Tables 1–3. Repository: https://github.com/XiaoXiao-Woo/KAMAC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MedLA 的创新点是把讨论对象从自然语言结论改成逻辑树。</a:t>
            </a:r>
          </a:p>
          <a:p>
            <a:r>
              <a:t>每个推理节点包含大前提、小前提和结论，其他 Agent 可以指出具体哪一个前提或推导有问题。</a:t>
            </a:r>
          </a:p>
          <a:p>
            <a:r>
              <a:t>在三项多选医疗 QA 上，LLaMA-3.1-8B 基线平均 64.2%，MedLA 达到 69.9%。去掉逻辑树后下降最明显。</a:t>
            </a:r>
          </a:p>
          <a:p>
            <a:r>
              <a:t>Source: MedLA: A Logic-Driven Multi-Agent Framework for Complex Medical Reasoning with Large Language Models, Figure 2, Tables 1–4. Repository: https://github.com/alexander2618/MedLA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ToR 面向复杂住院病例和多标签诊断。四类专科 Agent 分别处理病史、化验、影像、病理。</a:t>
            </a:r>
          </a:p>
          <a:p>
            <a:r>
              <a:t>最终共享结构是三层证据树：疾病、推理、证据。</a:t>
            </a:r>
          </a:p>
          <a:p>
            <a:r>
              <a:t>完整 ToR 的 F1 为 62.68%。去掉证据树后降到 51.07%，说明结构化证据交换是主要贡献。</a:t>
            </a:r>
          </a:p>
          <a:p>
            <a:r>
              <a:t>注意召回率为 46.60%，仍存在漏诊问题。</a:t>
            </a:r>
          </a:p>
          <a:p>
            <a:r>
              <a:t>Source: Tree-of-Reasoning: Towards Complex Medical Diagnosis via Multi-Agent Reasoning with Evidence Tree, Figures 2–3, Tables 1–3. Repository: https://github.com/tsukiiiiiiiii/TOR.git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MAM 把多模态统一模型拆成多个可替换模块，支持文本、图像、音频、视频。</a:t>
            </a:r>
          </a:p>
          <a:p>
            <a:r>
              <a:t>完整流程包括全科医生、专家团队、放射科医生、医疗助理和主任。</a:t>
            </a:r>
          </a:p>
          <a:p>
            <a:r>
              <a:t>消融表显示角色、讨论、检索逐步增加时，大多数数据集持续提升。</a:t>
            </a:r>
          </a:p>
          <a:p>
            <a:r>
              <a:t>但复现需要同时准备多种模态模型和数据，作为第一个项目工程量偏大。</a:t>
            </a:r>
          </a:p>
          <a:p>
            <a:r>
              <a:t>Source: MAM: Modular Multi-Agent Framework for Multi-Modal Medical Diagnosis via Role-Specialized Collaboration, Figure 1, Tables 3–7. Repository: https://github.com/yczhou001/MAM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这篇的重点不是多个医生之间讨论，而是医生 Agent、患者 Agent 和评估 Agent 构成训练环境。</a:t>
            </a:r>
          </a:p>
          <a:p>
            <a:r>
              <a:t>SFT 用 1,000 条增强对话建立基本问诊行为，之后用 GRPO 优化提问策略。</a:t>
            </a:r>
          </a:p>
          <a:p>
            <a:r>
              <a:t>去掉 RL 平均下降 6.5 个点，去掉 SFT 下降 5.5 个点。</a:t>
            </a:r>
          </a:p>
          <a:p>
            <a:r>
              <a:t>真实患者实验只有 20 人，70% 精确匹配率只能视为早期验证。</a:t>
            </a:r>
          </a:p>
          <a:p>
            <a:r>
              <a:t>Source: Real-World Doctor Agent with Proactive Consultation through Multi-Agent Reinforcement Learning, Figures 1–3.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这篇是全组论文的安全性提醒：单个环节最强，不等于组合后最好。</a:t>
            </a:r>
          </a:p>
          <a:p>
            <a:r>
              <a:t>Best of Breed 系统诊断准确率 67.65%，而最佳多 Agent 组合为 77.39%。</a:t>
            </a:r>
          </a:p>
          <a:p>
            <a:r>
              <a:t>BoB 在 13.87% 病例中幻觉出不存在的检查结果，最佳系统只有 0.42%。</a:t>
            </a:r>
          </a:p>
          <a:p>
            <a:r>
              <a:t>因此复现时必须记录每一步输入输出，区分已观察事实、缺失数据和模型推测，并用端到端准确率评价。</a:t>
            </a:r>
          </a:p>
          <a:p>
            <a:r>
              <a:t>Source: The Optimization Paradox in Clinical AI Multi-Agent Systems, Figure 1, Tables 2–3 and error analysis. Repository: https://github.com/som-shahlab/opt-paradox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五种机制可以组合，但组合越多，成本和接口风险越大。</a:t>
            </a:r>
          </a:p>
          <a:p>
            <a:r>
              <a:t>一个好的复现顺序应先验证最基础的路由和协作，再逐步加入动态招募、结构化证据或工具调用。</a:t>
            </a:r>
          </a:p>
          <a:p>
            <a:r>
              <a:t>这也是选择 MDAgents 作为第一篇的主要原因。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10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6572250" cy="6858000"/>
          </a:xfrm>
          <a:prstGeom prst="rect">
            <a:avLst/>
          </a:prstGeom>
          <a:solidFill>
            <a:srgbClr val="071B33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524000"/>
            <a:ext cx="5334000" cy="19526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lnSpc>
                <a:spcPct val="95000"/>
              </a:lnSpc>
              <a:buNone/>
              <a:defRPr sz="39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9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医疗多智能体系统</a:t>
            </a:r>
            <a:endParaRPr sz="39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14375" y="33337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725" b="0">
                <a:solidFill>
                  <a:srgbClr val="BEEAF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BEEAF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Medical Multi-Agent Systems</a:t>
            </a:r>
            <a:endParaRPr sz="1725" b="0">
              <a:solidFill>
                <a:srgbClr val="BEEAF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14375" y="3781425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九篇论文梳理与首个复现方案</a:t>
            </a:r>
            <a:endParaRPr sz="1800" b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714375" y="4257675"/>
            <a:ext cx="2476500" cy="0"/>
          </a:xfrm>
          <a:prstGeom prst="line">
            <a:avLst/>
          </a:prstGeom>
          <a:noFill/>
          <a:ln w="47625">
            <a:solidFill>
              <a:srgbClr val="F26B5E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14375" y="4572000"/>
            <a:ext cx="4000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lnSpc>
                <a:spcPct val="115000"/>
              </a:lnSpc>
              <a:buNone/>
              <a:defRPr sz="1425" b="0">
                <a:solidFill>
                  <a:srgbClr val="DDEAF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DDEAF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组会论文汇报</a:t>
            </a:r>
            <a:endParaRPr sz="1425" b="0">
              <a:solidFill>
                <a:srgbClr val="DDEAF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15000"/>
              </a:lnSpc>
              <a:buNone/>
              <a:defRPr sz="1425" b="0">
                <a:solidFill>
                  <a:srgbClr val="DDEAF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DDEAF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2026 年 9 月</a:t>
            </a:r>
            <a:endParaRPr sz="1425" b="0">
              <a:solidFill>
                <a:srgbClr val="DDEAF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571500" y="323850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925" b="1">
                <a:solidFill>
                  <a:srgbClr val="071B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925" b="1">
                <a:solidFill>
                  <a:srgbClr val="071B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九篇论文全景图</a:t>
            </a:r>
            <a:endParaRPr sz="2925" b="1">
              <a:solidFill>
                <a:srgbClr val="071B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8382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275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任务、协作结构与主要评价目标</a:t>
            </a:r>
            <a:endParaRPr sz="1275" b="0">
              <a:solidFill>
                <a:srgbClr val="5265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71500" y="1152525"/>
            <a:ext cx="11049000" cy="0"/>
          </a:xfrm>
          <a:prstGeom prst="line">
            <a:avLst/>
          </a:prstGeom>
          <a:noFill/>
          <a:ln w="9525">
            <a:solidFill>
              <a:srgbClr val="D7E2EA"/>
            </a:solidFill>
            <a:prstDash val="solid"/>
          </a:ln>
        </p:spPr>
      </p:sp>
      <p:graphicFrame>
        <p:nvGraphicFramePr>
          <p:cNvPr id="10" name="表格 9"/>
          <p:cNvGraphicFramePr/>
          <p:nvPr/>
        </p:nvGraphicFramePr>
        <p:xfrm>
          <a:off x="571500" y="1381125"/>
          <a:ext cx="11049000" cy="4810130"/>
        </p:xfrm>
        <a:graphic>
          <a:graphicData uri="http://schemas.openxmlformats.org/drawingml/2006/table">
            <a:tbl>
              <a:tblPr/>
              <a:tblGrid>
                <a:gridCol w="1983154"/>
                <a:gridCol w="2549769"/>
                <a:gridCol w="2691423"/>
                <a:gridCol w="3824654"/>
              </a:tblGrid>
              <a:tr h="48101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论文</a:t>
                      </a:r>
                      <a:endParaRPr sz="12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>
                    <a:solidFill>
                      <a:srgbClr val="07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临床任务</a:t>
                      </a:r>
                      <a:endParaRPr sz="12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>
                    <a:solidFill>
                      <a:srgbClr val="07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团队设计</a:t>
                      </a:r>
                      <a:endParaRPr sz="12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>
                    <a:solidFill>
                      <a:srgbClr val="07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主要贡献</a:t>
                      </a:r>
                      <a:endParaRPr sz="12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>
                    <a:solidFill>
                      <a:srgbClr val="071B33"/>
                    </a:solidFill>
                  </a:tcPr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MDAgents</a:t>
                      </a:r>
                      <a:endParaRPr sz="1200" b="1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医疗问答 / 诊断</a:t>
                      </a:r>
                      <a:endParaRPr sz="1200" b="1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按复杂度自适应</a:t>
                      </a:r>
                      <a:endParaRPr sz="1200" b="1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在单 Agent、MDT 与分层团队间路由</a:t>
                      </a:r>
                      <a:endParaRPr sz="1200" b="1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/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KAMAC</a:t>
                      </a:r>
                      <a:endParaRPr sz="1200" b="1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问答 / 癌症预后</a:t>
                      </a:r>
                      <a:endParaRPr sz="1200" b="1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根据知识缺口扩展</a:t>
                      </a:r>
                      <a:endParaRPr sz="1200" b="1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讨论过程中动态招募专科专家</a:t>
                      </a:r>
                      <a:endParaRPr sz="1200" b="1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>
                    <a:solidFill>
                      <a:srgbClr val="F7FAFC"/>
                    </a:solidFill>
                  </a:tcPr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MedLA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复杂推理 / 问答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逻辑角色分工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共享并修订三段论推理树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/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Tree-of-Reasoning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复杂多标签诊断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按数据类型分专科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证据树与跨专科验证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>
                    <a:solidFill>
                      <a:srgbClr val="F7FAFC"/>
                    </a:solidFill>
                  </a:tcPr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MAM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文本、图像、音频、视频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五类临床角色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模块化多模态诊断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/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TriageAgent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急诊 ESI 分诊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异构分类 Agent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指南 RAG 与置信度讨论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>
                    <a:solidFill>
                      <a:srgbClr val="F7FAFC"/>
                    </a:solidFill>
                  </a:tcPr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DoctorAgent-RL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多轮问诊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医生、患者、评估者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用强化学习优化提问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/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DeepRare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罕见病排序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调度器与工具 Agent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可追溯的工具增强诊断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>
                    <a:solidFill>
                      <a:srgbClr val="F7FAFC"/>
                    </a:solidFill>
                  </a:tcPr>
                </a:tc>
              </a:tr>
              <a:tr h="4810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Optimization Paradox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急性腹痛诊断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顺序式专门模块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0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局部最优可能损害整体结果</a:t>
                      </a:r>
                      <a:endParaRPr sz="1200">
                        <a:solidFill>
                          <a:srgbClr val="14203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66675" marR="66675" marT="66675" marB="66675" anchor="ctr" horzOverflow="clip"/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11049000" y="64865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r">
              <a:defRPr sz="1050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1050" b="1">
              <a:solidFill>
                <a:srgbClr val="00A6A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571500" y="323850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925" b="1">
                <a:solidFill>
                  <a:srgbClr val="071B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925" b="1">
                <a:solidFill>
                  <a:srgbClr val="071B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MDAgents</a:t>
            </a:r>
            <a:endParaRPr sz="2925" b="1">
              <a:solidFill>
                <a:srgbClr val="071B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8382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275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推理开始前，先根据病例复杂度选择协作规模</a:t>
            </a:r>
            <a:endParaRPr sz="1275" b="0">
              <a:solidFill>
                <a:srgbClr val="5265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71500" y="1152525"/>
            <a:ext cx="11049000" cy="0"/>
          </a:xfrm>
          <a:prstGeom prst="line">
            <a:avLst/>
          </a:prstGeom>
          <a:noFill/>
          <a:ln w="9525">
            <a:solidFill>
              <a:srgbClr val="D7E2EA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90550" y="1504950"/>
            <a:ext cx="4238625" cy="2857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>
            <a:noAutofit/>
          </a:bodyPr>
          <a:lstStyle/>
          <a:p>
            <a:pPr marL="228600" indent="-114300">
              <a:lnSpc>
                <a:spcPct val="105000"/>
              </a:lnSpc>
              <a:spcAft>
                <a:spcPts val="1200"/>
              </a:spcAft>
              <a:buNone/>
              <a:def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复杂度判断器将病例分为低、中、高三个等级。</a:t>
            </a:r>
            <a:endParaRPr sz="1575">
              <a:solidFill>
                <a:srgbClr val="14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lnSpc>
                <a:spcPct val="105000"/>
              </a:lnSpc>
              <a:spcAft>
                <a:spcPts val="1200"/>
              </a:spcAft>
              <a:buNone/>
              <a:def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系统据此选择单名医生、多学科团队（MDT）或分层整合团队。</a:t>
            </a:r>
            <a:endParaRPr sz="1575">
              <a:solidFill>
                <a:srgbClr val="14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lnSpc>
                <a:spcPct val="105000"/>
              </a:lnSpc>
              <a:spcAft>
                <a:spcPts val="1200"/>
              </a:spcAft>
              <a:buNone/>
              <a:def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无需训练，同一个基础模型可以在准确率与 API 成本之间动态取舍。</a:t>
            </a:r>
            <a:endParaRPr sz="1575">
              <a:solidFill>
                <a:srgbClr val="14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4876800"/>
            <a:ext cx="3905250" cy="914400"/>
          </a:xfrm>
          <a:prstGeom prst="roundRect">
            <a:avLst>
              <a:gd name="adj" fmla="val 18750"/>
            </a:avLst>
          </a:prstGeom>
          <a:solidFill>
            <a:srgbClr val="EEF4F8"/>
          </a:solidFill>
          <a:ln w="9525">
            <a:solidFill>
              <a:srgbClr val="D7E2E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90575" y="4953000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2775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775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7 / 10</a:t>
            </a:r>
            <a:endParaRPr sz="2775" b="1">
              <a:solidFill>
                <a:srgbClr val="00A6A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9625" y="5410200"/>
            <a:ext cx="35814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050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10 个基准中有 7 个取得最佳结果，最高提升 11.8%</a:t>
            </a:r>
            <a:endParaRPr sz="1050" b="0">
              <a:solidFill>
                <a:srgbClr val="5265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5114925" y="1352550"/>
            <a:ext cx="6486525" cy="4676775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 w="9525">
            <a:solidFill>
              <a:srgbClr val="D7E2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1125" y="1931458"/>
            <a:ext cx="6334125" cy="3518958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11049000" y="64865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r">
              <a:defRPr sz="1050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sz="1050" b="1">
              <a:solidFill>
                <a:srgbClr val="00A6A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571500" y="323850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925" b="1">
                <a:solidFill>
                  <a:srgbClr val="071B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925" b="1">
                <a:solidFill>
                  <a:srgbClr val="071B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KAMAC</a:t>
            </a:r>
            <a:endParaRPr sz="2925" b="1">
              <a:solidFill>
                <a:srgbClr val="071B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8382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275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发现知识缺口后，再动态扩展专家团队</a:t>
            </a:r>
            <a:endParaRPr sz="1275" b="0">
              <a:solidFill>
                <a:srgbClr val="5265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71500" y="1152525"/>
            <a:ext cx="11049000" cy="0"/>
          </a:xfrm>
          <a:prstGeom prst="line">
            <a:avLst/>
          </a:prstGeom>
          <a:noFill/>
          <a:ln w="9525">
            <a:solidFill>
              <a:srgbClr val="D7E2EA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90550" y="1504950"/>
            <a:ext cx="4238625" cy="2857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>
            <a:noAutofit/>
          </a:bodyPr>
          <a:lstStyle/>
          <a:p>
            <a:pPr marL="228600" indent="-114300">
              <a:lnSpc>
                <a:spcPct val="105000"/>
              </a:lnSpc>
              <a:spcAft>
                <a:spcPts val="1200"/>
              </a:spcAft>
              <a:buNone/>
              <a:def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系统从一名或少量专家开始，不预先固定庞大专家组。</a:t>
            </a:r>
            <a:endParaRPr sz="1575">
              <a:solidFill>
                <a:srgbClr val="14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lnSpc>
                <a:spcPct val="105000"/>
              </a:lnSpc>
              <a:spcAft>
                <a:spcPts val="1200"/>
              </a:spcAft>
              <a:buNone/>
              <a:def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Agent 持续检查讨论内容，并明确判断当前是否缺少某类知识。</a:t>
            </a:r>
            <a:endParaRPr sz="1575">
              <a:solidFill>
                <a:srgbClr val="14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lnSpc>
                <a:spcPct val="105000"/>
              </a:lnSpc>
              <a:spcAft>
                <a:spcPts val="1200"/>
              </a:spcAft>
              <a:buNone/>
              <a:def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只有现有团队无法补足缺口时，系统才招募对应专科专家。</a:t>
            </a:r>
            <a:endParaRPr sz="1575">
              <a:solidFill>
                <a:srgbClr val="14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4876800"/>
            <a:ext cx="3905250" cy="914400"/>
          </a:xfrm>
          <a:prstGeom prst="roundRect">
            <a:avLst>
              <a:gd name="adj" fmla="val 18750"/>
            </a:avLst>
          </a:prstGeom>
          <a:solidFill>
            <a:srgbClr val="EEF4F8"/>
          </a:solidFill>
          <a:ln w="9525">
            <a:solidFill>
              <a:srgbClr val="D7E2E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90575" y="4953000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2775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775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+7.36</a:t>
            </a:r>
            <a:endParaRPr sz="2775" b="1">
              <a:solidFill>
                <a:srgbClr val="00A6A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9625" y="5410200"/>
            <a:ext cx="35814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050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Progn-VQA 上较 GPT-4.1-mini CoT 的四指标平均分提升</a:t>
            </a:r>
            <a:endParaRPr sz="1050" b="0">
              <a:solidFill>
                <a:srgbClr val="5265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5114925" y="1352550"/>
            <a:ext cx="6486525" cy="4676775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 w="9525">
            <a:solidFill>
              <a:srgbClr val="D7E2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1125" y="1442323"/>
            <a:ext cx="6334125" cy="4497229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11049000" y="64865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r">
              <a:defRPr sz="1050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sz="1050" b="1">
              <a:solidFill>
                <a:srgbClr val="00A6A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571500" y="323850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925" b="1">
                <a:solidFill>
                  <a:srgbClr val="071B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925" b="1">
                <a:solidFill>
                  <a:srgbClr val="071B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MedLA</a:t>
            </a:r>
            <a:endParaRPr sz="2925" b="1">
              <a:solidFill>
                <a:srgbClr val="071B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8382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275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Agent 交换逻辑结构，而不只交换最终意见</a:t>
            </a:r>
            <a:endParaRPr sz="1275" b="0">
              <a:solidFill>
                <a:srgbClr val="5265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71500" y="1152525"/>
            <a:ext cx="11049000" cy="0"/>
          </a:xfrm>
          <a:prstGeom prst="line">
            <a:avLst/>
          </a:prstGeom>
          <a:noFill/>
          <a:ln w="9525">
            <a:solidFill>
              <a:srgbClr val="D7E2EA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90550" y="1504950"/>
            <a:ext cx="4238625" cy="2857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>
            <a:noAutofit/>
          </a:bodyPr>
          <a:lstStyle/>
          <a:p>
            <a:pPr marL="228600" indent="-114300">
              <a:lnSpc>
                <a:spcPct val="105000"/>
              </a:lnSpc>
              <a:spcAft>
                <a:spcPts val="1200"/>
              </a:spcAft>
              <a:buNone/>
              <a:def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前提 Agent 提取一般医学规则和患者的具体事实。</a:t>
            </a:r>
            <a:endParaRPr sz="1575">
              <a:solidFill>
                <a:srgbClr val="14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lnSpc>
                <a:spcPct val="105000"/>
              </a:lnSpc>
              <a:spcAft>
                <a:spcPts val="1200"/>
              </a:spcAft>
              <a:buNone/>
              <a:def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医疗 Agent 构建三段论推理树，可信度 Agent 校准不可靠节点。</a:t>
            </a:r>
            <a:endParaRPr sz="1575">
              <a:solidFill>
                <a:srgbClr val="14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lnSpc>
                <a:spcPct val="105000"/>
              </a:lnSpc>
              <a:spcAft>
                <a:spcPts val="1200"/>
              </a:spcAft>
              <a:buNone/>
              <a:def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最终决策前，各 Agent 交叉修正知识错误与逻辑缺口。</a:t>
            </a:r>
            <a:endParaRPr sz="1575">
              <a:solidFill>
                <a:srgbClr val="14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4876800"/>
            <a:ext cx="3905250" cy="914400"/>
          </a:xfrm>
          <a:prstGeom prst="roundRect">
            <a:avLst>
              <a:gd name="adj" fmla="val 18750"/>
            </a:avLst>
          </a:prstGeom>
          <a:solidFill>
            <a:srgbClr val="EEF4F8"/>
          </a:solidFill>
          <a:ln w="9525">
            <a:solidFill>
              <a:srgbClr val="D7E2E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90575" y="4953000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2775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775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69.9%</a:t>
            </a:r>
            <a:endParaRPr sz="2775" b="1">
              <a:solidFill>
                <a:srgbClr val="00A6A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9625" y="5410200"/>
            <a:ext cx="35814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050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LLaMA-3.1-8B 在三个医疗问答基准上的平均准确率</a:t>
            </a:r>
            <a:endParaRPr sz="1050" b="0">
              <a:solidFill>
                <a:srgbClr val="5265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5114925" y="1352550"/>
            <a:ext cx="6486525" cy="4676775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 w="9525">
            <a:solidFill>
              <a:srgbClr val="D7E2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1125" y="1600061"/>
            <a:ext cx="6334125" cy="4181752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11049000" y="64865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r">
              <a:defRPr sz="1050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06</a:t>
            </a:r>
            <a:endParaRPr sz="1050" b="1">
              <a:solidFill>
                <a:srgbClr val="00A6A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571500" y="323850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925" b="1">
                <a:solidFill>
                  <a:srgbClr val="071B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925" b="1">
                <a:solidFill>
                  <a:srgbClr val="071B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Tree-of-Reasoning</a:t>
            </a:r>
            <a:endParaRPr sz="2925" b="1">
              <a:solidFill>
                <a:srgbClr val="071B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8382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275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共享证据树将诊断结论与临床证据连接起来</a:t>
            </a:r>
            <a:endParaRPr sz="1275" b="0">
              <a:solidFill>
                <a:srgbClr val="5265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71500" y="1152525"/>
            <a:ext cx="11049000" cy="0"/>
          </a:xfrm>
          <a:prstGeom prst="line">
            <a:avLst/>
          </a:prstGeom>
          <a:noFill/>
          <a:ln w="9525">
            <a:solidFill>
              <a:srgbClr val="D7E2EA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90550" y="1504950"/>
            <a:ext cx="4238625" cy="2857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>
            <a:noAutofit/>
          </a:bodyPr>
          <a:lstStyle/>
          <a:p>
            <a:pPr marL="228600" indent="-114300">
              <a:lnSpc>
                <a:spcPct val="105000"/>
              </a:lnSpc>
              <a:spcAft>
                <a:spcPts val="1200"/>
              </a:spcAft>
              <a:buNone/>
              <a:def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门诊、检验、放射和病理 Agent 分别处理不同来源的数据。</a:t>
            </a:r>
            <a:endParaRPr sz="1575">
              <a:solidFill>
                <a:srgbClr val="14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lnSpc>
                <a:spcPct val="105000"/>
              </a:lnSpc>
              <a:spcAft>
                <a:spcPts val="1200"/>
              </a:spcAft>
              <a:buNone/>
              <a:def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每个候选诊断必须关联明确的推理路径和支持证据。</a:t>
            </a:r>
            <a:endParaRPr sz="1575">
              <a:solidFill>
                <a:srgbClr val="14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lnSpc>
                <a:spcPct val="105000"/>
              </a:lnSpc>
              <a:spcAft>
                <a:spcPts val="1200"/>
              </a:spcAft>
              <a:buNone/>
              <a:def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合并证据树前，各专科通过交叉验证修正冲突与遗漏。</a:t>
            </a:r>
            <a:endParaRPr sz="1575">
              <a:solidFill>
                <a:srgbClr val="14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4876800"/>
            <a:ext cx="3905250" cy="914400"/>
          </a:xfrm>
          <a:prstGeom prst="roundRect">
            <a:avLst>
              <a:gd name="adj" fmla="val 18750"/>
            </a:avLst>
          </a:prstGeom>
          <a:solidFill>
            <a:srgbClr val="EEF4F8"/>
          </a:solidFill>
          <a:ln w="9525">
            <a:solidFill>
              <a:srgbClr val="D7E2E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90575" y="4953000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2775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775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F1  62.68%</a:t>
            </a:r>
            <a:endParaRPr sz="2775" b="1">
              <a:solidFill>
                <a:srgbClr val="00A6A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9625" y="5410200"/>
            <a:ext cx="35814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050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最强多 Agent 对照方法为 51.76%</a:t>
            </a:r>
            <a:endParaRPr sz="1050" b="0">
              <a:solidFill>
                <a:srgbClr val="5265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5114925" y="1352550"/>
            <a:ext cx="6486525" cy="4676775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 w="9525">
            <a:solidFill>
              <a:srgbClr val="D7E2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4247" y="1428750"/>
            <a:ext cx="5627881" cy="4524375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11049000" y="64865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r">
              <a:defRPr sz="1050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07</a:t>
            </a:r>
            <a:endParaRPr sz="1050" b="1">
              <a:solidFill>
                <a:srgbClr val="00A6A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571500" y="323850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925" b="1">
                <a:solidFill>
                  <a:srgbClr val="071B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925" b="1">
                <a:solidFill>
                  <a:srgbClr val="071B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MAM</a:t>
            </a:r>
            <a:endParaRPr sz="2925" b="1">
              <a:solidFill>
                <a:srgbClr val="071B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8382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275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模块化临床团队统一处理文本、图像、音频和视频</a:t>
            </a:r>
            <a:endParaRPr sz="1275" b="0">
              <a:solidFill>
                <a:srgbClr val="5265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71500" y="1152525"/>
            <a:ext cx="11049000" cy="0"/>
          </a:xfrm>
          <a:prstGeom prst="line">
            <a:avLst/>
          </a:prstGeom>
          <a:noFill/>
          <a:ln w="9525">
            <a:solidFill>
              <a:srgbClr val="D7E2EA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90550" y="1504950"/>
            <a:ext cx="4238625" cy="2857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>
            <a:noAutofit/>
          </a:bodyPr>
          <a:lstStyle/>
          <a:p>
            <a:pPr marL="228600" indent="-114300">
              <a:lnSpc>
                <a:spcPct val="105000"/>
              </a:lnSpc>
              <a:spcAft>
                <a:spcPts val="1200"/>
              </a:spcAft>
              <a:buNone/>
              <a:def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全科医生 Agent 先判断病例并分派给合适的专家团队。</a:t>
            </a:r>
            <a:endParaRPr sz="1575">
              <a:solidFill>
                <a:srgbClr val="14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lnSpc>
                <a:spcPct val="105000"/>
              </a:lnSpc>
              <a:spcAft>
                <a:spcPts val="1200"/>
              </a:spcAft>
              <a:buNone/>
              <a:def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放射科 Agent 处理影像，医疗助理 Agent 检索外部知识。</a:t>
            </a:r>
            <a:endParaRPr sz="1575">
              <a:solidFill>
                <a:srgbClr val="14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lnSpc>
                <a:spcPct val="105000"/>
              </a:lnSpc>
              <a:spcAft>
                <a:spcPts val="1200"/>
              </a:spcAft>
              <a:buNone/>
              <a:def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主任 Agent 汇总意见，专科医生也可以否决结论并重新讨论。</a:t>
            </a:r>
            <a:endParaRPr sz="1575">
              <a:solidFill>
                <a:srgbClr val="14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4876800"/>
            <a:ext cx="3905250" cy="914400"/>
          </a:xfrm>
          <a:prstGeom prst="roundRect">
            <a:avLst>
              <a:gd name="adj" fmla="val 18750"/>
            </a:avLst>
          </a:prstGeom>
          <a:solidFill>
            <a:srgbClr val="EEF4F8"/>
          </a:solidFill>
          <a:ln w="9525">
            <a:solidFill>
              <a:srgbClr val="D7E2E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90575" y="4953000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2775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775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18–365%</a:t>
            </a:r>
            <a:endParaRPr sz="2775" b="1">
              <a:solidFill>
                <a:srgbClr val="00A6A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9625" y="5410200"/>
            <a:ext cx="35814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050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论文报告的相对提升范围，按不同模态基线计算</a:t>
            </a:r>
            <a:endParaRPr sz="1050" b="0">
              <a:solidFill>
                <a:srgbClr val="5265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5114925" y="1352550"/>
            <a:ext cx="6486525" cy="4676775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 w="9525">
            <a:solidFill>
              <a:srgbClr val="D7E2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1125" y="2060371"/>
            <a:ext cx="6334125" cy="3261134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11049000" y="64865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r">
              <a:defRPr sz="1050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08</a:t>
            </a:r>
            <a:endParaRPr sz="1050" b="1">
              <a:solidFill>
                <a:srgbClr val="00A6A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571500" y="323850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925" b="1">
                <a:solidFill>
                  <a:srgbClr val="071B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925" b="1">
                <a:solidFill>
                  <a:srgbClr val="071B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DoctorAgent-RL</a:t>
            </a:r>
            <a:endParaRPr sz="2925" b="1">
              <a:solidFill>
                <a:srgbClr val="071B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8382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275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强化学习优化问诊中的下一条问题</a:t>
            </a:r>
            <a:endParaRPr sz="1275" b="0">
              <a:solidFill>
                <a:srgbClr val="5265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71500" y="1152525"/>
            <a:ext cx="11049000" cy="0"/>
          </a:xfrm>
          <a:prstGeom prst="line">
            <a:avLst/>
          </a:prstGeom>
          <a:noFill/>
          <a:ln w="9525">
            <a:solidFill>
              <a:srgbClr val="D7E2EA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90550" y="1504950"/>
            <a:ext cx="4238625" cy="2857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>
            <a:noAutofit/>
          </a:bodyPr>
          <a:lstStyle/>
          <a:p>
            <a:pPr marL="228600" indent="-114300">
              <a:lnSpc>
                <a:spcPct val="105000"/>
              </a:lnSpc>
              <a:spcAft>
                <a:spcPts val="1200"/>
              </a:spcAft>
              <a:buNone/>
              <a:def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只有医生问到相关内容时，患者 Agent 才透露隐藏症状。</a:t>
            </a:r>
            <a:endParaRPr sz="1575">
              <a:solidFill>
                <a:srgbClr val="14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lnSpc>
                <a:spcPct val="105000"/>
              </a:lnSpc>
              <a:spcAft>
                <a:spcPts val="1200"/>
              </a:spcAft>
              <a:buNone/>
              <a:def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监督微调（SFT）学习基本问诊行为，GRPO 奖励准确且高效的信息收集。</a:t>
            </a:r>
            <a:endParaRPr sz="1575">
              <a:solidFill>
                <a:srgbClr val="14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lnSpc>
                <a:spcPct val="105000"/>
              </a:lnSpc>
              <a:spcAft>
                <a:spcPts val="1200"/>
              </a:spcAft>
              <a:buNone/>
              <a:def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动态轮次预算让医生在提问次数有限时调整策略。</a:t>
            </a:r>
            <a:endParaRPr sz="1575">
              <a:solidFill>
                <a:srgbClr val="14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4876800"/>
            <a:ext cx="3905250" cy="914400"/>
          </a:xfrm>
          <a:prstGeom prst="roundRect">
            <a:avLst>
              <a:gd name="adj" fmla="val 18750"/>
            </a:avLst>
          </a:prstGeom>
          <a:solidFill>
            <a:srgbClr val="EEF4F8"/>
          </a:solidFill>
          <a:ln w="9525">
            <a:solidFill>
              <a:srgbClr val="D7E2E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90575" y="4953000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2775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775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53.9%</a:t>
            </a:r>
            <a:endParaRPr sz="2775" b="1">
              <a:solidFill>
                <a:srgbClr val="00A6A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9625" y="5410200"/>
            <a:ext cx="35814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050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MTMedDialog 综合得分，20 名真实患者中精确匹配率为 70%</a:t>
            </a:r>
            <a:endParaRPr sz="1050" b="0">
              <a:solidFill>
                <a:srgbClr val="5265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5114925" y="1352550"/>
            <a:ext cx="6486525" cy="4676775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 w="9525">
            <a:solidFill>
              <a:srgbClr val="D7E2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5299" y="1428750"/>
            <a:ext cx="4965777" cy="4524375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11049000" y="64865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r">
              <a:defRPr sz="1050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10</a:t>
            </a:r>
            <a:endParaRPr sz="1050" b="1">
              <a:solidFill>
                <a:srgbClr val="00A6A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571500" y="323850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925" b="1">
                <a:solidFill>
                  <a:srgbClr val="071B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925" b="1">
                <a:solidFill>
                  <a:srgbClr val="071B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优化悖论</a:t>
            </a:r>
            <a:endParaRPr sz="2925" b="1">
              <a:solidFill>
                <a:srgbClr val="071B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8382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275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每个组件都很强，组合后的临床系统仍可能变弱</a:t>
            </a:r>
            <a:endParaRPr sz="1275" b="0">
              <a:solidFill>
                <a:srgbClr val="5265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71500" y="1152525"/>
            <a:ext cx="11049000" cy="0"/>
          </a:xfrm>
          <a:prstGeom prst="line">
            <a:avLst/>
          </a:prstGeom>
          <a:noFill/>
          <a:ln w="9525">
            <a:solidFill>
              <a:srgbClr val="D7E2EA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90550" y="1504950"/>
            <a:ext cx="4238625" cy="2857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>
            <a:noAutofit/>
          </a:bodyPr>
          <a:lstStyle/>
          <a:p>
            <a:pPr marL="228600" indent="-114300">
              <a:lnSpc>
                <a:spcPct val="105000"/>
              </a:lnSpc>
              <a:spcAft>
                <a:spcPts val="1200"/>
              </a:spcAft>
              <a:buNone/>
              <a:def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研究把诊断拆为信息收集、结果解读和鉴别诊断。</a:t>
            </a:r>
            <a:endParaRPr sz="1575">
              <a:solidFill>
                <a:srgbClr val="14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lnSpc>
                <a:spcPct val="105000"/>
              </a:lnSpc>
              <a:spcAft>
                <a:spcPts val="1200"/>
              </a:spcAft>
              <a:buNone/>
              <a:def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最佳组件组合（Best-of-Breed）为每项局部指标挑选最强模型。</a:t>
            </a:r>
            <a:endParaRPr sz="1575">
              <a:solidFill>
                <a:srgbClr val="14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>
              <a:lnSpc>
                <a:spcPct val="105000"/>
              </a:lnSpc>
              <a:spcAft>
                <a:spcPts val="1200"/>
              </a:spcAft>
              <a:buNone/>
              <a:def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接口不兼容会造成信息缺失、未授权追加检查与虚构检查结果。</a:t>
            </a:r>
            <a:endParaRPr sz="1575">
              <a:solidFill>
                <a:srgbClr val="14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4876800"/>
            <a:ext cx="3905250" cy="914400"/>
          </a:xfrm>
          <a:prstGeom prst="roundRect">
            <a:avLst>
              <a:gd name="adj" fmla="val 18750"/>
            </a:avLst>
          </a:prstGeom>
          <a:solidFill>
            <a:srgbClr val="EEF4F8"/>
          </a:solidFill>
          <a:ln w="9525">
            <a:solidFill>
              <a:srgbClr val="D7E2E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90575" y="4953000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2775" b="1">
                <a:solidFill>
                  <a:srgbClr val="F26B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775" b="1">
                <a:solidFill>
                  <a:srgbClr val="F26B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67.65%</a:t>
            </a:r>
            <a:endParaRPr sz="2775" b="1">
              <a:solidFill>
                <a:srgbClr val="F26B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9625" y="5410200"/>
            <a:ext cx="35814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050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最佳组件组合的诊断准确率，最佳多 Agent 系统为 77.39%</a:t>
            </a:r>
            <a:endParaRPr sz="1050" b="0">
              <a:solidFill>
                <a:srgbClr val="5265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5114925" y="1352550"/>
            <a:ext cx="6486525" cy="4676775"/>
          </a:xfrm>
          <a:prstGeom prst="roundRect">
            <a:avLst>
              <a:gd name="adj" fmla="val 3055"/>
            </a:avLst>
          </a:prstGeom>
          <a:solidFill>
            <a:srgbClr val="FFFFFF"/>
          </a:solidFill>
          <a:ln w="9525">
            <a:solidFill>
              <a:srgbClr val="D7E2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1125" y="1675534"/>
            <a:ext cx="6334125" cy="4030807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571500" y="6515100"/>
            <a:ext cx="9810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900" b="0">
                <a:solidFill>
                  <a:srgbClr val="708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00" b="0">
                <a:solidFill>
                  <a:srgbClr val="708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来源：Optimization Paradox 论文，图 1 与错误分析</a:t>
            </a:r>
            <a:endParaRPr sz="900" b="0">
              <a:solidFill>
                <a:srgbClr val="708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049000" y="64865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r">
              <a:defRPr sz="1050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12</a:t>
            </a:r>
            <a:endParaRPr sz="1050" b="1">
              <a:solidFill>
                <a:srgbClr val="00A6A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矩形 29"/>
          <p:cNvSpPr>
            <a:spLocks noGrp="1"/>
          </p:cNvSpPr>
          <p:nvPr/>
        </p:nvSpPr>
        <p:spPr>
          <a:xfrm>
            <a:off x="571500" y="323850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2925" b="1">
                <a:solidFill>
                  <a:srgbClr val="071B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925" b="1">
                <a:solidFill>
                  <a:srgbClr val="071B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五类协作模式</a:t>
            </a:r>
            <a:endParaRPr sz="2925" b="1">
              <a:solidFill>
                <a:srgbClr val="071B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8382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l">
              <a:defRPr sz="1275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526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每篇论文分别改进多 Agent 系统中的一个环节</a:t>
            </a:r>
            <a:endParaRPr sz="1275" b="0">
              <a:solidFill>
                <a:srgbClr val="5265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71500" y="1152525"/>
            <a:ext cx="11049000" cy="0"/>
          </a:xfrm>
          <a:prstGeom prst="line">
            <a:avLst/>
          </a:prstGeom>
          <a:noFill/>
          <a:ln w="9525">
            <a:solidFill>
              <a:srgbClr val="D7E2EA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19125" y="1476375"/>
            <a:ext cx="1714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575" b="1">
                <a:solidFill>
                  <a:srgbClr val="071B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071B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任务路由</a:t>
            </a:r>
            <a:endParaRPr sz="1575" b="1">
              <a:solidFill>
                <a:srgbClr val="071B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476500" y="1476375"/>
            <a:ext cx="4476750" cy="533400"/>
          </a:xfrm>
          <a:prstGeom prst="roundRect">
            <a:avLst>
              <a:gd name="adj" fmla="val 25000"/>
            </a:avLst>
          </a:prstGeom>
          <a:solidFill>
            <a:srgbClr val="F7FAFC"/>
          </a:solidFill>
          <a:ln w="9525">
            <a:solidFill>
              <a:srgbClr val="D7E2E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667000" y="1514475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500" b="0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选择单 Agent 或团队</a:t>
            </a:r>
            <a:endParaRPr sz="1500" b="0">
              <a:solidFill>
                <a:srgbClr val="14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143750" y="1743075"/>
            <a:ext cx="85725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239125" y="1476375"/>
            <a:ext cx="3143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425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MDAgents</a:t>
            </a:r>
            <a:endParaRPr sz="1425" b="1">
              <a:solidFill>
                <a:srgbClr val="00A6A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19125" y="2381250"/>
            <a:ext cx="1714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575" b="1">
                <a:solidFill>
                  <a:srgbClr val="071B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071B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团队扩展</a:t>
            </a:r>
            <a:endParaRPr sz="1575" b="1">
              <a:solidFill>
                <a:srgbClr val="071B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圆角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476500" y="2381250"/>
            <a:ext cx="4476750" cy="533400"/>
          </a:xfrm>
          <a:prstGeom prst="roundRect">
            <a:avLst>
              <a:gd name="adj" fmla="val 25000"/>
            </a:avLst>
          </a:prstGeom>
          <a:solidFill>
            <a:srgbClr val="F7FAFC"/>
          </a:solidFill>
          <a:ln w="9525">
            <a:solidFill>
              <a:srgbClr val="D7E2E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667000" y="241935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500" b="0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讨论中继续招募专家</a:t>
            </a:r>
            <a:endParaRPr sz="1500" b="0">
              <a:solidFill>
                <a:srgbClr val="14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143750" y="2647950"/>
            <a:ext cx="85725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239125" y="2381250"/>
            <a:ext cx="3143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425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KAMAC</a:t>
            </a:r>
            <a:endParaRPr sz="1425" b="1">
              <a:solidFill>
                <a:srgbClr val="00A6A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571500" y="4077335"/>
            <a:ext cx="1714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575" b="1">
                <a:solidFill>
                  <a:srgbClr val="071B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071B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共享结构</a:t>
            </a:r>
            <a:endParaRPr sz="1575" b="1">
              <a:solidFill>
                <a:srgbClr val="071B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圆角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476500" y="4143375"/>
            <a:ext cx="4476750" cy="533400"/>
          </a:xfrm>
          <a:prstGeom prst="roundRect">
            <a:avLst>
              <a:gd name="adj" fmla="val 25000"/>
            </a:avLst>
          </a:prstGeom>
          <a:solidFill>
            <a:srgbClr val="E8F8F7"/>
          </a:solidFill>
          <a:ln w="9525">
            <a:solidFill>
              <a:srgbClr val="D7E2E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783840" y="422910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500" b="0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交换逻辑树或证据树</a:t>
            </a:r>
            <a:endParaRPr sz="1500" b="0">
              <a:solidFill>
                <a:srgbClr val="14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直接连接符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7247890" y="4364990"/>
            <a:ext cx="85725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256270" y="4077335"/>
            <a:ext cx="3143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425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MedLA · Tree-of-Reasoning</a:t>
            </a:r>
            <a:endParaRPr sz="1425" b="1">
              <a:solidFill>
                <a:srgbClr val="00A6A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19125" y="5095875"/>
            <a:ext cx="1714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575" b="1">
                <a:solidFill>
                  <a:srgbClr val="071B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071B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策略学习</a:t>
            </a:r>
            <a:endParaRPr sz="1575" b="1">
              <a:solidFill>
                <a:srgbClr val="071B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圆角矩形 24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2476500" y="5095875"/>
            <a:ext cx="4476750" cy="533400"/>
          </a:xfrm>
          <a:prstGeom prst="roundRect">
            <a:avLst>
              <a:gd name="adj" fmla="val 25000"/>
            </a:avLst>
          </a:prstGeom>
          <a:solidFill>
            <a:srgbClr val="F7FAFC"/>
          </a:solidFill>
          <a:ln w="9525">
            <a:solidFill>
              <a:srgbClr val="D7E2E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2667000" y="5133975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500" b="0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1420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优化提问与行动策略</a:t>
            </a:r>
            <a:endParaRPr sz="1500" b="0">
              <a:solidFill>
                <a:srgbClr val="1420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直接连接符 26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7143750" y="5362575"/>
            <a:ext cx="857250" cy="0"/>
          </a:xfrm>
          <a:prstGeom prst="line">
            <a:avLst/>
          </a:prstGeom>
          <a:noFill/>
          <a:ln w="19050">
            <a:solidFill>
              <a:srgbClr val="00A6A6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239125" y="5095875"/>
            <a:ext cx="3143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Autofit/>
          </a:bodyPr>
          <a:lstStyle/>
          <a:p>
            <a:pPr algn="l">
              <a:defRPr sz="1425" b="1">
                <a:solidFill>
                  <a:srgbClr val="F26B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F26B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DoctorAgent-RL</a:t>
            </a:r>
            <a:endParaRPr sz="1425" b="1">
              <a:solidFill>
                <a:srgbClr val="F26B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1049000" y="6486525"/>
            <a:ext cx="571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Autofit/>
          </a:bodyPr>
          <a:lstStyle/>
          <a:p>
            <a:pPr algn="r">
              <a:defRPr sz="1050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00A6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13</a:t>
            </a:r>
            <a:endParaRPr sz="1050" b="1">
              <a:solidFill>
                <a:srgbClr val="00A6A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7,&quot;left&quot;:45,&quot;top&quot;:116.25,&quot;width&quot;:593.2}"/>
</p:tagLst>
</file>

<file path=ppt/tags/tag2.xml><?xml version="1.0" encoding="utf-8"?>
<p:tagLst xmlns:p="http://schemas.openxmlformats.org/presentationml/2006/main">
  <p:tag name="KSO_WM_DIAGRAM_VIRTUALLY_FRAME" val="{&quot;height&quot;:327,&quot;left&quot;:45,&quot;top&quot;:116.25,&quot;width&quot;:593.2}"/>
</p:tagLst>
</file>

<file path=ppt/tags/tag3.xml><?xml version="1.0" encoding="utf-8"?>
<p:tagLst xmlns:p="http://schemas.openxmlformats.org/presentationml/2006/main">
  <p:tag name="KSO_WM_DIAGRAM_VIRTUALLY_FRAME" val="{&quot;height&quot;:327,&quot;left&quot;:45,&quot;top&quot;:116.25,&quot;width&quot;:593.2}"/>
</p:tagLst>
</file>

<file path=ppt/tags/tag4.xml><?xml version="1.0" encoding="utf-8"?>
<p:tagLst xmlns:p="http://schemas.openxmlformats.org/presentationml/2006/main">
  <p:tag name="KSO_WM_DIAGRAM_VIRTUALLY_FRAME" val="{&quot;height&quot;:327,&quot;left&quot;:45,&quot;top&quot;:116.25,&quot;width&quot;:593.2}"/>
</p:tagLst>
</file>

<file path=ppt/tags/tag5.xml><?xml version="1.0" encoding="utf-8"?>
<p:tagLst xmlns:p="http://schemas.openxmlformats.org/presentationml/2006/main">
  <p:tag name="KSO_WM_DIAGRAM_VIRTUALLY_FRAME" val="{&quot;height&quot;:327,&quot;left&quot;:45,&quot;top&quot;:116.25,&quot;width&quot;:593.2}"/>
</p:tagLst>
</file>

<file path=ppt/tags/tag6.xml><?xml version="1.0" encoding="utf-8"?>
<p:tagLst xmlns:p="http://schemas.openxmlformats.org/presentationml/2006/main">
  <p:tag name="KSO_WM_DIAGRAM_VIRTUALLY_FRAME" val="{&quot;height&quot;:327,&quot;left&quot;:45,&quot;top&quot;:116.25,&quot;width&quot;:593.2}"/>
</p:tagLst>
</file>

<file path=ppt/tags/tag7.xml><?xml version="1.0" encoding="utf-8"?>
<p:tagLst xmlns:p="http://schemas.openxmlformats.org/presentationml/2006/main">
  <p:tag name="KSO_WM_DIAGRAM_VIRTUALLY_FRAME" val="{&quot;height&quot;:327,&quot;left&quot;:45,&quot;top&quot;:116.25,&quot;width&quot;:593.2}"/>
</p:tagLst>
</file>

<file path=ppt/tags/tag8.xml><?xml version="1.0" encoding="utf-8"?>
<p:tagLst xmlns:p="http://schemas.openxmlformats.org/presentationml/2006/main">
  <p:tag name="KSO_WM_DIAGRAM_VIRTUALLY_FRAME" val="{&quot;height&quot;:327,&quot;left&quot;:45,&quot;top&quot;:116.25,&quot;width&quot;:593.2}"/>
</p:tagLst>
</file>

<file path=ppt/tags/tag9.xml><?xml version="1.0" encoding="utf-8"?>
<p:tagLst xmlns:p="http://schemas.openxmlformats.org/presentationml/2006/main">
  <p:tag name="KSO_WM_DIAGRAM_VIRTUALLY_FRAME" val="{&quot;height&quot;:327,&quot;left&quot;:45,&quot;top&quot;:116.25,&quot;width&quot;:593.2}"/>
</p:tagLst>
</file>

<file path=ppt/tags/tag10.xml><?xml version="1.0" encoding="utf-8"?>
<p:tagLst xmlns:p="http://schemas.openxmlformats.org/presentationml/2006/main">
  <p:tag name="KSO_WM_DIAGRAM_VIRTUALLY_FRAME" val="{&quot;height&quot;:327,&quot;left&quot;:45,&quot;top&quot;:116.25,&quot;width&quot;:593.2}"/>
</p:tagLst>
</file>

<file path=ppt/tags/tag11.xml><?xml version="1.0" encoding="utf-8"?>
<p:tagLst xmlns:p="http://schemas.openxmlformats.org/presentationml/2006/main">
  <p:tag name="KSO_WM_DIAGRAM_VIRTUALLY_FRAME" val="{&quot;height&quot;:327,&quot;left&quot;:45,&quot;top&quot;:116.25,&quot;width&quot;:593.2}"/>
</p:tagLst>
</file>

<file path=ppt/tags/tag12.xml><?xml version="1.0" encoding="utf-8"?>
<p:tagLst xmlns:p="http://schemas.openxmlformats.org/presentationml/2006/main">
  <p:tag name="KSO_WM_DIAGRAM_VIRTUALLY_FRAME" val="{&quot;height&quot;:327,&quot;left&quot;:45,&quot;top&quot;:116.25,&quot;width&quot;:593.2}"/>
</p:tagLst>
</file>

<file path=ppt/tags/tag13.xml><?xml version="1.0" encoding="utf-8"?>
<p:tagLst xmlns:p="http://schemas.openxmlformats.org/presentationml/2006/main">
  <p:tag name="KSO_WM_DIAGRAM_VIRTUALLY_FRAME" val="{&quot;height&quot;:327,&quot;left&quot;:45,&quot;top&quot;:116.25,&quot;width&quot;:593.2}"/>
</p:tagLst>
</file>

<file path=ppt/tags/tag14.xml><?xml version="1.0" encoding="utf-8"?>
<p:tagLst xmlns:p="http://schemas.openxmlformats.org/presentationml/2006/main">
  <p:tag name="KSO_WM_DIAGRAM_VIRTUALLY_FRAME" val="{&quot;height&quot;:327,&quot;left&quot;:45,&quot;top&quot;:116.25,&quot;width&quot;:593.2}"/>
</p:tagLst>
</file>

<file path=ppt/tags/tag15.xml><?xml version="1.0" encoding="utf-8"?>
<p:tagLst xmlns:p="http://schemas.openxmlformats.org/presentationml/2006/main">
  <p:tag name="KSO_WM_DIAGRAM_VIRTUALLY_FRAME" val="{&quot;height&quot;:327,&quot;left&quot;:45,&quot;top&quot;:116.25,&quot;width&quot;:593.2}"/>
</p:tagLst>
</file>

<file path=ppt/tags/tag16.xml><?xml version="1.0" encoding="utf-8"?>
<p:tagLst xmlns:p="http://schemas.openxmlformats.org/presentationml/2006/main">
  <p:tag name="KSO_WM_DIAGRAM_VIRTUALLY_FRAME" val="{&quot;height&quot;:327,&quot;left&quot;:45,&quot;top&quot;:116.25,&quot;width&quot;:593.2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1670</Words>
  <Application>WPS 演示</Application>
  <PresentationFormat>Converted Presentation</PresentationFormat>
  <Paragraphs>225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Noto Sans SC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北风过境</cp:lastModifiedBy>
  <cp:revision>1</cp:revision>
  <dcterms:created xsi:type="dcterms:W3CDTF">2026-09-10T06:48:24Z</dcterms:created>
  <dcterms:modified xsi:type="dcterms:W3CDTF">2026-09-10T06:48:24Z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EDF12B415E1340E69F6D6871EDE08BC4_12</vt:lpwstr>
  </property>
</Properties>
</file>