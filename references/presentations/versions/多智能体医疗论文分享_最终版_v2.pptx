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3" r:id="rId10"/>
    <p:sldId id="264" r:id="rId11"/>
    <p:sldId id="273" r:id="rId12"/>
    <p:sldId id="267" r:id="rId13"/>
    <p:sldId id="265" r:id="rId14"/>
    <p:sldId id="268" r:id="rId15"/>
    <p:sldId id="269" r:id="rId16"/>
    <p:sldId id="266" r:id="rId17"/>
    <p:sldId id="271" r:id="rId18"/>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资料来源：用户提供的论文与内容规划文档。</a:t>
            </a:r>
          </a:p>
          <a:p>
            <a:r>
              <a:t>开场说明本次分享关注多智能体医疗系统的协作机制。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资料来源：综合用户提供的五篇论文。</a:t>
            </a:r>
          </a:p>
          <a:p>
            <a:r>
              <a:t>强调多智能体的动机来自医学知识跨度、数据复杂性和临床协作结构。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资料来源：用户提供的内容规划文档。</a:t>
            </a:r>
          </a:p>
          <a:p>
            <a:r>
              <a:t>本页只展示整体协作流程。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资料来源：MDAgents: An Adaptive Collaboration of LLMs for Medical Decision-Making, NeurIPS 2024。</a:t>
            </a:r>
          </a:p>
          <a:p>
            <a:r>
              <a:t>论文根据低、中、高复杂度选择不同协作结构。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资料来源：A Knowledge-driven Adaptive Collaboration of LLMs for Enhancing Medical Decision-making, EMNLP 2025。</a:t>
            </a:r>
          </a:p>
          <a:p>
            <a:r>
              <a:t>重点讲知识缺口检测和讨论中招募新专家。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资料来源：An agentic system for rare disease diagnosis with traceable reasoning, Nature 2026。</a:t>
            </a:r>
          </a:p>
          <a:p>
            <a:r>
              <a:t>本页合并系统能力和诊断流程。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资料来源：MedLA: A Logic-Driven Multi-Agent Framework for Complex Medical Reasoning with Large Language Models, AAAI 2026。</a:t>
            </a:r>
          </a:p>
          <a:p>
            <a:r>
              <a:t>重点讲大前提、小前提、结论和前提级冲突定位。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资料来源：Real-World Doctor Agent with Proactive Consultation through Multi-Agent Reinforcement Learning, arXiv:2505.19630v4。</a:t>
            </a:r>
          </a:p>
          <a:p>
            <a:r>
              <a:t>介绍患者智能体、医生智能体和问诊评估器的互动。 </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p:sp>
        <p:nvSpPr>
          <p:cNvPr id="9" name="矩形 8"/>
          <p:cNvSpPr>
            <a:spLocks noGrp="1"/>
          </p:cNvSpPr>
          <p:nvPr/>
        </p:nvSpPr>
        <p:spPr>
          <a:xfrm>
            <a:off x="742950" y="1352550"/>
            <a:ext cx="7239000" cy="666750"/>
          </a:xfrm>
          <a:prstGeom prst="rect">
            <a:avLst/>
          </a:prstGeom>
          <a:noFill/>
          <a:ln w="0">
            <a:noFill/>
          </a:ln>
        </p:spPr>
        <p:txBody>
          <a:bodyPr wrap="square" lIns="0" tIns="0" rIns="0" bIns="0" anchor="t">
            <a:normAutofit/>
          </a:bodyPr>
          <a:lstStyle/>
          <a:p>
            <a:pPr algn="l">
              <a:lnSpc>
                <a:spcPct val="108000"/>
              </a:lnSpc>
              <a:buNone/>
              <a:defRPr sz="3600" b="1">
                <a:solidFill>
                  <a:srgbClr val="FFFFFF"/>
                </a:solidFill>
                <a:latin typeface="微软雅黑" panose="020B0503020204020204" charset="-122"/>
                <a:ea typeface="微软雅黑" panose="020B0503020204020204" charset="-122"/>
                <a:cs typeface="微软雅黑" panose="020B0503020204020204" charset="-122"/>
              </a:defRPr>
            </a:pPr>
            <a:r>
              <a:rPr sz="3600" b="1">
                <a:solidFill>
                  <a:srgbClr val="FFFFFF"/>
                </a:solidFill>
                <a:latin typeface="微软雅黑" panose="020B0503020204020204" charset="-122"/>
                <a:ea typeface="微软雅黑" panose="020B0503020204020204" charset="-122"/>
                <a:cs typeface="微软雅黑" panose="020B0503020204020204" charset="-122"/>
              </a:rPr>
              <a:t>多智能体大语言模型</a:t>
            </a:r>
            <a:endParaRPr sz="3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742950" y="2076450"/>
            <a:ext cx="8572500" cy="666750"/>
          </a:xfrm>
          <a:prstGeom prst="rect">
            <a:avLst/>
          </a:prstGeom>
          <a:noFill/>
          <a:ln w="0">
            <a:noFill/>
          </a:ln>
        </p:spPr>
        <p:txBody>
          <a:bodyPr wrap="square" lIns="0" tIns="0" rIns="0" bIns="0" anchor="t">
            <a:normAutofit/>
          </a:bodyPr>
          <a:lstStyle/>
          <a:p>
            <a:pPr algn="l">
              <a:lnSpc>
                <a:spcPct val="108000"/>
              </a:lnSpc>
              <a:buNone/>
              <a:defRPr sz="3600" b="1">
                <a:solidFill>
                  <a:srgbClr val="FFFFFF"/>
                </a:solidFill>
                <a:latin typeface="微软雅黑" panose="020B0503020204020204" charset="-122"/>
                <a:ea typeface="微软雅黑" panose="020B0503020204020204" charset="-122"/>
                <a:cs typeface="微软雅黑" panose="020B0503020204020204" charset="-122"/>
              </a:defRPr>
            </a:pPr>
            <a:r>
              <a:rPr sz="3600" b="1">
                <a:solidFill>
                  <a:srgbClr val="FFFFFF"/>
                </a:solidFill>
                <a:latin typeface="微软雅黑" panose="020B0503020204020204" charset="-122"/>
                <a:ea typeface="微软雅黑" panose="020B0503020204020204" charset="-122"/>
                <a:cs typeface="微软雅黑" panose="020B0503020204020204" charset="-122"/>
              </a:rPr>
              <a:t>在医疗决策中的应用与发展</a:t>
            </a:r>
            <a:endParaRPr sz="3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762000" y="3028950"/>
            <a:ext cx="2095500" cy="323850"/>
          </a:xfrm>
          <a:prstGeom prst="rect">
            <a:avLst/>
          </a:prstGeom>
          <a:noFill/>
          <a:ln w="0">
            <a:noFill/>
          </a:ln>
        </p:spPr>
        <p:txBody>
          <a:bodyPr wrap="square" lIns="0" tIns="0" rIns="0" bIns="0" anchor="t">
            <a:normAutofit/>
          </a:bodyPr>
          <a:lstStyle/>
          <a:p>
            <a:pPr algn="l">
              <a:lnSpc>
                <a:spcPct val="108000"/>
              </a:lnSpc>
              <a:buNone/>
              <a:defRPr sz="1500" b="1">
                <a:solidFill>
                  <a:srgbClr val="3FB8C6"/>
                </a:solidFill>
                <a:latin typeface="微软雅黑" panose="020B0503020204020204" charset="-122"/>
                <a:ea typeface="微软雅黑" panose="020B0503020204020204" charset="-122"/>
                <a:cs typeface="微软雅黑" panose="020B0503020204020204" charset="-122"/>
              </a:defRPr>
            </a:pPr>
            <a:r>
              <a:rPr sz="1500" b="1">
                <a:solidFill>
                  <a:srgbClr val="3FB8C6"/>
                </a:solidFill>
                <a:latin typeface="微软雅黑" panose="020B0503020204020204" charset="-122"/>
                <a:ea typeface="微软雅黑" panose="020B0503020204020204" charset="-122"/>
                <a:cs typeface="微软雅黑" panose="020B0503020204020204" charset="-122"/>
              </a:rPr>
              <a:t>论文分享</a:t>
            </a:r>
            <a:r>
              <a:rPr lang="en-US" sz="1500" b="1">
                <a:solidFill>
                  <a:srgbClr val="3FB8C6"/>
                </a:solidFill>
                <a:latin typeface="微软雅黑" panose="020B0503020204020204" charset="-122"/>
                <a:ea typeface="微软雅黑" panose="020B0503020204020204" charset="-122"/>
                <a:cs typeface="微软雅黑" panose="020B0503020204020204" charset="-122"/>
              </a:rPr>
              <a:t>&amp;</a:t>
            </a:r>
            <a:r>
              <a:rPr lang="zh-CN" altLang="en-US" sz="1500" b="1">
                <a:solidFill>
                  <a:srgbClr val="3FB8C6"/>
                </a:solidFill>
                <a:latin typeface="微软雅黑" panose="020B0503020204020204" charset="-122"/>
                <a:ea typeface="微软雅黑" panose="020B0503020204020204" charset="-122"/>
                <a:cs typeface="微软雅黑" panose="020B0503020204020204" charset="-122"/>
              </a:rPr>
              <a:t>实验</a:t>
            </a:r>
            <a:r>
              <a:rPr lang="zh-CN" altLang="en-US" sz="1500" b="1">
                <a:solidFill>
                  <a:srgbClr val="3FB8C6"/>
                </a:solidFill>
                <a:latin typeface="微软雅黑" panose="020B0503020204020204" charset="-122"/>
                <a:ea typeface="微软雅黑" panose="020B0503020204020204" charset="-122"/>
                <a:cs typeface="微软雅黑" panose="020B0503020204020204" charset="-122"/>
              </a:rPr>
              <a:t>复现</a:t>
            </a:r>
            <a:endParaRPr lang="zh-CN" altLang="en-US" sz="1500" b="1">
              <a:solidFill>
                <a:srgbClr val="3FB8C6"/>
              </a:solidFill>
              <a:latin typeface="微软雅黑" panose="020B0503020204020204" charset="-122"/>
              <a:ea typeface="微软雅黑" panose="020B0503020204020204" charset="-122"/>
              <a:cs typeface="微软雅黑" panose="020B0503020204020204" charset="-122"/>
            </a:endParaRPr>
          </a:p>
        </p:txBody>
      </p:sp>
      <p:sp>
        <p:nvSpPr>
          <p:cNvPr id="4" name="直接连接符 3"/>
          <p:cNvSpPr>
            <a:spLocks noGrp="1"/>
          </p:cNvSpPr>
          <p:nvPr/>
        </p:nvSpPr>
        <p:spPr>
          <a:xfrm>
            <a:off x="762000" y="3571875"/>
            <a:ext cx="2095500" cy="0"/>
          </a:xfrm>
          <a:prstGeom prst="line">
            <a:avLst/>
          </a:prstGeom>
          <a:noFill/>
          <a:ln w="38100">
            <a:solidFill>
              <a:srgbClr val="3FB8C6"/>
            </a:solidFill>
          </a:ln>
        </p:spPr>
      </p:sp>
      <p:sp>
        <p:nvSpPr>
          <p:cNvPr id="5" name="矩形 4"/>
          <p:cNvSpPr>
            <a:spLocks noGrp="1"/>
          </p:cNvSpPr>
          <p:nvPr/>
        </p:nvSpPr>
        <p:spPr>
          <a:xfrm>
            <a:off x="762000" y="4114800"/>
            <a:ext cx="2095500" cy="323850"/>
          </a:xfrm>
          <a:prstGeom prst="rect">
            <a:avLst/>
          </a:prstGeom>
          <a:noFill/>
          <a:ln w="0">
            <a:noFill/>
          </a:ln>
        </p:spPr>
        <p:txBody>
          <a:bodyPr wrap="square" lIns="0" tIns="0" rIns="0" bIns="0" anchor="t">
            <a:normAutofit/>
          </a:bodyPr>
          <a:lstStyle/>
          <a:p>
            <a:pPr algn="l">
              <a:lnSpc>
                <a:spcPct val="108000"/>
              </a:lnSpc>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黄锦佳</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762000" y="4514850"/>
            <a:ext cx="2857500" cy="285750"/>
          </a:xfrm>
          <a:prstGeom prst="rect">
            <a:avLst/>
          </a:prstGeom>
          <a:noFill/>
          <a:ln w="0">
            <a:noFill/>
          </a:ln>
        </p:spPr>
        <p:txBody>
          <a:bodyPr wrap="square" lIns="0" tIns="0" rIns="0" bIns="0" anchor="t">
            <a:normAutofit/>
          </a:bodyPr>
          <a:lstStyle/>
          <a:p>
            <a:pPr algn="l">
              <a:lnSpc>
                <a:spcPct val="108000"/>
              </a:lnSpc>
              <a:buNone/>
              <a:defRPr sz="1350" b="0">
                <a:solidFill>
                  <a:srgbClr val="BCD0DE"/>
                </a:solidFill>
                <a:latin typeface="微软雅黑" panose="020B0503020204020204" charset="-122"/>
                <a:ea typeface="微软雅黑" panose="020B0503020204020204" charset="-122"/>
                <a:cs typeface="微软雅黑" panose="020B0503020204020204" charset="-122"/>
              </a:defRPr>
            </a:pPr>
            <a:r>
              <a:rPr sz="1350" b="0">
                <a:solidFill>
                  <a:srgbClr val="BCD0DE"/>
                </a:solidFill>
                <a:latin typeface="微软雅黑" panose="020B0503020204020204" charset="-122"/>
                <a:ea typeface="微软雅黑" panose="020B0503020204020204" charset="-122"/>
                <a:cs typeface="微软雅黑" panose="020B0503020204020204" charset="-122"/>
              </a:rPr>
              <a:t>2026 年 9 月 17 日</a:t>
            </a:r>
            <a:endParaRPr sz="1350" b="0">
              <a:solidFill>
                <a:srgbClr val="BCD0D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62000" y="6019800"/>
            <a:ext cx="8191500" cy="247650"/>
          </a:xfrm>
          <a:prstGeom prst="rect">
            <a:avLst/>
          </a:prstGeom>
          <a:noFill/>
          <a:ln w="0">
            <a:noFill/>
          </a:ln>
        </p:spPr>
        <p:txBody>
          <a:bodyPr wrap="square" lIns="0" tIns="0" rIns="0" bIns="0" anchor="t">
            <a:normAutofit/>
          </a:bodyPr>
          <a:lstStyle/>
          <a:p>
            <a:pPr algn="l">
              <a:lnSpc>
                <a:spcPct val="108000"/>
              </a:lnSpc>
              <a:buNone/>
              <a:defRPr sz="1200" b="0">
                <a:solidFill>
                  <a:srgbClr val="BCD0DE"/>
                </a:solidFill>
                <a:latin typeface="微软雅黑" panose="020B0503020204020204" charset="-122"/>
                <a:ea typeface="微软雅黑" panose="020B0503020204020204" charset="-122"/>
                <a:cs typeface="微软雅黑" panose="020B0503020204020204" charset="-122"/>
              </a:defRPr>
            </a:pPr>
            <a:r>
              <a:rPr sz="1200" b="0">
                <a:solidFill>
                  <a:srgbClr val="BCD0DE"/>
                </a:solidFill>
                <a:latin typeface="微软雅黑" panose="020B0503020204020204" charset="-122"/>
                <a:ea typeface="微软雅黑" panose="020B0503020204020204" charset="-122"/>
                <a:cs typeface="微软雅黑" panose="020B0503020204020204" charset="-122"/>
              </a:rPr>
              <a:t>MDAgents · KAMAC · DeepRare · MedLA · DoctorAgent-RL</a:t>
            </a:r>
            <a:endParaRPr sz="1200" b="0">
              <a:solidFill>
                <a:srgbClr val="BCD0D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858250" y="1571625"/>
            <a:ext cx="2476500" cy="1714500"/>
          </a:xfrm>
          <a:prstGeom prst="rect">
            <a:avLst/>
          </a:prstGeom>
          <a:noFill/>
          <a:ln w="0">
            <a:noFill/>
          </a:ln>
        </p:spPr>
        <p:txBody>
          <a:bodyPr wrap="square" lIns="0" tIns="0" rIns="0" bIns="0" anchor="ctr">
            <a:normAutofit/>
          </a:bodyPr>
          <a:lstStyle/>
          <a:p>
            <a:pPr algn="r">
              <a:lnSpc>
                <a:spcPct val="108000"/>
              </a:lnSpc>
              <a:buNone/>
              <a:defRPr sz="2550" b="1">
                <a:solidFill>
                  <a:srgbClr val="5DA7B0"/>
                </a:solidFill>
                <a:latin typeface="微软雅黑" panose="020B0503020204020204" charset="-122"/>
                <a:ea typeface="微软雅黑" panose="020B0503020204020204" charset="-122"/>
                <a:cs typeface="微软雅黑" panose="020B0503020204020204" charset="-122"/>
              </a:defRPr>
            </a:pPr>
            <a:r>
              <a:rPr sz="2550" b="1">
                <a:solidFill>
                  <a:srgbClr val="5DA7B0"/>
                </a:solidFill>
                <a:latin typeface="微软雅黑" panose="020B0503020204020204" charset="-122"/>
                <a:ea typeface="微软雅黑" panose="020B0503020204020204" charset="-122"/>
                <a:cs typeface="微软雅黑" panose="020B0503020204020204" charset="-122"/>
              </a:rPr>
              <a:t>AI × MEDICINE</a:t>
            </a:r>
            <a:endParaRPr sz="2550" b="1">
              <a:solidFill>
                <a:srgbClr val="5DA7B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609600" y="342900"/>
            <a:ext cx="10191750" cy="514350"/>
          </a:xfrm>
          <a:prstGeom prst="rect">
            <a:avLst/>
          </a:prstGeom>
          <a:noFill/>
          <a:ln w="0">
            <a:noFill/>
          </a:ln>
        </p:spPr>
        <p:txBody>
          <a:bodyPr wrap="square" lIns="0" tIns="0" rIns="0" bIns="0" anchor="t">
            <a:normAutofit/>
          </a:bodyPr>
          <a:lstStyle/>
          <a:p>
            <a:pPr algn="l">
              <a:lnSpc>
                <a:spcPct val="108000"/>
              </a:lnSpc>
              <a:buNone/>
              <a:defRPr sz="2550" b="1">
                <a:solidFill>
                  <a:srgbClr val="102A43"/>
                </a:solidFill>
                <a:latin typeface="微软雅黑" panose="020B0503020204020204" charset="-122"/>
                <a:ea typeface="微软雅黑" panose="020B0503020204020204" charset="-122"/>
                <a:cs typeface="微软雅黑" panose="020B0503020204020204" charset="-122"/>
              </a:defRPr>
            </a:pPr>
            <a:r>
              <a:rPr sz="2550" b="1">
                <a:solidFill>
                  <a:srgbClr val="102A43"/>
                </a:solidFill>
                <a:latin typeface="微软雅黑" panose="020B0503020204020204" charset="-122"/>
                <a:ea typeface="微软雅黑" panose="020B0503020204020204" charset="-122"/>
                <a:cs typeface="微软雅黑" panose="020B0503020204020204" charset="-122"/>
              </a:rPr>
              <a:t>为什么医疗需要多智能体系统</a:t>
            </a:r>
            <a:endParaRPr sz="255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1049000" y="400050"/>
            <a:ext cx="533400" cy="304800"/>
          </a:xfrm>
          <a:prstGeom prst="rect">
            <a:avLst/>
          </a:prstGeom>
          <a:noFill/>
          <a:ln w="0">
            <a:noFill/>
          </a:ln>
        </p:spPr>
        <p:txBody>
          <a:bodyPr wrap="square" lIns="0" tIns="0" rIns="0" bIns="0" anchor="t">
            <a:normAutofit/>
          </a:bodyPr>
          <a:lstStyle/>
          <a:p>
            <a:pPr algn="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02</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609600" y="990600"/>
            <a:ext cx="10972800" cy="0"/>
          </a:xfrm>
          <a:prstGeom prst="line">
            <a:avLst/>
          </a:prstGeom>
          <a:noFill/>
          <a:ln w="9525">
            <a:solidFill>
              <a:srgbClr val="C8D6E2"/>
            </a:solidFill>
          </a:ln>
        </p:spPr>
      </p:sp>
      <p:sp>
        <p:nvSpPr>
          <p:cNvPr id="4" name="圆角矩形 3"/>
          <p:cNvSpPr>
            <a:spLocks noGrp="1"/>
          </p:cNvSpPr>
          <p:nvPr/>
        </p:nvSpPr>
        <p:spPr>
          <a:xfrm>
            <a:off x="4619625" y="2524125"/>
            <a:ext cx="2952750" cy="1143000"/>
          </a:xfrm>
          <a:prstGeom prst="roundRect">
            <a:avLst>
              <a:gd name="adj" fmla="val 6667"/>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2250" b="1">
                <a:solidFill>
                  <a:srgbClr val="FFFFFF"/>
                </a:solidFill>
                <a:latin typeface="微软雅黑" panose="020B0503020204020204" charset="-122"/>
                <a:ea typeface="微软雅黑" panose="020B0503020204020204" charset="-122"/>
                <a:cs typeface="微软雅黑" panose="020B0503020204020204" charset="-122"/>
              </a:defRPr>
            </a:pPr>
            <a:r>
              <a:rPr sz="2250" b="1">
                <a:solidFill>
                  <a:srgbClr val="FFFFFF"/>
                </a:solidFill>
                <a:latin typeface="微软雅黑" panose="020B0503020204020204" charset="-122"/>
                <a:ea typeface="微软雅黑" panose="020B0503020204020204" charset="-122"/>
                <a:cs typeface="微软雅黑" panose="020B0503020204020204" charset="-122"/>
              </a:rPr>
              <a:t>复杂医疗决策</a:t>
            </a:r>
            <a:endParaRPr sz="2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圆角矩形 4"/>
          <p:cNvSpPr>
            <a:spLocks noGrp="1"/>
          </p:cNvSpPr>
          <p:nvPr/>
        </p:nvSpPr>
        <p:spPr>
          <a:xfrm>
            <a:off x="876300" y="1428750"/>
            <a:ext cx="2476500" cy="1066800"/>
          </a:xfrm>
          <a:prstGeom prst="roundRect">
            <a:avLst>
              <a:gd name="adj" fmla="val 7143"/>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多专科知识</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需要共同参与</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839200" y="1428750"/>
            <a:ext cx="2476500" cy="1066800"/>
          </a:xfrm>
          <a:prstGeom prst="roundRect">
            <a:avLst>
              <a:gd name="adj" fmla="val 7143"/>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数据形式复杂</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病历、影像、基因</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876300" y="4191000"/>
            <a:ext cx="2476500" cy="1066800"/>
          </a:xfrm>
          <a:prstGeom prst="roundRect">
            <a:avLst>
              <a:gd name="adj" fmla="val 7143"/>
            </a:avLst>
          </a:prstGeom>
          <a:solidFill>
            <a:srgbClr val="FFF2E8"/>
          </a:solidFill>
          <a:ln w="14288">
            <a:solidFill>
              <a:srgbClr val="EFC397"/>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单模型可能遗漏信息</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也可能产生幻觉</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839200" y="4191000"/>
            <a:ext cx="2476500" cy="1066800"/>
          </a:xfrm>
          <a:prstGeom prst="roundRect">
            <a:avLst>
              <a:gd name="adj" fmla="val 7143"/>
            </a:avLst>
          </a:prstGeom>
          <a:solidFill>
            <a:srgbClr val="EDF7F2"/>
          </a:solidFill>
          <a:ln w="14288">
            <a:solidFill>
              <a:srgbClr val="A8D6C3"/>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真实医疗本身依赖</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团队分工与协作</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23" name="直接箭头连接符 22"/>
          <p:cNvCxnSpPr>
            <a:stCxn id="5" idx="3"/>
            <a:endCxn id="4" idx="1"/>
          </p:cNvCxnSpPr>
          <p:nvPr/>
        </p:nvCxnSpPr>
        <p:spPr>
          <a:xfrm>
            <a:off x="3352800" y="1962150"/>
            <a:ext cx="1266825" cy="1133475"/>
          </a:xfrm>
          <a:prstGeom prst="straightConnector1">
            <a:avLst/>
          </a:prstGeom>
          <a:ln w="20955">
            <a:solidFill>
              <a:srgbClr val="0E7C86"/>
            </a:solidFill>
            <a:prstDash val="solid"/>
            <a:tailEnd type="triangle" w="sm" len="sm"/>
          </a:ln>
        </p:spPr>
      </p:cxnSp>
      <p:cxnSp>
        <p:nvCxnSpPr>
          <p:cNvPr id="24" name="直接箭头连接符 23"/>
          <p:cNvCxnSpPr>
            <a:stCxn id="6" idx="1"/>
            <a:endCxn id="4" idx="3"/>
          </p:cNvCxnSpPr>
          <p:nvPr/>
        </p:nvCxnSpPr>
        <p:spPr>
          <a:xfrm flipH="1">
            <a:off x="7572375" y="1962150"/>
            <a:ext cx="1266825" cy="1133475"/>
          </a:xfrm>
          <a:prstGeom prst="straightConnector1">
            <a:avLst/>
          </a:prstGeom>
          <a:ln w="20955">
            <a:solidFill>
              <a:srgbClr val="0E7C86"/>
            </a:solidFill>
            <a:prstDash val="solid"/>
            <a:tailEnd type="triangle" w="sm" len="sm"/>
          </a:ln>
        </p:spPr>
      </p:cxnSp>
      <p:cxnSp>
        <p:nvCxnSpPr>
          <p:cNvPr id="25" name="直接箭头连接符 24"/>
          <p:cNvCxnSpPr>
            <a:stCxn id="7" idx="3"/>
            <a:endCxn id="4" idx="1"/>
          </p:cNvCxnSpPr>
          <p:nvPr/>
        </p:nvCxnSpPr>
        <p:spPr>
          <a:xfrm flipV="1">
            <a:off x="3352800" y="3095625"/>
            <a:ext cx="1266825" cy="1628775"/>
          </a:xfrm>
          <a:prstGeom prst="straightConnector1">
            <a:avLst/>
          </a:prstGeom>
          <a:ln w="20955">
            <a:solidFill>
              <a:srgbClr val="0E7C86"/>
            </a:solidFill>
            <a:prstDash val="solid"/>
            <a:tailEnd type="triangle" w="sm" len="sm"/>
          </a:ln>
        </p:spPr>
      </p:cxnSp>
      <p:cxnSp>
        <p:nvCxnSpPr>
          <p:cNvPr id="26" name="直接箭头连接符 25"/>
          <p:cNvCxnSpPr>
            <a:stCxn id="8" idx="1"/>
            <a:endCxn id="4" idx="3"/>
          </p:cNvCxnSpPr>
          <p:nvPr/>
        </p:nvCxnSpPr>
        <p:spPr>
          <a:xfrm flipH="1" flipV="1">
            <a:off x="7572375" y="3095625"/>
            <a:ext cx="1266825" cy="1628775"/>
          </a:xfrm>
          <a:prstGeom prst="straightConnector1">
            <a:avLst/>
          </a:prstGeom>
          <a:ln w="20955">
            <a:solidFill>
              <a:srgbClr val="0E7C86"/>
            </a:solidFill>
            <a:prstDash val="solid"/>
            <a:tailEnd type="triangle" w="sm" len="sm"/>
          </a:ln>
        </p:spPr>
      </p:cxnSp>
      <p:sp>
        <p:nvSpPr>
          <p:cNvPr id="13" name="矩形 12"/>
          <p:cNvSpPr>
            <a:spLocks noGrp="1"/>
          </p:cNvSpPr>
          <p:nvPr/>
        </p:nvSpPr>
        <p:spPr>
          <a:xfrm>
            <a:off x="2571750" y="5715000"/>
            <a:ext cx="7048500" cy="361950"/>
          </a:xfrm>
          <a:prstGeom prst="rect">
            <a:avLst/>
          </a:prstGeom>
          <a:noFill/>
          <a:ln w="0">
            <a:noFill/>
          </a:ln>
        </p:spPr>
        <p:txBody>
          <a:bodyPr wrap="square" lIns="0" tIns="0" rIns="0" bIns="0" anchor="t">
            <a:normAutofit/>
          </a:bodyPr>
          <a:lstStyle/>
          <a:p>
            <a:pPr algn="ctr">
              <a:lnSpc>
                <a:spcPct val="108000"/>
              </a:lnSpc>
              <a:buNone/>
              <a:defRPr sz="1800" b="1">
                <a:solidFill>
                  <a:srgbClr val="0E7C86"/>
                </a:solidFill>
                <a:latin typeface="微软雅黑" panose="020B0503020204020204" charset="-122"/>
                <a:ea typeface="微软雅黑" panose="020B0503020204020204" charset="-122"/>
                <a:cs typeface="微软雅黑" panose="020B0503020204020204" charset="-122"/>
              </a:defRPr>
            </a:pPr>
            <a:r>
              <a:rPr sz="1800" b="1">
                <a:solidFill>
                  <a:srgbClr val="0E7C86"/>
                </a:solidFill>
                <a:latin typeface="微软雅黑" panose="020B0503020204020204" charset="-122"/>
                <a:ea typeface="微软雅黑" panose="020B0503020204020204" charset="-122"/>
                <a:cs typeface="微软雅黑" panose="020B0503020204020204" charset="-122"/>
              </a:rPr>
              <a:t>多个 AI 分别处理擅长的任务，再共同完成医疗决策</a:t>
            </a:r>
            <a:endParaRPr sz="18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09600" y="6477000"/>
            <a:ext cx="4572000" cy="190500"/>
          </a:xfrm>
          <a:prstGeom prst="rect">
            <a:avLst/>
          </a:prstGeom>
          <a:noFill/>
          <a:ln w="0">
            <a:noFill/>
          </a:ln>
        </p:spPr>
        <p:txBody>
          <a:bodyPr wrap="square" lIns="0" tIns="0" rIns="0" bIns="0" anchor="t">
            <a:normAutofit/>
          </a:bodyPr>
          <a:lstStyle/>
          <a:p>
            <a:pPr algn="l">
              <a:lnSpc>
                <a:spcPct val="108000"/>
              </a:lnSpc>
              <a:buNone/>
              <a:defRPr sz="825" b="0">
                <a:solidFill>
                  <a:srgbClr val="8191A1"/>
                </a:solidFill>
                <a:latin typeface="微软雅黑" panose="020B0503020204020204" charset="-122"/>
                <a:ea typeface="微软雅黑" panose="020B0503020204020204" charset="-122"/>
                <a:cs typeface="微软雅黑" panose="020B0503020204020204" charset="-122"/>
              </a:defRPr>
            </a:pPr>
            <a:r>
              <a:rPr sz="825" b="0">
                <a:solidFill>
                  <a:srgbClr val="8191A1"/>
                </a:solidFill>
                <a:latin typeface="微软雅黑" panose="020B0503020204020204" charset="-122"/>
                <a:ea typeface="微软雅黑" panose="020B0503020204020204" charset="-122"/>
                <a:cs typeface="微软雅黑" panose="020B0503020204020204" charset="-122"/>
              </a:rPr>
              <a:t>多智能体医疗论文分享</a:t>
            </a:r>
            <a:endParaRPr sz="825" b="0">
              <a:solidFill>
                <a:srgbClr val="8191A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C"/>
        </a:solidFill>
        <a:effectLst/>
      </p:bgPr>
    </p:bg>
    <p:spTree>
      <p:nvGrpSpPr>
        <p:cNvPr id="1" name=""/>
        <p:cNvGrpSpPr/>
        <p:nvPr/>
      </p:nvGrpSpPr>
      <p:grpSpPr/>
      <p:sp>
        <p:nvSpPr>
          <p:cNvPr id="23" name="矩形 22"/>
          <p:cNvSpPr>
            <a:spLocks noGrp="1"/>
          </p:cNvSpPr>
          <p:nvPr/>
        </p:nvSpPr>
        <p:spPr>
          <a:xfrm>
            <a:off x="609600" y="342900"/>
            <a:ext cx="10191750" cy="514350"/>
          </a:xfrm>
          <a:prstGeom prst="rect">
            <a:avLst/>
          </a:prstGeom>
          <a:noFill/>
          <a:ln w="0">
            <a:noFill/>
          </a:ln>
        </p:spPr>
        <p:txBody>
          <a:bodyPr wrap="square" lIns="0" tIns="0" rIns="0" bIns="0" anchor="t">
            <a:normAutofit/>
          </a:bodyPr>
          <a:lstStyle/>
          <a:p>
            <a:pPr algn="l">
              <a:lnSpc>
                <a:spcPct val="108000"/>
              </a:lnSpc>
              <a:buNone/>
              <a:defRPr sz="2550" b="1">
                <a:solidFill>
                  <a:srgbClr val="102A43"/>
                </a:solidFill>
                <a:latin typeface="微软雅黑" panose="020B0503020204020204" charset="-122"/>
                <a:ea typeface="微软雅黑" panose="020B0503020204020204" charset="-122"/>
                <a:cs typeface="微软雅黑" panose="020B0503020204020204" charset="-122"/>
              </a:defRPr>
            </a:pPr>
            <a:r>
              <a:rPr sz="2550" b="1">
                <a:solidFill>
                  <a:srgbClr val="102A43"/>
                </a:solidFill>
                <a:latin typeface="微软雅黑" panose="020B0503020204020204" charset="-122"/>
                <a:ea typeface="微软雅黑" panose="020B0503020204020204" charset="-122"/>
                <a:cs typeface="微软雅黑" panose="020B0503020204020204" charset="-122"/>
              </a:rPr>
              <a:t>多智能体医疗系统的基本协作模式</a:t>
            </a:r>
            <a:endParaRPr sz="255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1049000" y="400050"/>
            <a:ext cx="533400" cy="304800"/>
          </a:xfrm>
          <a:prstGeom prst="rect">
            <a:avLst/>
          </a:prstGeom>
          <a:noFill/>
          <a:ln w="0">
            <a:noFill/>
          </a:ln>
        </p:spPr>
        <p:txBody>
          <a:bodyPr wrap="square" lIns="0" tIns="0" rIns="0" bIns="0" anchor="t">
            <a:normAutofit/>
          </a:bodyPr>
          <a:lstStyle/>
          <a:p>
            <a:pPr algn="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03</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609600" y="990600"/>
            <a:ext cx="10972800" cy="0"/>
          </a:xfrm>
          <a:prstGeom prst="line">
            <a:avLst/>
          </a:prstGeom>
          <a:noFill/>
          <a:ln w="9525">
            <a:solidFill>
              <a:srgbClr val="C8D6E2"/>
            </a:solidFill>
          </a:ln>
        </p:spPr>
      </p:sp>
      <p:sp>
        <p:nvSpPr>
          <p:cNvPr id="4" name="圆角矩形 3"/>
          <p:cNvSpPr>
            <a:spLocks noGrp="1"/>
          </p:cNvSpPr>
          <p:nvPr/>
        </p:nvSpPr>
        <p:spPr>
          <a:xfrm>
            <a:off x="571500" y="2714625"/>
            <a:ext cx="1809750" cy="876300"/>
          </a:xfrm>
          <a:prstGeom prst="roundRect">
            <a:avLst>
              <a:gd name="adj" fmla="val 8696"/>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725" b="1">
                <a:solidFill>
                  <a:srgbClr val="FFFFFF"/>
                </a:solidFill>
                <a:latin typeface="微软雅黑" panose="020B0503020204020204" charset="-122"/>
                <a:ea typeface="微软雅黑" panose="020B0503020204020204" charset="-122"/>
                <a:cs typeface="微软雅黑" panose="020B0503020204020204" charset="-122"/>
              </a:defRPr>
            </a:pPr>
            <a:r>
              <a:rPr sz="1725" b="1">
                <a:solidFill>
                  <a:srgbClr val="FFFFFF"/>
                </a:solidFill>
                <a:latin typeface="微软雅黑" panose="020B0503020204020204" charset="-122"/>
                <a:ea typeface="微软雅黑" panose="020B0503020204020204" charset="-122"/>
                <a:cs typeface="微软雅黑" panose="020B0503020204020204" charset="-122"/>
              </a:rPr>
              <a:t>患者临床数据</a:t>
            </a:r>
            <a:endParaRPr sz="17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圆角矩形 4"/>
          <p:cNvSpPr>
            <a:spLocks noGrp="1"/>
          </p:cNvSpPr>
          <p:nvPr/>
        </p:nvSpPr>
        <p:spPr>
          <a:xfrm>
            <a:off x="3238500" y="1352550"/>
            <a:ext cx="2095500" cy="762000"/>
          </a:xfrm>
          <a:prstGeom prst="roundRect">
            <a:avLst>
              <a:gd name="adj" fmla="val 10000"/>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全科与专科 AI</a:t>
            </a:r>
            <a:endParaRPr sz="150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3238500" y="2324100"/>
            <a:ext cx="2095500" cy="762000"/>
          </a:xfrm>
          <a:prstGeom prst="roundRect">
            <a:avLst>
              <a:gd name="adj" fmla="val 10000"/>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影像分析 AI</a:t>
            </a:r>
            <a:endParaRPr sz="150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3238500" y="3295650"/>
            <a:ext cx="2095500" cy="762000"/>
          </a:xfrm>
          <a:prstGeom prst="roundRect">
            <a:avLst>
              <a:gd name="adj" fmla="val 10000"/>
            </a:avLst>
          </a:prstGeom>
          <a:solidFill>
            <a:srgbClr val="EDF7F2"/>
          </a:solidFill>
          <a:ln w="14288">
            <a:solidFill>
              <a:srgbClr val="A8D6C3"/>
            </a:solidFill>
          </a:ln>
        </p:spPr>
        <p:txBody>
          <a:bodyPr wrap="square" lIns="114300" tIns="76200" rIns="114300" bIns="76200" anchor="ctr">
            <a:normAutofit/>
          </a:bodyPr>
          <a:lstStyle/>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基因分析 AI</a:t>
            </a:r>
            <a:endParaRPr sz="150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3238500" y="4267200"/>
            <a:ext cx="2095500" cy="762000"/>
          </a:xfrm>
          <a:prstGeom prst="roundRect">
            <a:avLst>
              <a:gd name="adj" fmla="val 10000"/>
            </a:avLst>
          </a:prstGeom>
          <a:solidFill>
            <a:srgbClr val="FFF2E8"/>
          </a:solidFill>
          <a:ln w="14288">
            <a:solidFill>
              <a:srgbClr val="EFC397"/>
            </a:solidFill>
          </a:ln>
        </p:spPr>
        <p:txBody>
          <a:bodyPr wrap="square" lIns="114300" tIns="76200" rIns="114300" bIns="76200" anchor="ctr">
            <a:normAutofit/>
          </a:bodyPr>
          <a:lstStyle/>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医学知识检索 AI</a:t>
            </a:r>
            <a:endParaRPr sz="150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6334125" y="2381250"/>
            <a:ext cx="2095500" cy="1047750"/>
          </a:xfrm>
          <a:prstGeom prst="roundRect">
            <a:avLst>
              <a:gd name="adj" fmla="val 7273"/>
            </a:avLst>
          </a:prstGeom>
          <a:solidFill>
            <a:srgbClr val="0E7C86"/>
          </a:solidFill>
          <a:ln w="14288">
            <a:solidFill>
              <a:srgbClr val="0E7C86"/>
            </a:solidFill>
          </a:ln>
        </p:spPr>
        <p:txBody>
          <a:bodyPr wrap="square" lIns="114300" tIns="76200" rIns="114300" bIns="76200" anchor="ctr">
            <a:normAutofit/>
          </a:bodyPr>
          <a:lstStyle/>
          <a:p>
            <a:pPr algn="ctr">
              <a:lnSpc>
                <a:spcPct val="105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讨论与相互验证</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9191625" y="1866900"/>
            <a:ext cx="2095500" cy="781050"/>
          </a:xfrm>
          <a:prstGeom prst="roundRect">
            <a:avLst>
              <a:gd name="adj" fmla="val 9756"/>
            </a:avLst>
          </a:prstGeom>
          <a:solidFill>
            <a:srgbClr val="FFFFFF"/>
          </a:solidFill>
          <a:ln w="14288">
            <a:solidFill>
              <a:srgbClr val="0E7C86"/>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综合分析结果</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9191625" y="3581400"/>
            <a:ext cx="2095500" cy="781050"/>
          </a:xfrm>
          <a:prstGeom prst="roundRect">
            <a:avLst>
              <a:gd name="adj" fmla="val 9756"/>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诊断或医疗建议</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34" name="肘形连接符 33"/>
          <p:cNvCxnSpPr>
            <a:stCxn id="4" idx="3"/>
            <a:endCxn id="5" idx="1"/>
          </p:cNvCxnSpPr>
          <p:nvPr/>
        </p:nvCxnSpPr>
        <p:spPr>
          <a:xfrm flipV="1">
            <a:off x="2381250" y="1733550"/>
            <a:ext cx="857250" cy="1419225"/>
          </a:xfrm>
          <a:prstGeom prst="bentConnector3">
            <a:avLst>
              <a:gd name="adj1" fmla="val 50000"/>
            </a:avLst>
          </a:prstGeom>
          <a:ln w="20955">
            <a:solidFill>
              <a:srgbClr val="0E7C86"/>
            </a:solidFill>
            <a:prstDash val="solid"/>
            <a:tailEnd type="triangle" w="sm" len="sm"/>
          </a:ln>
        </p:spPr>
      </p:cxnSp>
      <p:cxnSp>
        <p:nvCxnSpPr>
          <p:cNvPr id="35" name="肘形连接符 34"/>
          <p:cNvCxnSpPr>
            <a:stCxn id="4" idx="3"/>
            <a:endCxn id="6" idx="1"/>
          </p:cNvCxnSpPr>
          <p:nvPr/>
        </p:nvCxnSpPr>
        <p:spPr>
          <a:xfrm flipV="1">
            <a:off x="2381250" y="2705100"/>
            <a:ext cx="857250" cy="447675"/>
          </a:xfrm>
          <a:prstGeom prst="bentConnector3">
            <a:avLst>
              <a:gd name="adj1" fmla="val 50000"/>
            </a:avLst>
          </a:prstGeom>
          <a:ln w="20955">
            <a:solidFill>
              <a:srgbClr val="0E7C86"/>
            </a:solidFill>
            <a:prstDash val="solid"/>
            <a:tailEnd type="triangle" w="sm" len="sm"/>
          </a:ln>
        </p:spPr>
      </p:cxnSp>
      <p:cxnSp>
        <p:nvCxnSpPr>
          <p:cNvPr id="36" name="肘形连接符 35"/>
          <p:cNvCxnSpPr>
            <a:stCxn id="4" idx="3"/>
            <a:endCxn id="7" idx="1"/>
          </p:cNvCxnSpPr>
          <p:nvPr/>
        </p:nvCxnSpPr>
        <p:spPr>
          <a:xfrm>
            <a:off x="2381250" y="3152775"/>
            <a:ext cx="857250" cy="523875"/>
          </a:xfrm>
          <a:prstGeom prst="bentConnector3">
            <a:avLst>
              <a:gd name="adj1" fmla="val 50000"/>
            </a:avLst>
          </a:prstGeom>
          <a:ln w="20955">
            <a:solidFill>
              <a:srgbClr val="0E7C86"/>
            </a:solidFill>
            <a:prstDash val="solid"/>
            <a:tailEnd type="triangle" w="sm" len="sm"/>
          </a:ln>
        </p:spPr>
      </p:cxnSp>
      <p:cxnSp>
        <p:nvCxnSpPr>
          <p:cNvPr id="37" name="肘形连接符 36"/>
          <p:cNvCxnSpPr>
            <a:stCxn id="4" idx="3"/>
            <a:endCxn id="8" idx="1"/>
          </p:cNvCxnSpPr>
          <p:nvPr/>
        </p:nvCxnSpPr>
        <p:spPr>
          <a:xfrm>
            <a:off x="2381250" y="3152775"/>
            <a:ext cx="857250" cy="1495425"/>
          </a:xfrm>
          <a:prstGeom prst="bentConnector3">
            <a:avLst>
              <a:gd name="adj1" fmla="val 50000"/>
            </a:avLst>
          </a:prstGeom>
          <a:ln w="20955">
            <a:solidFill>
              <a:srgbClr val="0E7C86"/>
            </a:solidFill>
            <a:prstDash val="solid"/>
            <a:tailEnd type="triangle" w="sm" len="sm"/>
          </a:ln>
        </p:spPr>
      </p:cxnSp>
      <p:cxnSp>
        <p:nvCxnSpPr>
          <p:cNvPr id="38" name="肘形连接符 37"/>
          <p:cNvCxnSpPr>
            <a:stCxn id="5" idx="3"/>
            <a:endCxn id="9" idx="1"/>
          </p:cNvCxnSpPr>
          <p:nvPr/>
        </p:nvCxnSpPr>
        <p:spPr>
          <a:xfrm>
            <a:off x="5334000" y="1733550"/>
            <a:ext cx="1000125" cy="1171575"/>
          </a:xfrm>
          <a:prstGeom prst="bentConnector3">
            <a:avLst>
              <a:gd name="adj1" fmla="val 50000"/>
            </a:avLst>
          </a:prstGeom>
          <a:ln w="20955">
            <a:solidFill>
              <a:srgbClr val="0E7C86"/>
            </a:solidFill>
            <a:prstDash val="solid"/>
            <a:tailEnd type="triangle" w="sm" len="sm"/>
          </a:ln>
        </p:spPr>
      </p:cxnSp>
      <p:cxnSp>
        <p:nvCxnSpPr>
          <p:cNvPr id="39" name="肘形连接符 38"/>
          <p:cNvCxnSpPr>
            <a:stCxn id="6" idx="3"/>
            <a:endCxn id="9" idx="1"/>
          </p:cNvCxnSpPr>
          <p:nvPr/>
        </p:nvCxnSpPr>
        <p:spPr>
          <a:xfrm>
            <a:off x="5334000" y="2705100"/>
            <a:ext cx="1000125" cy="200025"/>
          </a:xfrm>
          <a:prstGeom prst="bentConnector3">
            <a:avLst>
              <a:gd name="adj1" fmla="val 50000"/>
            </a:avLst>
          </a:prstGeom>
          <a:ln w="20955">
            <a:solidFill>
              <a:srgbClr val="0E7C86"/>
            </a:solidFill>
            <a:prstDash val="solid"/>
            <a:tailEnd type="triangle" w="sm" len="sm"/>
          </a:ln>
        </p:spPr>
      </p:cxnSp>
      <p:cxnSp>
        <p:nvCxnSpPr>
          <p:cNvPr id="40" name="肘形连接符 39"/>
          <p:cNvCxnSpPr>
            <a:stCxn id="7" idx="3"/>
            <a:endCxn id="9" idx="1"/>
          </p:cNvCxnSpPr>
          <p:nvPr/>
        </p:nvCxnSpPr>
        <p:spPr>
          <a:xfrm flipV="1">
            <a:off x="5334000" y="2905125"/>
            <a:ext cx="1000125" cy="771525"/>
          </a:xfrm>
          <a:prstGeom prst="bentConnector3">
            <a:avLst>
              <a:gd name="adj1" fmla="val 50000"/>
            </a:avLst>
          </a:prstGeom>
          <a:ln w="20955">
            <a:solidFill>
              <a:srgbClr val="0E7C86"/>
            </a:solidFill>
            <a:prstDash val="solid"/>
            <a:tailEnd type="triangle" w="sm" len="sm"/>
          </a:ln>
        </p:spPr>
      </p:cxnSp>
      <p:cxnSp>
        <p:nvCxnSpPr>
          <p:cNvPr id="41" name="肘形连接符 40"/>
          <p:cNvCxnSpPr>
            <a:stCxn id="8" idx="3"/>
            <a:endCxn id="9" idx="1"/>
          </p:cNvCxnSpPr>
          <p:nvPr/>
        </p:nvCxnSpPr>
        <p:spPr>
          <a:xfrm flipV="1">
            <a:off x="5334000" y="2905125"/>
            <a:ext cx="1000125" cy="1743075"/>
          </a:xfrm>
          <a:prstGeom prst="bentConnector3">
            <a:avLst>
              <a:gd name="adj1" fmla="val 50000"/>
            </a:avLst>
          </a:prstGeom>
          <a:ln w="20955">
            <a:solidFill>
              <a:srgbClr val="0E7C86"/>
            </a:solidFill>
            <a:prstDash val="solid"/>
            <a:tailEnd type="triangle" w="sm" len="sm"/>
          </a:ln>
        </p:spPr>
      </p:cxnSp>
      <p:cxnSp>
        <p:nvCxnSpPr>
          <p:cNvPr id="42" name="直接箭头连接符 41"/>
          <p:cNvCxnSpPr>
            <a:stCxn id="9" idx="3"/>
            <a:endCxn id="10" idx="1"/>
          </p:cNvCxnSpPr>
          <p:nvPr/>
        </p:nvCxnSpPr>
        <p:spPr>
          <a:xfrm flipV="1">
            <a:off x="8429625" y="2257425"/>
            <a:ext cx="762000" cy="647700"/>
          </a:xfrm>
          <a:prstGeom prst="straightConnector1">
            <a:avLst/>
          </a:prstGeom>
          <a:ln w="20955">
            <a:solidFill>
              <a:srgbClr val="0E7C86"/>
            </a:solidFill>
            <a:prstDash val="solid"/>
            <a:tailEnd type="triangle" w="sm" len="sm"/>
          </a:ln>
        </p:spPr>
      </p:cxnSp>
      <p:cxnSp>
        <p:nvCxnSpPr>
          <p:cNvPr id="43" name="直接箭头连接符 42"/>
          <p:cNvCxnSpPr>
            <a:stCxn id="10" idx="2"/>
            <a:endCxn id="11" idx="0"/>
          </p:cNvCxnSpPr>
          <p:nvPr/>
        </p:nvCxnSpPr>
        <p:spPr>
          <a:xfrm>
            <a:off x="10239375" y="2647950"/>
            <a:ext cx="0" cy="933450"/>
          </a:xfrm>
          <a:prstGeom prst="straightConnector1">
            <a:avLst/>
          </a:prstGeom>
          <a:ln w="20955">
            <a:solidFill>
              <a:srgbClr val="0E7C86"/>
            </a:solidFill>
            <a:prstDash val="solid"/>
            <a:tailEnd type="triangle" w="sm" len="sm"/>
          </a:ln>
        </p:spPr>
      </p:cxnSp>
      <p:sp>
        <p:nvSpPr>
          <p:cNvPr id="22" name="矩形 21"/>
          <p:cNvSpPr>
            <a:spLocks noGrp="1"/>
          </p:cNvSpPr>
          <p:nvPr/>
        </p:nvSpPr>
        <p:spPr>
          <a:xfrm>
            <a:off x="609600" y="6477000"/>
            <a:ext cx="4572000" cy="190500"/>
          </a:xfrm>
          <a:prstGeom prst="rect">
            <a:avLst/>
          </a:prstGeom>
          <a:noFill/>
          <a:ln w="0">
            <a:noFill/>
          </a:ln>
        </p:spPr>
        <p:txBody>
          <a:bodyPr wrap="square" lIns="0" tIns="0" rIns="0" bIns="0" anchor="t">
            <a:normAutofit/>
          </a:bodyPr>
          <a:lstStyle/>
          <a:p>
            <a:pPr algn="l">
              <a:lnSpc>
                <a:spcPct val="108000"/>
              </a:lnSpc>
              <a:buNone/>
              <a:defRPr sz="825" b="0">
                <a:solidFill>
                  <a:srgbClr val="8191A1"/>
                </a:solidFill>
                <a:latin typeface="微软雅黑" panose="020B0503020204020204" charset="-122"/>
                <a:ea typeface="微软雅黑" panose="020B0503020204020204" charset="-122"/>
                <a:cs typeface="微软雅黑" panose="020B0503020204020204" charset="-122"/>
              </a:defRPr>
            </a:pPr>
            <a:r>
              <a:rPr sz="825" b="0">
                <a:solidFill>
                  <a:srgbClr val="8191A1"/>
                </a:solidFill>
                <a:latin typeface="微软雅黑" panose="020B0503020204020204" charset="-122"/>
                <a:ea typeface="微软雅黑" panose="020B0503020204020204" charset="-122"/>
                <a:cs typeface="微软雅黑" panose="020B0503020204020204" charset="-122"/>
              </a:rPr>
              <a:t>多智能体医疗论文分享</a:t>
            </a:r>
            <a:endParaRPr sz="825" b="0">
              <a:solidFill>
                <a:srgbClr val="8191A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矩形 19"/>
          <p:cNvSpPr>
            <a:spLocks noGrp="1"/>
          </p:cNvSpPr>
          <p:nvPr/>
        </p:nvSpPr>
        <p:spPr>
          <a:xfrm>
            <a:off x="609600" y="342900"/>
            <a:ext cx="10191750" cy="514350"/>
          </a:xfrm>
          <a:prstGeom prst="rect">
            <a:avLst/>
          </a:prstGeom>
          <a:noFill/>
          <a:ln w="0">
            <a:noFill/>
          </a:ln>
        </p:spPr>
        <p:txBody>
          <a:bodyPr wrap="square" lIns="0" tIns="0" rIns="0" bIns="0" anchor="t">
            <a:normAutofit/>
          </a:bodyPr>
          <a:lstStyle/>
          <a:p>
            <a:pPr algn="l">
              <a:lnSpc>
                <a:spcPct val="108000"/>
              </a:lnSpc>
              <a:buNone/>
              <a:defRPr sz="2550" b="1">
                <a:solidFill>
                  <a:srgbClr val="102A43"/>
                </a:solidFill>
                <a:latin typeface="微软雅黑" panose="020B0503020204020204" charset="-122"/>
                <a:ea typeface="微软雅黑" panose="020B0503020204020204" charset="-122"/>
                <a:cs typeface="微软雅黑" panose="020B0503020204020204" charset="-122"/>
              </a:defRPr>
            </a:pPr>
            <a:r>
              <a:rPr sz="2550" b="1">
                <a:solidFill>
                  <a:srgbClr val="102A43"/>
                </a:solidFill>
                <a:latin typeface="微软雅黑" panose="020B0503020204020204" charset="-122"/>
                <a:ea typeface="微软雅黑" panose="020B0503020204020204" charset="-122"/>
                <a:cs typeface="微软雅黑" panose="020B0503020204020204" charset="-122"/>
              </a:rPr>
              <a:t>MDAgents：按问题难度选择协作规模</a:t>
            </a:r>
            <a:endParaRPr sz="255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1049000" y="400050"/>
            <a:ext cx="533400" cy="304800"/>
          </a:xfrm>
          <a:prstGeom prst="rect">
            <a:avLst/>
          </a:prstGeom>
          <a:noFill/>
          <a:ln w="0">
            <a:noFill/>
          </a:ln>
        </p:spPr>
        <p:txBody>
          <a:bodyPr wrap="square" lIns="0" tIns="0" rIns="0" bIns="0" anchor="t">
            <a:normAutofit/>
          </a:bodyPr>
          <a:lstStyle/>
          <a:p>
            <a:pPr algn="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04</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609600" y="990600"/>
            <a:ext cx="10972800" cy="0"/>
          </a:xfrm>
          <a:prstGeom prst="line">
            <a:avLst/>
          </a:prstGeom>
          <a:noFill/>
          <a:ln w="9525">
            <a:solidFill>
              <a:srgbClr val="C8D6E2"/>
            </a:solidFill>
          </a:ln>
        </p:spPr>
      </p:sp>
      <p:sp>
        <p:nvSpPr>
          <p:cNvPr id="4" name="矩形 3"/>
          <p:cNvSpPr>
            <a:spLocks noGrp="1"/>
          </p:cNvSpPr>
          <p:nvPr/>
        </p:nvSpPr>
        <p:spPr>
          <a:xfrm>
            <a:off x="609600" y="1200150"/>
            <a:ext cx="5334000" cy="361950"/>
          </a:xfrm>
          <a:prstGeom prst="rect">
            <a:avLst/>
          </a:prstGeom>
          <a:noFill/>
          <a:ln w="0">
            <a:noFill/>
          </a:ln>
        </p:spPr>
        <p:txBody>
          <a:bodyPr wrap="square" lIns="0" tIns="0" rIns="0" bIns="0" anchor="t">
            <a:normAutofit/>
          </a:bodyPr>
          <a:lstStyle/>
          <a:p>
            <a:pPr algn="l">
              <a:lnSpc>
                <a:spcPct val="108000"/>
              </a:lnSpc>
              <a:buNone/>
              <a:defRPr sz="1875" b="1">
                <a:solidFill>
                  <a:srgbClr val="0E7C86"/>
                </a:solidFill>
                <a:latin typeface="微软雅黑" panose="020B0503020204020204" charset="-122"/>
                <a:ea typeface="微软雅黑" panose="020B0503020204020204" charset="-122"/>
                <a:cs typeface="微软雅黑" panose="020B0503020204020204" charset="-122"/>
              </a:defRPr>
            </a:pPr>
            <a:r>
              <a:rPr sz="1875" b="1">
                <a:solidFill>
                  <a:srgbClr val="0E7C86"/>
                </a:solidFill>
                <a:latin typeface="微软雅黑" panose="020B0503020204020204" charset="-122"/>
                <a:ea typeface="微软雅黑" panose="020B0503020204020204" charset="-122"/>
                <a:cs typeface="微软雅黑" panose="020B0503020204020204" charset="-122"/>
              </a:rPr>
              <a:t>先判断复杂度，再分配协作资源</a:t>
            </a:r>
            <a:endParaRPr sz="1875"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5" name="圆角矩形 4"/>
          <p:cNvSpPr>
            <a:spLocks noGrp="1"/>
          </p:cNvSpPr>
          <p:nvPr/>
        </p:nvSpPr>
        <p:spPr>
          <a:xfrm>
            <a:off x="609600" y="2590800"/>
            <a:ext cx="1619250" cy="838200"/>
          </a:xfrm>
          <a:prstGeom prst="roundRect">
            <a:avLst>
              <a:gd name="adj" fmla="val 9091"/>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医疗问题</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2819400" y="2590800"/>
            <a:ext cx="1809750" cy="838200"/>
          </a:xfrm>
          <a:prstGeom prst="roundRect">
            <a:avLst>
              <a:gd name="adj" fmla="val 9091"/>
            </a:avLst>
          </a:prstGeom>
          <a:solidFill>
            <a:srgbClr val="EAF4F6"/>
          </a:solidFill>
          <a:ln w="14288">
            <a:solidFill>
              <a:srgbClr val="0E7C86"/>
            </a:solidFill>
          </a:ln>
        </p:spPr>
        <p:txBody>
          <a:bodyPr wrap="square" lIns="114300" tIns="76200" rIns="114300" bIns="76200" anchor="ctr">
            <a:normAutofit/>
          </a:bodyPr>
          <a:lstStyle/>
          <a:p>
            <a:pPr algn="ctr">
              <a:lnSpc>
                <a:spcPct val="105000"/>
              </a:lnSpc>
              <a:buNone/>
              <a:defRPr sz="1725" b="1">
                <a:solidFill>
                  <a:srgbClr val="1C2733"/>
                </a:solidFill>
                <a:latin typeface="微软雅黑" panose="020B0503020204020204" charset="-122"/>
                <a:ea typeface="微软雅黑" panose="020B0503020204020204" charset="-122"/>
                <a:cs typeface="微软雅黑" panose="020B0503020204020204" charset="-122"/>
              </a:defRPr>
            </a:pPr>
            <a:r>
              <a:rPr sz="1725" b="1">
                <a:solidFill>
                  <a:srgbClr val="1C2733"/>
                </a:solidFill>
                <a:latin typeface="微软雅黑" panose="020B0503020204020204" charset="-122"/>
                <a:ea typeface="微软雅黑" panose="020B0503020204020204" charset="-122"/>
                <a:cs typeface="微软雅黑" panose="020B0503020204020204" charset="-122"/>
              </a:rPr>
              <a:t>复杂度判断</a:t>
            </a:r>
            <a:endParaRPr sz="1725"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26" name="直接箭头连接符 25"/>
          <p:cNvCxnSpPr>
            <a:stCxn id="5" idx="3"/>
            <a:endCxn id="6" idx="1"/>
          </p:cNvCxnSpPr>
          <p:nvPr/>
        </p:nvCxnSpPr>
        <p:spPr>
          <a:xfrm>
            <a:off x="2228850" y="3009900"/>
            <a:ext cx="590550" cy="0"/>
          </a:xfrm>
          <a:prstGeom prst="straightConnector1">
            <a:avLst/>
          </a:prstGeom>
          <a:ln w="20955">
            <a:solidFill>
              <a:srgbClr val="0E7C86"/>
            </a:solidFill>
            <a:prstDash val="solid"/>
            <a:tailEnd type="triangle" w="sm" len="sm"/>
          </a:ln>
        </p:spPr>
      </p:cxnSp>
      <p:sp>
        <p:nvSpPr>
          <p:cNvPr id="8" name="圆角矩形 7"/>
          <p:cNvSpPr>
            <a:spLocks noGrp="1"/>
          </p:cNvSpPr>
          <p:nvPr/>
        </p:nvSpPr>
        <p:spPr>
          <a:xfrm>
            <a:off x="5695950" y="1428750"/>
            <a:ext cx="2476500" cy="1009650"/>
          </a:xfrm>
          <a:prstGeom prst="roundRect">
            <a:avLst>
              <a:gd name="adj" fmla="val 7547"/>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低复杂度</a:t>
            </a:r>
            <a:endParaRPr sz="1575"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单个基层医生 AI</a:t>
            </a:r>
            <a:endParaRPr sz="157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5695950" y="2743200"/>
            <a:ext cx="2476500" cy="1009650"/>
          </a:xfrm>
          <a:prstGeom prst="roundRect">
            <a:avLst>
              <a:gd name="adj" fmla="val 7547"/>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中等复杂度</a:t>
            </a:r>
            <a:endParaRPr sz="1575"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多学科团队讨论</a:t>
            </a:r>
            <a:endParaRPr sz="157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5695950" y="4057650"/>
            <a:ext cx="2476500" cy="1009650"/>
          </a:xfrm>
          <a:prstGeom prst="roundRect">
            <a:avLst>
              <a:gd name="adj" fmla="val 7547"/>
            </a:avLst>
          </a:prstGeom>
          <a:solidFill>
            <a:srgbClr val="FFF2E8"/>
          </a:solidFill>
          <a:ln w="14288">
            <a:solidFill>
              <a:srgbClr val="EFC397"/>
            </a:solidFill>
          </a:ln>
        </p:spPr>
        <p:txBody>
          <a:bodyPr wrap="square" lIns="114300" tIns="76200" rIns="114300" bIns="76200" anchor="ctr">
            <a:normAutofit/>
          </a:bodyPr>
          <a:lstStyle/>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高复杂度</a:t>
            </a:r>
            <a:endParaRPr sz="1575"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多个专业小组分析</a:t>
            </a:r>
            <a:endParaRPr sz="1575"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30" name="肘形连接符 29"/>
          <p:cNvCxnSpPr>
            <a:stCxn id="6" idx="3"/>
            <a:endCxn id="8" idx="1"/>
          </p:cNvCxnSpPr>
          <p:nvPr/>
        </p:nvCxnSpPr>
        <p:spPr>
          <a:xfrm flipV="1">
            <a:off x="4629150" y="1933575"/>
            <a:ext cx="1066800" cy="1076325"/>
          </a:xfrm>
          <a:prstGeom prst="bentConnector3">
            <a:avLst>
              <a:gd name="adj1" fmla="val 50000"/>
            </a:avLst>
          </a:prstGeom>
          <a:ln w="20955">
            <a:solidFill>
              <a:srgbClr val="0E7C86"/>
            </a:solidFill>
            <a:prstDash val="solid"/>
            <a:tailEnd type="triangle" w="sm" len="sm"/>
          </a:ln>
        </p:spPr>
      </p:cxnSp>
      <p:cxnSp>
        <p:nvCxnSpPr>
          <p:cNvPr id="31" name="肘形连接符 30"/>
          <p:cNvCxnSpPr>
            <a:stCxn id="6" idx="3"/>
            <a:endCxn id="9" idx="1"/>
          </p:cNvCxnSpPr>
          <p:nvPr/>
        </p:nvCxnSpPr>
        <p:spPr>
          <a:xfrm>
            <a:off x="4629150" y="3009900"/>
            <a:ext cx="1066800" cy="238125"/>
          </a:xfrm>
          <a:prstGeom prst="bentConnector3">
            <a:avLst>
              <a:gd name="adj1" fmla="val 50000"/>
            </a:avLst>
          </a:prstGeom>
          <a:ln w="20955">
            <a:solidFill>
              <a:srgbClr val="0E7C86"/>
            </a:solidFill>
            <a:prstDash val="solid"/>
            <a:tailEnd type="triangle" w="sm" len="sm"/>
          </a:ln>
        </p:spPr>
      </p:cxnSp>
      <p:cxnSp>
        <p:nvCxnSpPr>
          <p:cNvPr id="32" name="肘形连接符 31"/>
          <p:cNvCxnSpPr>
            <a:stCxn id="6" idx="3"/>
            <a:endCxn id="10" idx="1"/>
          </p:cNvCxnSpPr>
          <p:nvPr/>
        </p:nvCxnSpPr>
        <p:spPr>
          <a:xfrm>
            <a:off x="4629150" y="3009900"/>
            <a:ext cx="1066800" cy="1552575"/>
          </a:xfrm>
          <a:prstGeom prst="bentConnector3">
            <a:avLst>
              <a:gd name="adj1" fmla="val 50000"/>
            </a:avLst>
          </a:prstGeom>
          <a:ln w="20955">
            <a:solidFill>
              <a:srgbClr val="0E7C86"/>
            </a:solidFill>
            <a:prstDash val="solid"/>
            <a:tailEnd type="triangle" w="sm" len="sm"/>
          </a:ln>
        </p:spPr>
      </p:cxnSp>
      <p:sp>
        <p:nvSpPr>
          <p:cNvPr id="14" name="圆角矩形 13"/>
          <p:cNvSpPr>
            <a:spLocks noGrp="1"/>
          </p:cNvSpPr>
          <p:nvPr/>
        </p:nvSpPr>
        <p:spPr>
          <a:xfrm>
            <a:off x="9296400" y="2590800"/>
            <a:ext cx="2095500" cy="990600"/>
          </a:xfrm>
          <a:prstGeom prst="roundRect">
            <a:avLst>
              <a:gd name="adj" fmla="val 7692"/>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最终医疗决策</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34" name="肘形连接符 33"/>
          <p:cNvCxnSpPr>
            <a:stCxn id="8" idx="3"/>
            <a:endCxn id="14" idx="1"/>
          </p:cNvCxnSpPr>
          <p:nvPr/>
        </p:nvCxnSpPr>
        <p:spPr>
          <a:xfrm>
            <a:off x="8172450" y="1933575"/>
            <a:ext cx="1123950" cy="1152525"/>
          </a:xfrm>
          <a:prstGeom prst="bentConnector3">
            <a:avLst>
              <a:gd name="adj1" fmla="val 50000"/>
            </a:avLst>
          </a:prstGeom>
          <a:ln w="20955">
            <a:solidFill>
              <a:srgbClr val="0E7C86"/>
            </a:solidFill>
            <a:prstDash val="solid"/>
            <a:tailEnd type="triangle" w="sm" len="sm"/>
          </a:ln>
        </p:spPr>
      </p:cxnSp>
      <p:cxnSp>
        <p:nvCxnSpPr>
          <p:cNvPr id="35" name="肘形连接符 34"/>
          <p:cNvCxnSpPr>
            <a:stCxn id="9" idx="3"/>
            <a:endCxn id="14" idx="1"/>
          </p:cNvCxnSpPr>
          <p:nvPr/>
        </p:nvCxnSpPr>
        <p:spPr>
          <a:xfrm flipV="1">
            <a:off x="8172450" y="3086100"/>
            <a:ext cx="1123950" cy="161925"/>
          </a:xfrm>
          <a:prstGeom prst="bentConnector3">
            <a:avLst>
              <a:gd name="adj1" fmla="val 50000"/>
            </a:avLst>
          </a:prstGeom>
          <a:ln w="20955">
            <a:solidFill>
              <a:srgbClr val="0E7C86"/>
            </a:solidFill>
            <a:prstDash val="solid"/>
            <a:tailEnd type="triangle" w="sm" len="sm"/>
          </a:ln>
        </p:spPr>
      </p:cxnSp>
      <p:cxnSp>
        <p:nvCxnSpPr>
          <p:cNvPr id="36" name="肘形连接符 35"/>
          <p:cNvCxnSpPr>
            <a:stCxn id="10" idx="3"/>
            <a:endCxn id="14" idx="1"/>
          </p:cNvCxnSpPr>
          <p:nvPr/>
        </p:nvCxnSpPr>
        <p:spPr>
          <a:xfrm flipV="1">
            <a:off x="8172450" y="3086100"/>
            <a:ext cx="1123950" cy="1476375"/>
          </a:xfrm>
          <a:prstGeom prst="bentConnector3">
            <a:avLst>
              <a:gd name="adj1" fmla="val 50000"/>
            </a:avLst>
          </a:prstGeom>
          <a:ln w="20955">
            <a:solidFill>
              <a:srgbClr val="0E7C86"/>
            </a:solidFill>
            <a:prstDash val="solid"/>
            <a:tailEnd type="triangle" w="sm" len="sm"/>
          </a:ln>
        </p:spPr>
      </p:cxnSp>
      <p:sp>
        <p:nvSpPr>
          <p:cNvPr id="18" name="矩形 17"/>
          <p:cNvSpPr>
            <a:spLocks noGrp="1"/>
          </p:cNvSpPr>
          <p:nvPr/>
        </p:nvSpPr>
        <p:spPr>
          <a:xfrm>
            <a:off x="3714750" y="5715000"/>
            <a:ext cx="4953000" cy="323850"/>
          </a:xfrm>
          <a:prstGeom prst="rect">
            <a:avLst/>
          </a:prstGeom>
          <a:noFill/>
          <a:ln w="0">
            <a:noFill/>
          </a:ln>
        </p:spPr>
        <p:txBody>
          <a:bodyPr wrap="square" lIns="0" tIns="0" rIns="0" bIns="0" anchor="t">
            <a:normAutofit/>
          </a:bodyPr>
          <a:lstStyle/>
          <a:p>
            <a:pPr algn="ctr">
              <a:lnSpc>
                <a:spcPct val="108000"/>
              </a:lnSpc>
              <a:buNone/>
              <a:defRPr sz="1650" b="1">
                <a:solidFill>
                  <a:srgbClr val="0E7C86"/>
                </a:solidFill>
                <a:latin typeface="微软雅黑" panose="020B0503020204020204" charset="-122"/>
                <a:ea typeface="微软雅黑" panose="020B0503020204020204" charset="-122"/>
                <a:cs typeface="微软雅黑" panose="020B0503020204020204" charset="-122"/>
              </a:defRPr>
            </a:pPr>
            <a:r>
              <a:rPr sz="1650" b="1">
                <a:solidFill>
                  <a:srgbClr val="0E7C86"/>
                </a:solidFill>
                <a:latin typeface="微软雅黑" panose="020B0503020204020204" charset="-122"/>
                <a:ea typeface="微软雅黑" panose="020B0503020204020204" charset="-122"/>
                <a:cs typeface="微软雅黑" panose="020B0503020204020204" charset="-122"/>
              </a:rPr>
              <a:t>目标：在诊断准确率与调用成本之间取得平衡</a:t>
            </a:r>
            <a:endParaRPr sz="165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09600" y="6477000"/>
            <a:ext cx="4572000" cy="190500"/>
          </a:xfrm>
          <a:prstGeom prst="rect">
            <a:avLst/>
          </a:prstGeom>
          <a:noFill/>
          <a:ln w="0">
            <a:noFill/>
          </a:ln>
        </p:spPr>
        <p:txBody>
          <a:bodyPr wrap="square" lIns="0" tIns="0" rIns="0" bIns="0" anchor="t">
            <a:normAutofit/>
          </a:bodyPr>
          <a:lstStyle/>
          <a:p>
            <a:pPr algn="l">
              <a:lnSpc>
                <a:spcPct val="108000"/>
              </a:lnSpc>
              <a:buNone/>
              <a:defRPr sz="825" b="0">
                <a:solidFill>
                  <a:srgbClr val="8191A1"/>
                </a:solidFill>
                <a:latin typeface="微软雅黑" panose="020B0503020204020204" charset="-122"/>
                <a:ea typeface="微软雅黑" panose="020B0503020204020204" charset="-122"/>
                <a:cs typeface="微软雅黑" panose="020B0503020204020204" charset="-122"/>
              </a:defRPr>
            </a:pPr>
            <a:r>
              <a:rPr sz="825" b="0">
                <a:solidFill>
                  <a:srgbClr val="8191A1"/>
                </a:solidFill>
                <a:latin typeface="微软雅黑" panose="020B0503020204020204" charset="-122"/>
                <a:ea typeface="微软雅黑" panose="020B0503020204020204" charset="-122"/>
                <a:cs typeface="微软雅黑" panose="020B0503020204020204" charset="-122"/>
              </a:rPr>
              <a:t>多智能体医疗论文分享</a:t>
            </a:r>
            <a:endParaRPr sz="825" b="0">
              <a:solidFill>
                <a:srgbClr val="8191A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C"/>
        </a:solidFill>
        <a:effectLst/>
      </p:bgPr>
    </p:bg>
    <p:spTree>
      <p:nvGrpSpPr>
        <p:cNvPr id="1" name=""/>
        <p:cNvGrpSpPr/>
        <p:nvPr/>
      </p:nvGrpSpPr>
      <p:grpSpPr/>
      <p:sp>
        <p:nvSpPr>
          <p:cNvPr id="18" name="矩形 17"/>
          <p:cNvSpPr>
            <a:spLocks noGrp="1"/>
          </p:cNvSpPr>
          <p:nvPr/>
        </p:nvSpPr>
        <p:spPr>
          <a:xfrm>
            <a:off x="609600" y="342900"/>
            <a:ext cx="10191750" cy="514350"/>
          </a:xfrm>
          <a:prstGeom prst="rect">
            <a:avLst/>
          </a:prstGeom>
          <a:noFill/>
          <a:ln w="0">
            <a:noFill/>
          </a:ln>
        </p:spPr>
        <p:txBody>
          <a:bodyPr wrap="square" lIns="0" tIns="0" rIns="0" bIns="0" anchor="t">
            <a:normAutofit/>
          </a:bodyPr>
          <a:lstStyle/>
          <a:p>
            <a:pPr algn="l">
              <a:lnSpc>
                <a:spcPct val="108000"/>
              </a:lnSpc>
              <a:buNone/>
              <a:defRPr sz="2550" b="1">
                <a:solidFill>
                  <a:srgbClr val="102A43"/>
                </a:solidFill>
                <a:latin typeface="微软雅黑" panose="020B0503020204020204" charset="-122"/>
                <a:ea typeface="微软雅黑" panose="020B0503020204020204" charset="-122"/>
                <a:cs typeface="微软雅黑" panose="020B0503020204020204" charset="-122"/>
              </a:defRPr>
            </a:pPr>
            <a:r>
              <a:rPr sz="2550" b="1">
                <a:solidFill>
                  <a:srgbClr val="102A43"/>
                </a:solidFill>
                <a:latin typeface="微软雅黑" panose="020B0503020204020204" charset="-122"/>
                <a:ea typeface="微软雅黑" panose="020B0503020204020204" charset="-122"/>
                <a:cs typeface="微软雅黑" panose="020B0503020204020204" charset="-122"/>
              </a:rPr>
              <a:t>KAMAC：根据知识缺口动态招募专家</a:t>
            </a:r>
            <a:endParaRPr sz="255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1049000" y="400050"/>
            <a:ext cx="533400" cy="304800"/>
          </a:xfrm>
          <a:prstGeom prst="rect">
            <a:avLst/>
          </a:prstGeom>
          <a:noFill/>
          <a:ln w="0">
            <a:noFill/>
          </a:ln>
        </p:spPr>
        <p:txBody>
          <a:bodyPr wrap="square" lIns="0" tIns="0" rIns="0" bIns="0" anchor="t">
            <a:normAutofit/>
          </a:bodyPr>
          <a:lstStyle/>
          <a:p>
            <a:pPr algn="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05</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609600" y="990600"/>
            <a:ext cx="10972800" cy="0"/>
          </a:xfrm>
          <a:prstGeom prst="line">
            <a:avLst/>
          </a:prstGeom>
          <a:noFill/>
          <a:ln w="9525">
            <a:solidFill>
              <a:srgbClr val="C8D6E2"/>
            </a:solidFill>
          </a:ln>
        </p:spPr>
      </p:sp>
      <p:sp>
        <p:nvSpPr>
          <p:cNvPr id="4" name="矩形 3"/>
          <p:cNvSpPr>
            <a:spLocks noGrp="1"/>
          </p:cNvSpPr>
          <p:nvPr/>
        </p:nvSpPr>
        <p:spPr>
          <a:xfrm>
            <a:off x="609600" y="1200150"/>
            <a:ext cx="5334000" cy="361950"/>
          </a:xfrm>
          <a:prstGeom prst="rect">
            <a:avLst/>
          </a:prstGeom>
          <a:noFill/>
          <a:ln w="0">
            <a:noFill/>
          </a:ln>
        </p:spPr>
        <p:txBody>
          <a:bodyPr wrap="square" lIns="0" tIns="0" rIns="0" bIns="0" anchor="t">
            <a:normAutofit/>
          </a:bodyPr>
          <a:lstStyle/>
          <a:p>
            <a:pPr algn="l">
              <a:lnSpc>
                <a:spcPct val="108000"/>
              </a:lnSpc>
              <a:buNone/>
              <a:defRPr sz="1875" b="1">
                <a:solidFill>
                  <a:srgbClr val="0E7C86"/>
                </a:solidFill>
                <a:latin typeface="微软雅黑" panose="020B0503020204020204" charset="-122"/>
                <a:ea typeface="微软雅黑" panose="020B0503020204020204" charset="-122"/>
                <a:cs typeface="微软雅黑" panose="020B0503020204020204" charset="-122"/>
              </a:defRPr>
            </a:pPr>
            <a:r>
              <a:rPr sz="1875" b="1">
                <a:solidFill>
                  <a:srgbClr val="0E7C86"/>
                </a:solidFill>
                <a:latin typeface="微软雅黑" panose="020B0503020204020204" charset="-122"/>
                <a:ea typeface="微软雅黑" panose="020B0503020204020204" charset="-122"/>
                <a:cs typeface="微软雅黑" panose="020B0503020204020204" charset="-122"/>
              </a:rPr>
              <a:t>专家团队在讨论过程中逐步扩展</a:t>
            </a:r>
            <a:endParaRPr sz="1875"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5" name="圆角矩形 4"/>
          <p:cNvSpPr>
            <a:spLocks noGrp="1"/>
          </p:cNvSpPr>
          <p:nvPr/>
        </p:nvSpPr>
        <p:spPr>
          <a:xfrm>
            <a:off x="838200" y="2381250"/>
            <a:ext cx="2095500" cy="1047750"/>
          </a:xfrm>
          <a:prstGeom prst="roundRect">
            <a:avLst>
              <a:gd name="adj" fmla="val 7273"/>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初始专家</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独立分析病例</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3619500" y="2381250"/>
            <a:ext cx="2095500" cy="1047750"/>
          </a:xfrm>
          <a:prstGeom prst="roundRect">
            <a:avLst>
              <a:gd name="adj" fmla="val 7273"/>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多轮讨论</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交换与修正意见</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6400800" y="2381250"/>
            <a:ext cx="2095500" cy="1047750"/>
          </a:xfrm>
          <a:prstGeom prst="roundRect">
            <a:avLst>
              <a:gd name="adj" fmla="val 7273"/>
            </a:avLst>
          </a:prstGeom>
          <a:solidFill>
            <a:srgbClr val="FFF2E8"/>
          </a:solidFill>
          <a:ln w="14288">
            <a:solidFill>
              <a:srgbClr val="EFC397"/>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知识缺口检测</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现有专家是否足够</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9336405" y="2709545"/>
            <a:ext cx="2095500" cy="1047750"/>
          </a:xfrm>
          <a:prstGeom prst="roundRect">
            <a:avLst>
              <a:gd name="adj" fmla="val 7273"/>
            </a:avLst>
          </a:prstGeom>
          <a:solidFill>
            <a:srgbClr val="EDF7F2"/>
          </a:solidFill>
          <a:ln w="14288">
            <a:solidFill>
              <a:srgbClr val="A8D6C3"/>
            </a:solidFill>
          </a:ln>
        </p:spPr>
        <p:txBody>
          <a:bodyPr wrap="square" lIns="114300" tIns="76200" rIns="114300" bIns="76200" anchor="ctr">
            <a:normAutofit/>
          </a:bodyPr>
          <a:lstStyle/>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动态招募</a:t>
            </a:r>
            <a:endParaRPr sz="165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650" b="1">
                <a:solidFill>
                  <a:srgbClr val="1C2733"/>
                </a:solidFill>
                <a:latin typeface="微软雅黑" panose="020B0503020204020204" charset="-122"/>
                <a:ea typeface="微软雅黑" panose="020B0503020204020204" charset="-122"/>
                <a:cs typeface="微软雅黑" panose="020B0503020204020204" charset="-122"/>
              </a:defRPr>
            </a:pPr>
            <a:r>
              <a:rPr sz="1650" b="1">
                <a:solidFill>
                  <a:srgbClr val="1C2733"/>
                </a:solidFill>
                <a:latin typeface="微软雅黑" panose="020B0503020204020204" charset="-122"/>
                <a:ea typeface="微软雅黑" panose="020B0503020204020204" charset="-122"/>
                <a:cs typeface="微软雅黑" panose="020B0503020204020204" charset="-122"/>
              </a:rPr>
              <a:t>相关领域新专家</a:t>
            </a:r>
            <a:endParaRPr sz="1650"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26" name="直接箭头连接符 25"/>
          <p:cNvCxnSpPr>
            <a:stCxn id="5" idx="3"/>
            <a:endCxn id="6" idx="1"/>
          </p:cNvCxnSpPr>
          <p:nvPr/>
        </p:nvCxnSpPr>
        <p:spPr>
          <a:xfrm>
            <a:off x="2933700" y="2905125"/>
            <a:ext cx="685800" cy="0"/>
          </a:xfrm>
          <a:prstGeom prst="straightConnector1">
            <a:avLst/>
          </a:prstGeom>
          <a:ln w="20955">
            <a:solidFill>
              <a:srgbClr val="0E7C86"/>
            </a:solidFill>
            <a:prstDash val="solid"/>
            <a:tailEnd type="triangle" w="sm" len="sm"/>
          </a:ln>
        </p:spPr>
      </p:cxnSp>
      <p:cxnSp>
        <p:nvCxnSpPr>
          <p:cNvPr id="27" name="直接箭头连接符 26"/>
          <p:cNvCxnSpPr>
            <a:stCxn id="6" idx="3"/>
            <a:endCxn id="7" idx="1"/>
          </p:cNvCxnSpPr>
          <p:nvPr/>
        </p:nvCxnSpPr>
        <p:spPr>
          <a:xfrm>
            <a:off x="5715000" y="2905125"/>
            <a:ext cx="685800" cy="0"/>
          </a:xfrm>
          <a:prstGeom prst="straightConnector1">
            <a:avLst/>
          </a:prstGeom>
          <a:ln w="20955">
            <a:solidFill>
              <a:srgbClr val="0E7C86"/>
            </a:solidFill>
            <a:prstDash val="solid"/>
            <a:tailEnd type="triangle" w="sm" len="sm"/>
          </a:ln>
        </p:spPr>
      </p:cxnSp>
      <p:cxnSp>
        <p:nvCxnSpPr>
          <p:cNvPr id="28" name="直接箭头连接符 27"/>
          <p:cNvCxnSpPr>
            <a:stCxn id="7" idx="3"/>
            <a:endCxn id="8" idx="1"/>
          </p:cNvCxnSpPr>
          <p:nvPr/>
        </p:nvCxnSpPr>
        <p:spPr>
          <a:xfrm>
            <a:off x="8496300" y="2905125"/>
            <a:ext cx="840105" cy="328295"/>
          </a:xfrm>
          <a:prstGeom prst="straightConnector1">
            <a:avLst/>
          </a:prstGeom>
          <a:ln w="20955">
            <a:solidFill>
              <a:srgbClr val="0E7C86"/>
            </a:solidFill>
            <a:prstDash val="solid"/>
            <a:tailEnd type="triangle" w="sm" len="sm"/>
          </a:ln>
        </p:spPr>
      </p:cxnSp>
      <p:cxnSp>
        <p:nvCxnSpPr>
          <p:cNvPr id="29" name="肘形连接符 28"/>
          <p:cNvCxnSpPr>
            <a:stCxn id="8" idx="2"/>
            <a:endCxn id="6" idx="2"/>
          </p:cNvCxnSpPr>
          <p:nvPr/>
        </p:nvCxnSpPr>
        <p:spPr>
          <a:xfrm rot="5400000" flipH="1">
            <a:off x="7361555" y="734695"/>
            <a:ext cx="328295" cy="5716905"/>
          </a:xfrm>
          <a:prstGeom prst="bentConnector3">
            <a:avLst>
              <a:gd name="adj1" fmla="val -72534"/>
            </a:avLst>
          </a:prstGeom>
          <a:ln w="20955">
            <a:solidFill>
              <a:srgbClr val="E28A3B"/>
            </a:solidFill>
            <a:prstDash val="solid"/>
            <a:tailEnd type="triangle" w="sm" len="sm"/>
          </a:ln>
        </p:spPr>
      </p:cxnSp>
      <p:sp>
        <p:nvSpPr>
          <p:cNvPr id="13" name="矩形 12"/>
          <p:cNvSpPr>
            <a:spLocks noGrp="1"/>
          </p:cNvSpPr>
          <p:nvPr/>
        </p:nvSpPr>
        <p:spPr>
          <a:xfrm>
            <a:off x="7967980" y="4076700"/>
            <a:ext cx="1714500" cy="266700"/>
          </a:xfrm>
          <a:prstGeom prst="rect">
            <a:avLst/>
          </a:prstGeom>
          <a:noFill/>
          <a:ln w="0">
            <a:noFill/>
          </a:ln>
        </p:spPr>
        <p:txBody>
          <a:bodyPr wrap="square" lIns="0" tIns="0" rIns="0" bIns="0" anchor="t">
            <a:normAutofit/>
          </a:bodyPr>
          <a:lstStyle/>
          <a:p>
            <a:pPr algn="ctr">
              <a:lnSpc>
                <a:spcPct val="108000"/>
              </a:lnSpc>
              <a:buNone/>
              <a:defRPr sz="1275" b="1">
                <a:solidFill>
                  <a:srgbClr val="E28A3B"/>
                </a:solidFill>
                <a:latin typeface="微软雅黑" panose="020B0503020204020204" charset="-122"/>
                <a:ea typeface="微软雅黑" panose="020B0503020204020204" charset="-122"/>
                <a:cs typeface="微软雅黑" panose="020B0503020204020204" charset="-122"/>
              </a:defRPr>
            </a:pPr>
            <a:r>
              <a:rPr sz="1275" b="1">
                <a:solidFill>
                  <a:srgbClr val="E28A3B"/>
                </a:solidFill>
                <a:latin typeface="微软雅黑" panose="020B0503020204020204" charset="-122"/>
                <a:ea typeface="微软雅黑" panose="020B0503020204020204" charset="-122"/>
                <a:cs typeface="微软雅黑" panose="020B0503020204020204" charset="-122"/>
              </a:rPr>
              <a:t>继续讨论</a:t>
            </a:r>
            <a:endParaRPr sz="1275" b="1">
              <a:solidFill>
                <a:srgbClr val="E28A3B"/>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4439920" y="5589270"/>
            <a:ext cx="3238500" cy="876300"/>
          </a:xfrm>
          <a:prstGeom prst="roundRect">
            <a:avLst>
              <a:gd name="adj" fmla="val 8696"/>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725" b="1">
                <a:solidFill>
                  <a:srgbClr val="FFFFFF"/>
                </a:solidFill>
                <a:latin typeface="微软雅黑" panose="020B0503020204020204" charset="-122"/>
                <a:ea typeface="微软雅黑" panose="020B0503020204020204" charset="-122"/>
                <a:cs typeface="微软雅黑" panose="020B0503020204020204" charset="-122"/>
              </a:defRPr>
            </a:pPr>
            <a:r>
              <a:rPr sz="1725" b="1">
                <a:solidFill>
                  <a:srgbClr val="FFFFFF"/>
                </a:solidFill>
                <a:latin typeface="微软雅黑" panose="020B0503020204020204" charset="-122"/>
                <a:ea typeface="微软雅黑" panose="020B0503020204020204" charset="-122"/>
                <a:cs typeface="微软雅黑" panose="020B0503020204020204" charset="-122"/>
              </a:rPr>
              <a:t>主持者综合专家意见</a:t>
            </a:r>
            <a:endParaRPr sz="1725"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725" b="1">
                <a:solidFill>
                  <a:srgbClr val="FFFFFF"/>
                </a:solidFill>
                <a:latin typeface="微软雅黑" panose="020B0503020204020204" charset="-122"/>
                <a:ea typeface="微软雅黑" panose="020B0503020204020204" charset="-122"/>
                <a:cs typeface="微软雅黑" panose="020B0503020204020204" charset="-122"/>
              </a:defRPr>
            </a:pPr>
            <a:r>
              <a:rPr sz="1725" b="1">
                <a:solidFill>
                  <a:srgbClr val="FFFFFF"/>
                </a:solidFill>
                <a:latin typeface="微软雅黑" panose="020B0503020204020204" charset="-122"/>
                <a:ea typeface="微软雅黑" panose="020B0503020204020204" charset="-122"/>
                <a:cs typeface="微软雅黑" panose="020B0503020204020204" charset="-122"/>
              </a:rPr>
              <a:t>输出最终决策</a:t>
            </a:r>
            <a:endParaRPr sz="1725" b="1">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32" name="肘形连接符 31"/>
          <p:cNvCxnSpPr>
            <a:stCxn id="7" idx="2"/>
            <a:endCxn id="14" idx="0"/>
          </p:cNvCxnSpPr>
          <p:nvPr/>
        </p:nvCxnSpPr>
        <p:spPr>
          <a:xfrm rot="5400000">
            <a:off x="5673725" y="3814445"/>
            <a:ext cx="2160270" cy="1389380"/>
          </a:xfrm>
          <a:prstGeom prst="bentConnector3">
            <a:avLst>
              <a:gd name="adj1" fmla="val 50000"/>
            </a:avLst>
          </a:prstGeom>
          <a:ln w="20955">
            <a:solidFill>
              <a:srgbClr val="0E7C86"/>
            </a:solidFill>
            <a:prstDash val="solid"/>
            <a:tailEnd type="triangle" w="sm" len="sm"/>
          </a:ln>
        </p:spPr>
      </p:cxnSp>
      <p:sp>
        <p:nvSpPr>
          <p:cNvPr id="16" name="矩形 15"/>
          <p:cNvSpPr>
            <a:spLocks noGrp="1"/>
          </p:cNvSpPr>
          <p:nvPr/>
        </p:nvSpPr>
        <p:spPr>
          <a:xfrm>
            <a:off x="6715760" y="3573145"/>
            <a:ext cx="1619250" cy="228600"/>
          </a:xfrm>
          <a:prstGeom prst="rect">
            <a:avLst/>
          </a:prstGeom>
          <a:noFill/>
          <a:ln w="0">
            <a:noFill/>
          </a:ln>
        </p:spPr>
        <p:txBody>
          <a:bodyPr wrap="square" lIns="0" tIns="0" rIns="0" bIns="0" anchor="t">
            <a:normAutofit/>
          </a:bodyPr>
          <a:lstStyle/>
          <a:p>
            <a:pPr algn="ctr">
              <a:lnSpc>
                <a:spcPct val="108000"/>
              </a:lnSpc>
              <a:buNone/>
              <a:defRPr sz="1200" b="0">
                <a:solidFill>
                  <a:srgbClr val="0E7C86"/>
                </a:solidFill>
                <a:latin typeface="微软雅黑" panose="020B0503020204020204" charset="-122"/>
                <a:ea typeface="微软雅黑" panose="020B0503020204020204" charset="-122"/>
                <a:cs typeface="微软雅黑" panose="020B0503020204020204" charset="-122"/>
              </a:defRPr>
            </a:pPr>
            <a:r>
              <a:rPr sz="1200" b="0">
                <a:solidFill>
                  <a:srgbClr val="0E7C86"/>
                </a:solidFill>
                <a:latin typeface="微软雅黑" panose="020B0503020204020204" charset="-122"/>
                <a:ea typeface="微软雅黑" panose="020B0503020204020204" charset="-122"/>
                <a:cs typeface="微软雅黑" panose="020B0503020204020204" charset="-122"/>
              </a:rPr>
              <a:t>没有知识缺口</a:t>
            </a:r>
            <a:endParaRPr sz="1200" b="0">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609600" y="6477000"/>
            <a:ext cx="4572000" cy="190500"/>
          </a:xfrm>
          <a:prstGeom prst="rect">
            <a:avLst/>
          </a:prstGeom>
          <a:noFill/>
          <a:ln w="0">
            <a:noFill/>
          </a:ln>
        </p:spPr>
        <p:txBody>
          <a:bodyPr wrap="square" lIns="0" tIns="0" rIns="0" bIns="0" anchor="t">
            <a:normAutofit/>
          </a:bodyPr>
          <a:lstStyle/>
          <a:p>
            <a:pPr algn="l">
              <a:lnSpc>
                <a:spcPct val="108000"/>
              </a:lnSpc>
              <a:buNone/>
              <a:defRPr sz="825" b="0">
                <a:solidFill>
                  <a:srgbClr val="8191A1"/>
                </a:solidFill>
                <a:latin typeface="微软雅黑" panose="020B0503020204020204" charset="-122"/>
                <a:ea typeface="微软雅黑" panose="020B0503020204020204" charset="-122"/>
                <a:cs typeface="微软雅黑" panose="020B0503020204020204" charset="-122"/>
              </a:defRPr>
            </a:pPr>
            <a:r>
              <a:rPr sz="825" b="0">
                <a:solidFill>
                  <a:srgbClr val="8191A1"/>
                </a:solidFill>
                <a:latin typeface="微软雅黑" panose="020B0503020204020204" charset="-122"/>
                <a:ea typeface="微软雅黑" panose="020B0503020204020204" charset="-122"/>
                <a:cs typeface="微软雅黑" panose="020B0503020204020204" charset="-122"/>
              </a:rPr>
              <a:t>多智能体医疗论文分享</a:t>
            </a:r>
            <a:endParaRPr sz="825" b="0">
              <a:solidFill>
                <a:srgbClr val="8191A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 name="矩形 23"/>
          <p:cNvSpPr>
            <a:spLocks noGrp="1"/>
          </p:cNvSpPr>
          <p:nvPr/>
        </p:nvSpPr>
        <p:spPr>
          <a:xfrm>
            <a:off x="609600" y="342900"/>
            <a:ext cx="10191750" cy="514350"/>
          </a:xfrm>
          <a:prstGeom prst="rect">
            <a:avLst/>
          </a:prstGeom>
          <a:noFill/>
          <a:ln w="0">
            <a:noFill/>
          </a:ln>
        </p:spPr>
        <p:txBody>
          <a:bodyPr wrap="square" lIns="0" tIns="0" rIns="0" bIns="0" anchor="t">
            <a:normAutofit/>
          </a:bodyPr>
          <a:lstStyle/>
          <a:p>
            <a:pPr algn="l">
              <a:lnSpc>
                <a:spcPct val="108000"/>
              </a:lnSpc>
              <a:buNone/>
              <a:defRPr sz="2550" b="1">
                <a:solidFill>
                  <a:srgbClr val="102A43"/>
                </a:solidFill>
                <a:latin typeface="微软雅黑" panose="020B0503020204020204" charset="-122"/>
                <a:ea typeface="微软雅黑" panose="020B0503020204020204" charset="-122"/>
                <a:cs typeface="微软雅黑" panose="020B0503020204020204" charset="-122"/>
              </a:defRPr>
            </a:pPr>
            <a:r>
              <a:rPr sz="2550" b="1">
                <a:solidFill>
                  <a:srgbClr val="102A43"/>
                </a:solidFill>
                <a:latin typeface="微软雅黑" panose="020B0503020204020204" charset="-122"/>
                <a:ea typeface="微软雅黑" panose="020B0503020204020204" charset="-122"/>
                <a:cs typeface="微软雅黑" panose="020B0503020204020204" charset="-122"/>
              </a:rPr>
              <a:t>DeepRare：工具增强的罕见病诊断</a:t>
            </a:r>
            <a:endParaRPr sz="255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1049000" y="400050"/>
            <a:ext cx="533400" cy="304800"/>
          </a:xfrm>
          <a:prstGeom prst="rect">
            <a:avLst/>
          </a:prstGeom>
          <a:noFill/>
          <a:ln w="0">
            <a:noFill/>
          </a:ln>
        </p:spPr>
        <p:txBody>
          <a:bodyPr wrap="square" lIns="0" tIns="0" rIns="0" bIns="0" anchor="t">
            <a:normAutofit/>
          </a:bodyPr>
          <a:lstStyle/>
          <a:p>
            <a:pPr algn="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06</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609600" y="990600"/>
            <a:ext cx="10972800" cy="0"/>
          </a:xfrm>
          <a:prstGeom prst="line">
            <a:avLst/>
          </a:prstGeom>
          <a:noFill/>
          <a:ln w="9525">
            <a:solidFill>
              <a:srgbClr val="C8D6E2"/>
            </a:solidFill>
          </a:ln>
        </p:spPr>
      </p:sp>
      <p:sp>
        <p:nvSpPr>
          <p:cNvPr id="4" name="圆角矩形 3"/>
          <p:cNvSpPr>
            <a:spLocks noGrp="1"/>
          </p:cNvSpPr>
          <p:nvPr/>
        </p:nvSpPr>
        <p:spPr>
          <a:xfrm>
            <a:off x="609600" y="1447800"/>
            <a:ext cx="1809750" cy="609600"/>
          </a:xfrm>
          <a:prstGeom prst="roundRect">
            <a:avLst>
              <a:gd name="adj" fmla="val 12500"/>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临床文本</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5" name="圆角矩形 4"/>
          <p:cNvSpPr>
            <a:spLocks noGrp="1"/>
          </p:cNvSpPr>
          <p:nvPr/>
        </p:nvSpPr>
        <p:spPr>
          <a:xfrm>
            <a:off x="609600" y="2266950"/>
            <a:ext cx="1809750" cy="609600"/>
          </a:xfrm>
          <a:prstGeom prst="roundRect">
            <a:avLst>
              <a:gd name="adj" fmla="val 12500"/>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HPO 表型</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09600" y="3086100"/>
            <a:ext cx="1809750" cy="609600"/>
          </a:xfrm>
          <a:prstGeom prst="roundRect">
            <a:avLst>
              <a:gd name="adj" fmla="val 12500"/>
            </a:avLst>
          </a:prstGeom>
          <a:solidFill>
            <a:srgbClr val="EDF7F2"/>
          </a:solidFill>
          <a:ln w="14288">
            <a:solidFill>
              <a:srgbClr val="A8D6C3"/>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基因检测与 VCF</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3238500" y="2124075"/>
            <a:ext cx="2476500" cy="1181100"/>
          </a:xfrm>
          <a:prstGeom prst="roundRect">
            <a:avLst>
              <a:gd name="adj" fmla="val 6452"/>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875" b="1">
                <a:solidFill>
                  <a:srgbClr val="FFFFFF"/>
                </a:solidFill>
                <a:latin typeface="微软雅黑" panose="020B0503020204020204" charset="-122"/>
                <a:ea typeface="微软雅黑" panose="020B0503020204020204" charset="-122"/>
                <a:cs typeface="微软雅黑" panose="020B0503020204020204" charset="-122"/>
              </a:defRPr>
            </a:pPr>
            <a:r>
              <a:rPr sz="1875" b="1">
                <a:solidFill>
                  <a:srgbClr val="FFFFFF"/>
                </a:solidFill>
                <a:latin typeface="微软雅黑" panose="020B0503020204020204" charset="-122"/>
                <a:ea typeface="微软雅黑" panose="020B0503020204020204" charset="-122"/>
                <a:cs typeface="微软雅黑" panose="020B0503020204020204" charset="-122"/>
              </a:rPr>
              <a:t>DeepRare</a:t>
            </a:r>
            <a:endParaRPr sz="1875"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875" b="1">
                <a:solidFill>
                  <a:srgbClr val="FFFFFF"/>
                </a:solidFill>
                <a:latin typeface="微软雅黑" panose="020B0503020204020204" charset="-122"/>
                <a:ea typeface="微软雅黑" panose="020B0503020204020204" charset="-122"/>
                <a:cs typeface="微软雅黑" panose="020B0503020204020204" charset="-122"/>
              </a:defRPr>
            </a:pPr>
            <a:r>
              <a:rPr sz="1875" b="1">
                <a:solidFill>
                  <a:srgbClr val="FFFFFF"/>
                </a:solidFill>
                <a:latin typeface="微软雅黑" panose="020B0503020204020204" charset="-122"/>
                <a:ea typeface="微软雅黑" panose="020B0503020204020204" charset="-122"/>
                <a:cs typeface="微软雅黑" panose="020B0503020204020204" charset="-122"/>
              </a:rPr>
              <a:t>中央推理与工具调度</a:t>
            </a:r>
            <a:endParaRPr sz="1875" b="1">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31" name="肘形连接符 30"/>
          <p:cNvCxnSpPr>
            <a:stCxn id="4" idx="3"/>
            <a:endCxn id="7" idx="1"/>
          </p:cNvCxnSpPr>
          <p:nvPr/>
        </p:nvCxnSpPr>
        <p:spPr>
          <a:xfrm>
            <a:off x="2419350" y="1752600"/>
            <a:ext cx="819150" cy="962025"/>
          </a:xfrm>
          <a:prstGeom prst="bentConnector3">
            <a:avLst>
              <a:gd name="adj1" fmla="val 50000"/>
            </a:avLst>
          </a:prstGeom>
          <a:ln w="20955">
            <a:solidFill>
              <a:srgbClr val="0E7C86"/>
            </a:solidFill>
            <a:prstDash val="solid"/>
            <a:tailEnd type="triangle" w="sm" len="sm"/>
          </a:ln>
        </p:spPr>
      </p:cxnSp>
      <p:cxnSp>
        <p:nvCxnSpPr>
          <p:cNvPr id="32" name="肘形连接符 31"/>
          <p:cNvCxnSpPr>
            <a:stCxn id="5" idx="3"/>
            <a:endCxn id="7" idx="1"/>
          </p:cNvCxnSpPr>
          <p:nvPr/>
        </p:nvCxnSpPr>
        <p:spPr>
          <a:xfrm>
            <a:off x="2419350" y="2571750"/>
            <a:ext cx="819150" cy="142875"/>
          </a:xfrm>
          <a:prstGeom prst="bentConnector3">
            <a:avLst>
              <a:gd name="adj1" fmla="val 50000"/>
            </a:avLst>
          </a:prstGeom>
          <a:ln w="20955">
            <a:solidFill>
              <a:srgbClr val="0E7C86"/>
            </a:solidFill>
            <a:prstDash val="solid"/>
            <a:tailEnd type="triangle" w="sm" len="sm"/>
          </a:ln>
        </p:spPr>
      </p:cxnSp>
      <p:cxnSp>
        <p:nvCxnSpPr>
          <p:cNvPr id="33" name="肘形连接符 32"/>
          <p:cNvCxnSpPr>
            <a:stCxn id="6" idx="3"/>
            <a:endCxn id="7" idx="1"/>
          </p:cNvCxnSpPr>
          <p:nvPr/>
        </p:nvCxnSpPr>
        <p:spPr>
          <a:xfrm flipV="1">
            <a:off x="2419350" y="2714625"/>
            <a:ext cx="819150" cy="676275"/>
          </a:xfrm>
          <a:prstGeom prst="bentConnector3">
            <a:avLst>
              <a:gd name="adj1" fmla="val 50000"/>
            </a:avLst>
          </a:prstGeom>
          <a:ln w="20955">
            <a:solidFill>
              <a:srgbClr val="0E7C86"/>
            </a:solidFill>
            <a:prstDash val="solid"/>
            <a:tailEnd type="triangle" w="sm" len="sm"/>
          </a:ln>
        </p:spPr>
      </p:cxnSp>
      <p:sp>
        <p:nvSpPr>
          <p:cNvPr id="11" name="圆角矩形 10"/>
          <p:cNvSpPr>
            <a:spLocks noGrp="1"/>
          </p:cNvSpPr>
          <p:nvPr/>
        </p:nvSpPr>
        <p:spPr>
          <a:xfrm>
            <a:off x="3238500" y="3905250"/>
            <a:ext cx="2476500" cy="876300"/>
          </a:xfrm>
          <a:prstGeom prst="roundRect">
            <a:avLst>
              <a:gd name="adj" fmla="val 8696"/>
            </a:avLst>
          </a:prstGeom>
          <a:solidFill>
            <a:srgbClr val="F6F2EB"/>
          </a:solidFill>
          <a:ln w="14288">
            <a:solidFill>
              <a:srgbClr val="D9C9AF"/>
            </a:solidFill>
          </a:ln>
        </p:spPr>
        <p:txBody>
          <a:bodyPr wrap="square" lIns="114300" tIns="76200" rIns="114300" bIns="76200" anchor="ctr">
            <a:normAutofit/>
          </a:bodyPr>
          <a:lstStyle/>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40+ 专业工具与知识来源</a:t>
            </a:r>
            <a:endParaRPr sz="150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表型 · 基因 · 论文 · 病例</a:t>
            </a:r>
            <a:endParaRPr sz="1500"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35" name="直接箭头连接符 34"/>
          <p:cNvCxnSpPr>
            <a:stCxn id="11" idx="0"/>
            <a:endCxn id="7" idx="2"/>
          </p:cNvCxnSpPr>
          <p:nvPr/>
        </p:nvCxnSpPr>
        <p:spPr>
          <a:xfrm flipV="1">
            <a:off x="4476750" y="3305175"/>
            <a:ext cx="0" cy="600075"/>
          </a:xfrm>
          <a:prstGeom prst="straightConnector1">
            <a:avLst/>
          </a:prstGeom>
          <a:ln w="20955">
            <a:solidFill>
              <a:srgbClr val="0E7C86"/>
            </a:solidFill>
            <a:prstDash val="solid"/>
            <a:tailEnd type="triangle" w="sm" len="sm"/>
          </a:ln>
        </p:spPr>
      </p:cxnSp>
      <p:sp>
        <p:nvSpPr>
          <p:cNvPr id="13" name="圆角矩形 12"/>
          <p:cNvSpPr>
            <a:spLocks noGrp="1"/>
          </p:cNvSpPr>
          <p:nvPr/>
        </p:nvSpPr>
        <p:spPr>
          <a:xfrm>
            <a:off x="6715125" y="1371600"/>
            <a:ext cx="2095500" cy="666750"/>
          </a:xfrm>
          <a:prstGeom prst="roundRect">
            <a:avLst>
              <a:gd name="adj" fmla="val 11429"/>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生成初步诊断假设</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715125" y="2438400"/>
            <a:ext cx="2095500" cy="666750"/>
          </a:xfrm>
          <a:prstGeom prst="roundRect">
            <a:avLst>
              <a:gd name="adj" fmla="val 11429"/>
            </a:avLst>
          </a:prstGeom>
          <a:solidFill>
            <a:srgbClr val="FFF2E8"/>
          </a:solidFill>
          <a:ln w="14288">
            <a:solidFill>
              <a:srgbClr val="EFC397"/>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自我反思与重新检索</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6715125" y="3505200"/>
            <a:ext cx="2095500" cy="666750"/>
          </a:xfrm>
          <a:prstGeom prst="roundRect">
            <a:avLst>
              <a:gd name="adj" fmla="val 11429"/>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验证或否定假设</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39" name="直接箭头连接符 38"/>
          <p:cNvCxnSpPr>
            <a:stCxn id="7" idx="3"/>
            <a:endCxn id="13" idx="1"/>
          </p:cNvCxnSpPr>
          <p:nvPr/>
        </p:nvCxnSpPr>
        <p:spPr>
          <a:xfrm flipV="1">
            <a:off x="5715000" y="1704975"/>
            <a:ext cx="1000125" cy="1009650"/>
          </a:xfrm>
          <a:prstGeom prst="straightConnector1">
            <a:avLst/>
          </a:prstGeom>
          <a:ln w="20955">
            <a:solidFill>
              <a:srgbClr val="0E7C86"/>
            </a:solidFill>
            <a:prstDash val="solid"/>
            <a:tailEnd type="triangle" w="sm" len="sm"/>
          </a:ln>
        </p:spPr>
      </p:cxnSp>
      <p:cxnSp>
        <p:nvCxnSpPr>
          <p:cNvPr id="40" name="直接箭头连接符 39"/>
          <p:cNvCxnSpPr>
            <a:stCxn id="13" idx="2"/>
            <a:endCxn id="14" idx="0"/>
          </p:cNvCxnSpPr>
          <p:nvPr/>
        </p:nvCxnSpPr>
        <p:spPr>
          <a:xfrm>
            <a:off x="7762875" y="2038350"/>
            <a:ext cx="0" cy="400050"/>
          </a:xfrm>
          <a:prstGeom prst="straightConnector1">
            <a:avLst/>
          </a:prstGeom>
          <a:ln w="20955">
            <a:solidFill>
              <a:srgbClr val="0E7C86"/>
            </a:solidFill>
            <a:prstDash val="solid"/>
            <a:tailEnd type="triangle" w="sm" len="sm"/>
          </a:ln>
        </p:spPr>
      </p:cxnSp>
      <p:cxnSp>
        <p:nvCxnSpPr>
          <p:cNvPr id="41" name="直接箭头连接符 40"/>
          <p:cNvCxnSpPr>
            <a:stCxn id="14" idx="2"/>
            <a:endCxn id="15" idx="0"/>
          </p:cNvCxnSpPr>
          <p:nvPr/>
        </p:nvCxnSpPr>
        <p:spPr>
          <a:xfrm>
            <a:off x="7762875" y="3105150"/>
            <a:ext cx="0" cy="400050"/>
          </a:xfrm>
          <a:prstGeom prst="straightConnector1">
            <a:avLst/>
          </a:prstGeom>
          <a:ln w="20955">
            <a:solidFill>
              <a:srgbClr val="0E7C86"/>
            </a:solidFill>
            <a:prstDash val="solid"/>
            <a:tailEnd type="triangle" w="sm" len="sm"/>
          </a:ln>
        </p:spPr>
      </p:cxnSp>
      <p:cxnSp>
        <p:nvCxnSpPr>
          <p:cNvPr id="42" name="肘形连接符 41"/>
          <p:cNvCxnSpPr>
            <a:stCxn id="11" idx="3"/>
            <a:endCxn id="14" idx="1"/>
          </p:cNvCxnSpPr>
          <p:nvPr/>
        </p:nvCxnSpPr>
        <p:spPr>
          <a:xfrm flipV="1">
            <a:off x="5715000" y="2771775"/>
            <a:ext cx="1000125" cy="1571625"/>
          </a:xfrm>
          <a:prstGeom prst="bentConnector3">
            <a:avLst>
              <a:gd name="adj1" fmla="val 50032"/>
            </a:avLst>
          </a:prstGeom>
          <a:ln w="20955">
            <a:solidFill>
              <a:srgbClr val="E28A3B"/>
            </a:solidFill>
            <a:prstDash val="solid"/>
            <a:tailEnd type="triangle" w="sm" len="sm"/>
          </a:ln>
        </p:spPr>
      </p:cxnSp>
      <p:sp>
        <p:nvSpPr>
          <p:cNvPr id="20" name="圆角矩形 19"/>
          <p:cNvSpPr>
            <a:spLocks noGrp="1"/>
          </p:cNvSpPr>
          <p:nvPr/>
        </p:nvSpPr>
        <p:spPr>
          <a:xfrm>
            <a:off x="9620250" y="2333625"/>
            <a:ext cx="2000250" cy="1104900"/>
          </a:xfrm>
          <a:prstGeom prst="roundRect">
            <a:avLst>
              <a:gd name="adj" fmla="val 6897"/>
            </a:avLst>
          </a:prstGeom>
          <a:solidFill>
            <a:srgbClr val="0E7C86"/>
          </a:solidFill>
          <a:ln w="14288">
            <a:solidFill>
              <a:srgbClr val="0E7C86"/>
            </a:solidFill>
          </a:ln>
        </p:spPr>
        <p:txBody>
          <a:bodyPr wrap="square" lIns="114300" tIns="76200" rIns="114300" bIns="76200" anchor="ctr">
            <a:normAutofit/>
          </a:bodyPr>
          <a:lstStyle/>
          <a:p>
            <a:pPr algn="ctr">
              <a:lnSpc>
                <a:spcPct val="105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latin typeface="微软雅黑" panose="020B0503020204020204" charset="-122"/>
                <a:ea typeface="微软雅黑" panose="020B0503020204020204" charset="-122"/>
                <a:cs typeface="微软雅黑" panose="020B0503020204020204" charset="-122"/>
              </a:rPr>
              <a:t>候选疾病排名</a:t>
            </a:r>
            <a:endParaRPr sz="1575"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latin typeface="微软雅黑" panose="020B0503020204020204" charset="-122"/>
                <a:ea typeface="微软雅黑" panose="020B0503020204020204" charset="-122"/>
                <a:cs typeface="微软雅黑" panose="020B0503020204020204" charset="-122"/>
              </a:rPr>
              <a:t>推理过程与证据链</a:t>
            </a:r>
            <a:endParaRPr sz="1575" b="1">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44" name="直接箭头连接符 43"/>
          <p:cNvCxnSpPr>
            <a:stCxn id="15" idx="3"/>
            <a:endCxn id="20" idx="1"/>
          </p:cNvCxnSpPr>
          <p:nvPr/>
        </p:nvCxnSpPr>
        <p:spPr>
          <a:xfrm flipV="1">
            <a:off x="8810625" y="2886075"/>
            <a:ext cx="809625" cy="952500"/>
          </a:xfrm>
          <a:prstGeom prst="straightConnector1">
            <a:avLst/>
          </a:prstGeom>
          <a:ln w="20955">
            <a:solidFill>
              <a:srgbClr val="0E7C86"/>
            </a:solidFill>
            <a:prstDash val="solid"/>
            <a:tailEnd type="triangle" w="sm" len="sm"/>
          </a:ln>
        </p:spPr>
      </p:cxnSp>
      <p:sp>
        <p:nvSpPr>
          <p:cNvPr id="22" name="矩形 21"/>
          <p:cNvSpPr>
            <a:spLocks noGrp="1"/>
          </p:cNvSpPr>
          <p:nvPr/>
        </p:nvSpPr>
        <p:spPr>
          <a:xfrm>
            <a:off x="3238500" y="5476875"/>
            <a:ext cx="5715000" cy="323850"/>
          </a:xfrm>
          <a:prstGeom prst="rect">
            <a:avLst/>
          </a:prstGeom>
          <a:noFill/>
          <a:ln w="0">
            <a:noFill/>
          </a:ln>
        </p:spPr>
        <p:txBody>
          <a:bodyPr wrap="square" lIns="0" tIns="0" rIns="0" bIns="0" anchor="t">
            <a:normAutofit/>
          </a:bodyPr>
          <a:lstStyle/>
          <a:p>
            <a:pPr algn="ctr">
              <a:lnSpc>
                <a:spcPct val="108000"/>
              </a:lnSpc>
              <a:buNone/>
              <a:defRPr sz="1725" b="1">
                <a:solidFill>
                  <a:srgbClr val="0E7C86"/>
                </a:solidFill>
                <a:latin typeface="微软雅黑" panose="020B0503020204020204" charset="-122"/>
                <a:ea typeface="微软雅黑" panose="020B0503020204020204" charset="-122"/>
                <a:cs typeface="微软雅黑" panose="020B0503020204020204" charset="-122"/>
              </a:defRPr>
            </a:pPr>
            <a:r>
              <a:rPr sz="1725" b="1">
                <a:solidFill>
                  <a:srgbClr val="0E7C86"/>
                </a:solidFill>
                <a:latin typeface="微软雅黑" panose="020B0503020204020204" charset="-122"/>
                <a:ea typeface="微软雅黑" panose="020B0503020204020204" charset="-122"/>
                <a:cs typeface="微软雅黑" panose="020B0503020204020204" charset="-122"/>
              </a:rPr>
              <a:t>模型、医学工具和外部证据共同参与诊断</a:t>
            </a:r>
            <a:endParaRPr sz="1725"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609600" y="6477000"/>
            <a:ext cx="4572000" cy="190500"/>
          </a:xfrm>
          <a:prstGeom prst="rect">
            <a:avLst/>
          </a:prstGeom>
          <a:noFill/>
          <a:ln w="0">
            <a:noFill/>
          </a:ln>
        </p:spPr>
        <p:txBody>
          <a:bodyPr wrap="square" lIns="0" tIns="0" rIns="0" bIns="0" anchor="t">
            <a:normAutofit/>
          </a:bodyPr>
          <a:lstStyle/>
          <a:p>
            <a:pPr algn="l">
              <a:lnSpc>
                <a:spcPct val="108000"/>
              </a:lnSpc>
              <a:buNone/>
              <a:defRPr sz="825" b="0">
                <a:solidFill>
                  <a:srgbClr val="8191A1"/>
                </a:solidFill>
                <a:latin typeface="微软雅黑" panose="020B0503020204020204" charset="-122"/>
                <a:ea typeface="微软雅黑" panose="020B0503020204020204" charset="-122"/>
                <a:cs typeface="微软雅黑" panose="020B0503020204020204" charset="-122"/>
              </a:defRPr>
            </a:pPr>
            <a:r>
              <a:rPr sz="825" b="0">
                <a:solidFill>
                  <a:srgbClr val="8191A1"/>
                </a:solidFill>
                <a:latin typeface="微软雅黑" panose="020B0503020204020204" charset="-122"/>
                <a:ea typeface="微软雅黑" panose="020B0503020204020204" charset="-122"/>
                <a:cs typeface="微软雅黑" panose="020B0503020204020204" charset="-122"/>
              </a:rPr>
              <a:t>多智能体医疗论文分享</a:t>
            </a:r>
            <a:endParaRPr sz="825" b="0">
              <a:solidFill>
                <a:srgbClr val="8191A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 name="矩形 23"/>
          <p:cNvSpPr>
            <a:spLocks noGrp="1"/>
          </p:cNvSpPr>
          <p:nvPr/>
        </p:nvSpPr>
        <p:spPr>
          <a:xfrm>
            <a:off x="609600" y="342900"/>
            <a:ext cx="10191750" cy="514350"/>
          </a:xfrm>
          <a:prstGeom prst="rect">
            <a:avLst/>
          </a:prstGeom>
          <a:noFill/>
          <a:ln w="0">
            <a:noFill/>
          </a:ln>
        </p:spPr>
        <p:txBody>
          <a:bodyPr wrap="square" lIns="0" tIns="0" rIns="0" bIns="0" anchor="t">
            <a:normAutofit/>
          </a:bodyPr>
          <a:lstStyle/>
          <a:p>
            <a:pPr algn="l">
              <a:lnSpc>
                <a:spcPct val="108000"/>
              </a:lnSpc>
              <a:buNone/>
              <a:defRPr sz="2550" b="1">
                <a:solidFill>
                  <a:srgbClr val="102A43"/>
                </a:solidFill>
                <a:latin typeface="微软雅黑" panose="020B0503020204020204" charset="-122"/>
                <a:ea typeface="微软雅黑" panose="020B0503020204020204" charset="-122"/>
                <a:cs typeface="微软雅黑" panose="020B0503020204020204" charset="-122"/>
              </a:defRPr>
            </a:pPr>
            <a:r>
              <a:rPr sz="2550" b="1">
                <a:solidFill>
                  <a:srgbClr val="102A43"/>
                </a:solidFill>
                <a:latin typeface="微软雅黑" panose="020B0503020204020204" charset="-122"/>
                <a:ea typeface="微软雅黑" panose="020B0503020204020204" charset="-122"/>
                <a:cs typeface="微软雅黑" panose="020B0503020204020204" charset="-122"/>
              </a:rPr>
              <a:t>MedLA：用逻辑树定位推理错误</a:t>
            </a:r>
            <a:endParaRPr sz="255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1049000" y="400050"/>
            <a:ext cx="533400" cy="304800"/>
          </a:xfrm>
          <a:prstGeom prst="rect">
            <a:avLst/>
          </a:prstGeom>
          <a:noFill/>
          <a:ln w="0">
            <a:noFill/>
          </a:ln>
        </p:spPr>
        <p:txBody>
          <a:bodyPr wrap="square" lIns="0" tIns="0" rIns="0" bIns="0" anchor="t">
            <a:normAutofit/>
          </a:bodyPr>
          <a:lstStyle/>
          <a:p>
            <a:pPr algn="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08</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609600" y="990600"/>
            <a:ext cx="10972800" cy="0"/>
          </a:xfrm>
          <a:prstGeom prst="line">
            <a:avLst/>
          </a:prstGeom>
          <a:noFill/>
          <a:ln w="9525">
            <a:solidFill>
              <a:srgbClr val="C8D6E2"/>
            </a:solidFill>
          </a:ln>
        </p:spPr>
      </p:sp>
      <p:sp>
        <p:nvSpPr>
          <p:cNvPr id="4" name="矩形 3"/>
          <p:cNvSpPr>
            <a:spLocks noGrp="1"/>
          </p:cNvSpPr>
          <p:nvPr/>
        </p:nvSpPr>
        <p:spPr>
          <a:xfrm>
            <a:off x="609600" y="1257300"/>
            <a:ext cx="2857500" cy="342900"/>
          </a:xfrm>
          <a:prstGeom prst="rect">
            <a:avLst/>
          </a:prstGeom>
          <a:noFill/>
          <a:ln w="0">
            <a:noFill/>
          </a:ln>
        </p:spPr>
        <p:txBody>
          <a:bodyPr wrap="square" lIns="0" tIns="0" rIns="0" bIns="0" anchor="t">
            <a:normAutofit/>
          </a:bodyPr>
          <a:lstStyle/>
          <a:p>
            <a:pPr algn="l">
              <a:lnSpc>
                <a:spcPct val="108000"/>
              </a:lnSpc>
              <a:buNone/>
              <a:defRPr sz="1800" b="1">
                <a:solidFill>
                  <a:srgbClr val="0E7C86"/>
                </a:solidFill>
                <a:latin typeface="微软雅黑" panose="020B0503020204020204" charset="-122"/>
                <a:ea typeface="微软雅黑" panose="020B0503020204020204" charset="-122"/>
                <a:cs typeface="微软雅黑" panose="020B0503020204020204" charset="-122"/>
              </a:defRPr>
            </a:pPr>
            <a:r>
              <a:rPr sz="1800" b="1">
                <a:solidFill>
                  <a:srgbClr val="0E7C86"/>
                </a:solidFill>
                <a:latin typeface="微软雅黑" panose="020B0503020204020204" charset="-122"/>
                <a:ea typeface="微软雅黑" panose="020B0503020204020204" charset="-122"/>
                <a:cs typeface="微软雅黑" panose="020B0503020204020204" charset="-122"/>
              </a:rPr>
              <a:t>最小逻辑单元</a:t>
            </a:r>
            <a:endParaRPr sz="18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5" name="圆角矩形 4"/>
          <p:cNvSpPr>
            <a:spLocks noGrp="1"/>
          </p:cNvSpPr>
          <p:nvPr/>
        </p:nvSpPr>
        <p:spPr>
          <a:xfrm>
            <a:off x="119380" y="1772920"/>
            <a:ext cx="2857500" cy="876300"/>
          </a:xfrm>
          <a:prstGeom prst="roundRect">
            <a:avLst>
              <a:gd name="adj" fmla="val 8696"/>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大前提</a:t>
            </a:r>
            <a:endParaRPr sz="1425"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细菌感染常伴随白细胞升高</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191135" y="4808855"/>
            <a:ext cx="2857500" cy="876300"/>
          </a:xfrm>
          <a:prstGeom prst="roundRect">
            <a:avLst>
              <a:gd name="adj" fmla="val 8696"/>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小前提</a:t>
            </a:r>
            <a:endParaRPr sz="1425"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患者白细胞明显升高</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775460" y="3228975"/>
            <a:ext cx="2857500" cy="876300"/>
          </a:xfrm>
          <a:prstGeom prst="roundRect">
            <a:avLst>
              <a:gd name="adj" fmla="val 8696"/>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结论</a:t>
            </a:r>
            <a:endParaRPr sz="150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患者可能存在细菌感染</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31" name="肘形连接符 30"/>
          <p:cNvCxnSpPr>
            <a:stCxn id="5" idx="3"/>
            <a:endCxn id="7" idx="1"/>
          </p:cNvCxnSpPr>
          <p:nvPr/>
        </p:nvCxnSpPr>
        <p:spPr>
          <a:xfrm flipH="1">
            <a:off x="1775460" y="2211070"/>
            <a:ext cx="1201420" cy="1456055"/>
          </a:xfrm>
          <a:prstGeom prst="bentConnector5">
            <a:avLst>
              <a:gd name="adj1" fmla="val -19820"/>
              <a:gd name="adj2" fmla="val 50022"/>
              <a:gd name="adj3" fmla="val 119820"/>
            </a:avLst>
          </a:prstGeom>
          <a:ln w="20955">
            <a:solidFill>
              <a:srgbClr val="0E7C86"/>
            </a:solidFill>
            <a:prstDash val="solid"/>
            <a:tailEnd type="triangle" w="sm" len="sm"/>
          </a:ln>
        </p:spPr>
      </p:cxnSp>
      <p:cxnSp>
        <p:nvCxnSpPr>
          <p:cNvPr id="32" name="肘形连接符 31"/>
          <p:cNvCxnSpPr>
            <a:stCxn id="6" idx="3"/>
            <a:endCxn id="7" idx="1"/>
          </p:cNvCxnSpPr>
          <p:nvPr/>
        </p:nvCxnSpPr>
        <p:spPr>
          <a:xfrm flipH="1" flipV="1">
            <a:off x="1775460" y="3667125"/>
            <a:ext cx="1273175" cy="1579880"/>
          </a:xfrm>
          <a:prstGeom prst="bentConnector5">
            <a:avLst>
              <a:gd name="adj1" fmla="val -18703"/>
              <a:gd name="adj2" fmla="val 50000"/>
              <a:gd name="adj3" fmla="val 118703"/>
            </a:avLst>
          </a:prstGeom>
          <a:ln w="20955">
            <a:solidFill>
              <a:srgbClr val="0E7C86"/>
            </a:solidFill>
            <a:prstDash val="solid"/>
            <a:tailEnd type="triangle" w="sm" len="sm"/>
          </a:ln>
        </p:spPr>
      </p:cxnSp>
      <p:sp>
        <p:nvSpPr>
          <p:cNvPr id="10" name="矩形 9"/>
          <p:cNvSpPr>
            <a:spLocks noGrp="1"/>
          </p:cNvSpPr>
          <p:nvPr/>
        </p:nvSpPr>
        <p:spPr>
          <a:xfrm>
            <a:off x="4705350" y="1257300"/>
            <a:ext cx="3143250" cy="342900"/>
          </a:xfrm>
          <a:prstGeom prst="rect">
            <a:avLst/>
          </a:prstGeom>
          <a:noFill/>
          <a:ln w="0">
            <a:noFill/>
          </a:ln>
        </p:spPr>
        <p:txBody>
          <a:bodyPr wrap="square" lIns="0" tIns="0" rIns="0" bIns="0" anchor="t">
            <a:normAutofit/>
          </a:bodyPr>
          <a:lstStyle/>
          <a:p>
            <a:pPr algn="l">
              <a:lnSpc>
                <a:spcPct val="108000"/>
              </a:lnSpc>
              <a:buNone/>
              <a:defRPr sz="1800" b="1">
                <a:solidFill>
                  <a:srgbClr val="0E7C86"/>
                </a:solidFill>
                <a:latin typeface="微软雅黑" panose="020B0503020204020204" charset="-122"/>
                <a:ea typeface="微软雅黑" panose="020B0503020204020204" charset="-122"/>
                <a:cs typeface="微软雅黑" panose="020B0503020204020204" charset="-122"/>
              </a:defRPr>
            </a:pPr>
            <a:r>
              <a:rPr sz="1800" b="1">
                <a:solidFill>
                  <a:srgbClr val="0E7C86"/>
                </a:solidFill>
                <a:latin typeface="微软雅黑" panose="020B0503020204020204" charset="-122"/>
                <a:ea typeface="微软雅黑" panose="020B0503020204020204" charset="-122"/>
                <a:cs typeface="微软雅黑" panose="020B0503020204020204" charset="-122"/>
              </a:rPr>
              <a:t>多个智能体的逻辑树</a:t>
            </a:r>
            <a:endParaRPr sz="18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832215" y="1866900"/>
            <a:ext cx="1619250" cy="685800"/>
          </a:xfrm>
          <a:prstGeom prst="roundRect">
            <a:avLst>
              <a:gd name="adj" fmla="val 11111"/>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latin typeface="微软雅黑" panose="020B0503020204020204" charset="-122"/>
                <a:ea typeface="微软雅黑" panose="020B0503020204020204" charset="-122"/>
                <a:cs typeface="微软雅黑" panose="020B0503020204020204" charset="-122"/>
              </a:rPr>
              <a:t>最终判断</a:t>
            </a:r>
            <a:endParaRPr sz="15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4224020" y="1866900"/>
            <a:ext cx="1619250" cy="647700"/>
          </a:xfrm>
          <a:prstGeom prst="roundRect">
            <a:avLst>
              <a:gd name="adj" fmla="val 11765"/>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350" b="1">
                <a:solidFill>
                  <a:srgbClr val="1C2733"/>
                </a:solidFill>
                <a:latin typeface="微软雅黑" panose="020B0503020204020204" charset="-122"/>
                <a:ea typeface="微软雅黑" panose="020B0503020204020204" charset="-122"/>
                <a:cs typeface="微软雅黑" panose="020B0503020204020204" charset="-122"/>
              </a:defRPr>
            </a:pPr>
            <a:r>
              <a:rPr sz="1350" b="1">
                <a:solidFill>
                  <a:srgbClr val="1C2733"/>
                </a:solidFill>
                <a:latin typeface="微软雅黑" panose="020B0503020204020204" charset="-122"/>
                <a:ea typeface="微软雅黑" panose="020B0503020204020204" charset="-122"/>
                <a:cs typeface="微软雅黑" panose="020B0503020204020204" charset="-122"/>
              </a:rPr>
              <a:t>医学规律</a:t>
            </a:r>
            <a:endParaRPr sz="13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4762500" y="3000375"/>
            <a:ext cx="1619250" cy="647700"/>
          </a:xfrm>
          <a:prstGeom prst="roundRect">
            <a:avLst>
              <a:gd name="adj" fmla="val 11765"/>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350" b="1">
                <a:solidFill>
                  <a:srgbClr val="1C2733"/>
                </a:solidFill>
                <a:latin typeface="微软雅黑" panose="020B0503020204020204" charset="-122"/>
                <a:ea typeface="微软雅黑" panose="020B0503020204020204" charset="-122"/>
                <a:cs typeface="微软雅黑" panose="020B0503020204020204" charset="-122"/>
              </a:defRPr>
            </a:pPr>
            <a:r>
              <a:rPr sz="1350" b="1">
                <a:solidFill>
                  <a:srgbClr val="1C2733"/>
                </a:solidFill>
                <a:latin typeface="微软雅黑" panose="020B0503020204020204" charset="-122"/>
                <a:ea typeface="微软雅黑" panose="020B0503020204020204" charset="-122"/>
                <a:cs typeface="微软雅黑" panose="020B0503020204020204" charset="-122"/>
              </a:rPr>
              <a:t>患者事实</a:t>
            </a:r>
            <a:endParaRPr sz="13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096000" y="1866900"/>
            <a:ext cx="1619250" cy="647700"/>
          </a:xfrm>
          <a:prstGeom prst="roundRect">
            <a:avLst>
              <a:gd name="adj" fmla="val 11765"/>
            </a:avLst>
          </a:prstGeom>
          <a:solidFill>
            <a:srgbClr val="FFF2E8"/>
          </a:solidFill>
          <a:ln w="14288">
            <a:solidFill>
              <a:srgbClr val="EFC397"/>
            </a:solidFill>
          </a:ln>
        </p:spPr>
        <p:txBody>
          <a:bodyPr wrap="square" lIns="114300" tIns="76200" rIns="114300" bIns="76200" anchor="ctr">
            <a:normAutofit/>
          </a:bodyPr>
          <a:lstStyle/>
          <a:p>
            <a:pPr algn="ctr">
              <a:lnSpc>
                <a:spcPct val="105000"/>
              </a:lnSpc>
              <a:buNone/>
              <a:defRPr sz="1350" b="1">
                <a:solidFill>
                  <a:srgbClr val="1C2733"/>
                </a:solidFill>
                <a:latin typeface="微软雅黑" panose="020B0503020204020204" charset="-122"/>
                <a:ea typeface="微软雅黑" panose="020B0503020204020204" charset="-122"/>
                <a:cs typeface="微软雅黑" panose="020B0503020204020204" charset="-122"/>
              </a:defRPr>
            </a:pPr>
            <a:r>
              <a:rPr sz="1350" b="1">
                <a:solidFill>
                  <a:srgbClr val="1C2733"/>
                </a:solidFill>
                <a:latin typeface="微软雅黑" panose="020B0503020204020204" charset="-122"/>
                <a:ea typeface="微软雅黑" panose="020B0503020204020204" charset="-122"/>
                <a:cs typeface="微软雅黑" panose="020B0503020204020204" charset="-122"/>
              </a:rPr>
              <a:t>中间推断</a:t>
            </a:r>
            <a:endParaRPr sz="1350"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6953250" y="3714750"/>
            <a:ext cx="1619250" cy="647700"/>
          </a:xfrm>
          <a:prstGeom prst="roundRect">
            <a:avLst>
              <a:gd name="adj" fmla="val 11765"/>
            </a:avLst>
          </a:prstGeom>
          <a:solidFill>
            <a:srgbClr val="FBECEC"/>
          </a:solidFill>
          <a:ln w="14288">
            <a:solidFill>
              <a:srgbClr val="E3A9A9"/>
            </a:solidFill>
          </a:ln>
        </p:spPr>
        <p:txBody>
          <a:bodyPr wrap="square" lIns="114300" tIns="76200" rIns="114300" bIns="76200" anchor="ctr">
            <a:normAutofit/>
          </a:bodyPr>
          <a:lstStyle/>
          <a:p>
            <a:pPr algn="ctr">
              <a:lnSpc>
                <a:spcPct val="105000"/>
              </a:lnSpc>
              <a:buNone/>
              <a:defRPr sz="1350" b="1">
                <a:solidFill>
                  <a:srgbClr val="C95757"/>
                </a:solidFill>
                <a:latin typeface="微软雅黑" panose="020B0503020204020204" charset="-122"/>
                <a:ea typeface="微软雅黑" panose="020B0503020204020204" charset="-122"/>
                <a:cs typeface="微软雅黑" panose="020B0503020204020204" charset="-122"/>
              </a:defRPr>
            </a:pPr>
            <a:r>
              <a:rPr sz="1350" b="1">
                <a:solidFill>
                  <a:srgbClr val="C95757"/>
                </a:solidFill>
                <a:latin typeface="微软雅黑" panose="020B0503020204020204" charset="-122"/>
                <a:ea typeface="微软雅黑" panose="020B0503020204020204" charset="-122"/>
                <a:cs typeface="微软雅黑" panose="020B0503020204020204" charset="-122"/>
              </a:rPr>
              <a:t>冲突节点</a:t>
            </a:r>
            <a:endParaRPr sz="1350" b="1">
              <a:solidFill>
                <a:srgbClr val="C95757"/>
              </a:solidFill>
              <a:latin typeface="微软雅黑" panose="020B0503020204020204" charset="-122"/>
              <a:ea typeface="微软雅黑" panose="020B0503020204020204" charset="-122"/>
              <a:cs typeface="微软雅黑" panose="020B0503020204020204" charset="-122"/>
            </a:endParaRPr>
          </a:p>
        </p:txBody>
      </p:sp>
      <p:cxnSp>
        <p:nvCxnSpPr>
          <p:cNvPr id="39" name="直接箭头连接符 38"/>
          <p:cNvCxnSpPr>
            <a:stCxn id="12" idx="3"/>
            <a:endCxn id="14" idx="1"/>
          </p:cNvCxnSpPr>
          <p:nvPr/>
        </p:nvCxnSpPr>
        <p:spPr>
          <a:xfrm>
            <a:off x="5843270" y="2190750"/>
            <a:ext cx="252730" cy="0"/>
          </a:xfrm>
          <a:prstGeom prst="straightConnector1">
            <a:avLst/>
          </a:prstGeom>
          <a:ln w="20955">
            <a:solidFill>
              <a:srgbClr val="0E7C86"/>
            </a:solidFill>
            <a:prstDash val="solid"/>
            <a:tailEnd type="triangle" w="sm" len="sm"/>
          </a:ln>
        </p:spPr>
      </p:cxnSp>
      <p:cxnSp>
        <p:nvCxnSpPr>
          <p:cNvPr id="40" name="肘形连接符 39"/>
          <p:cNvCxnSpPr>
            <a:stCxn id="13" idx="3"/>
            <a:endCxn id="14" idx="1"/>
          </p:cNvCxnSpPr>
          <p:nvPr/>
        </p:nvCxnSpPr>
        <p:spPr>
          <a:xfrm flipH="1" flipV="1">
            <a:off x="6096000" y="2190750"/>
            <a:ext cx="285750" cy="1133475"/>
          </a:xfrm>
          <a:prstGeom prst="bentConnector5">
            <a:avLst>
              <a:gd name="adj1" fmla="val -83333"/>
              <a:gd name="adj2" fmla="val 49972"/>
              <a:gd name="adj3" fmla="val 183333"/>
            </a:avLst>
          </a:prstGeom>
          <a:ln w="20955">
            <a:solidFill>
              <a:srgbClr val="0E7C86"/>
            </a:solidFill>
            <a:prstDash val="solid"/>
            <a:tailEnd type="triangle" w="sm" len="sm"/>
          </a:ln>
        </p:spPr>
      </p:cxnSp>
      <p:cxnSp>
        <p:nvCxnSpPr>
          <p:cNvPr id="41" name="直接箭头连接符 40"/>
          <p:cNvCxnSpPr>
            <a:stCxn id="14" idx="3"/>
            <a:endCxn id="11" idx="1"/>
          </p:cNvCxnSpPr>
          <p:nvPr/>
        </p:nvCxnSpPr>
        <p:spPr>
          <a:xfrm>
            <a:off x="7715250" y="2190750"/>
            <a:ext cx="1116965" cy="19050"/>
          </a:xfrm>
          <a:prstGeom prst="straightConnector1">
            <a:avLst/>
          </a:prstGeom>
          <a:ln w="20955">
            <a:solidFill>
              <a:srgbClr val="0E7C86"/>
            </a:solidFill>
            <a:prstDash val="solid"/>
            <a:tailEnd type="triangle" w="sm" len="sm"/>
          </a:ln>
        </p:spPr>
      </p:cxnSp>
      <p:sp>
        <p:nvSpPr>
          <p:cNvPr id="19" name="圆角矩形 18"/>
          <p:cNvSpPr>
            <a:spLocks noGrp="1"/>
          </p:cNvSpPr>
          <p:nvPr/>
        </p:nvSpPr>
        <p:spPr>
          <a:xfrm>
            <a:off x="9239250" y="3714750"/>
            <a:ext cx="2190750" cy="990600"/>
          </a:xfrm>
          <a:prstGeom prst="roundRect">
            <a:avLst>
              <a:gd name="adj" fmla="val 7692"/>
            </a:avLst>
          </a:prstGeom>
          <a:solidFill>
            <a:srgbClr val="EDF7F2"/>
          </a:solidFill>
          <a:ln w="14288">
            <a:solidFill>
              <a:srgbClr val="A8D6C3"/>
            </a:solidFill>
          </a:ln>
        </p:spPr>
        <p:txBody>
          <a:bodyPr wrap="square" lIns="114300" tIns="76200" rIns="114300" bIns="76200" anchor="ctr">
            <a:normAutofit/>
          </a:bodyPr>
          <a:lstStyle/>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可信度评估与多轮讨论</a:t>
            </a:r>
            <a:endParaRPr sz="1425"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425" b="1">
                <a:solidFill>
                  <a:srgbClr val="1C2733"/>
                </a:solidFill>
                <a:latin typeface="微软雅黑" panose="020B0503020204020204" charset="-122"/>
                <a:ea typeface="微软雅黑" panose="020B0503020204020204" charset="-122"/>
                <a:cs typeface="微软雅黑" panose="020B0503020204020204" charset="-122"/>
              </a:defRPr>
            </a:pPr>
            <a:r>
              <a:rPr sz="1425" b="1">
                <a:solidFill>
                  <a:srgbClr val="1C2733"/>
                </a:solidFill>
                <a:latin typeface="微软雅黑" panose="020B0503020204020204" charset="-122"/>
                <a:ea typeface="微软雅黑" panose="020B0503020204020204" charset="-122"/>
                <a:cs typeface="微软雅黑" panose="020B0503020204020204" charset="-122"/>
              </a:rPr>
              <a:t>修正前提、遗漏和冲突</a:t>
            </a:r>
            <a:endParaRPr sz="1425"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43" name="直接箭头连接符 42"/>
          <p:cNvCxnSpPr>
            <a:stCxn id="15" idx="3"/>
            <a:endCxn id="19" idx="1"/>
          </p:cNvCxnSpPr>
          <p:nvPr/>
        </p:nvCxnSpPr>
        <p:spPr>
          <a:xfrm>
            <a:off x="8572500" y="4038600"/>
            <a:ext cx="666750" cy="171450"/>
          </a:xfrm>
          <a:prstGeom prst="straightConnector1">
            <a:avLst/>
          </a:prstGeom>
          <a:ln w="20955">
            <a:solidFill>
              <a:srgbClr val="C95757"/>
            </a:solidFill>
            <a:prstDash val="solid"/>
            <a:tailEnd type="triangle" w="sm" len="sm"/>
          </a:ln>
        </p:spPr>
      </p:cxnSp>
      <p:cxnSp>
        <p:nvCxnSpPr>
          <p:cNvPr id="44" name="肘形连接符 43"/>
          <p:cNvCxnSpPr>
            <a:stCxn id="19" idx="0"/>
            <a:endCxn id="11" idx="3"/>
          </p:cNvCxnSpPr>
          <p:nvPr/>
        </p:nvCxnSpPr>
        <p:spPr>
          <a:xfrm rot="16200000">
            <a:off x="9640570" y="2903855"/>
            <a:ext cx="1504950" cy="116840"/>
          </a:xfrm>
          <a:prstGeom prst="bentConnector4">
            <a:avLst>
              <a:gd name="adj1" fmla="val 38608"/>
              <a:gd name="adj2" fmla="val 1141304"/>
            </a:avLst>
          </a:prstGeom>
          <a:ln w="20955">
            <a:solidFill>
              <a:srgbClr val="2B8A66"/>
            </a:solidFill>
            <a:prstDash val="solid"/>
            <a:tailEnd type="triangle" w="sm" len="sm"/>
          </a:ln>
        </p:spPr>
      </p:cxnSp>
      <p:sp>
        <p:nvSpPr>
          <p:cNvPr id="22" name="矩形 21"/>
          <p:cNvSpPr>
            <a:spLocks noGrp="1"/>
          </p:cNvSpPr>
          <p:nvPr/>
        </p:nvSpPr>
        <p:spPr>
          <a:xfrm>
            <a:off x="5048250" y="5524500"/>
            <a:ext cx="5810250" cy="361950"/>
          </a:xfrm>
          <a:prstGeom prst="rect">
            <a:avLst/>
          </a:prstGeom>
          <a:noFill/>
          <a:ln w="0">
            <a:noFill/>
          </a:ln>
        </p:spPr>
        <p:txBody>
          <a:bodyPr wrap="square" lIns="0" tIns="0" rIns="0" bIns="0" anchor="t">
            <a:normAutofit/>
          </a:bodyPr>
          <a:lstStyle/>
          <a:p>
            <a:pPr algn="ctr">
              <a:lnSpc>
                <a:spcPct val="108000"/>
              </a:lnSpc>
              <a:buNone/>
              <a:defRPr sz="1800" b="1">
                <a:solidFill>
                  <a:srgbClr val="0E7C86"/>
                </a:solidFill>
                <a:latin typeface="微软雅黑" panose="020B0503020204020204" charset="-122"/>
                <a:ea typeface="微软雅黑" panose="020B0503020204020204" charset="-122"/>
                <a:cs typeface="微软雅黑" panose="020B0503020204020204" charset="-122"/>
              </a:defRPr>
            </a:pPr>
            <a:r>
              <a:rPr sz="1800" b="1">
                <a:solidFill>
                  <a:srgbClr val="0E7C86"/>
                </a:solidFill>
                <a:latin typeface="微软雅黑" panose="020B0503020204020204" charset="-122"/>
                <a:ea typeface="微软雅黑" panose="020B0503020204020204" charset="-122"/>
                <a:cs typeface="微软雅黑" panose="020B0503020204020204" charset="-122"/>
              </a:rPr>
              <a:t>比较推理步骤，而不只比较最终答案</a:t>
            </a:r>
            <a:endParaRPr sz="18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609600" y="6477000"/>
            <a:ext cx="4572000" cy="190500"/>
          </a:xfrm>
          <a:prstGeom prst="rect">
            <a:avLst/>
          </a:prstGeom>
          <a:noFill/>
          <a:ln w="0">
            <a:noFill/>
          </a:ln>
        </p:spPr>
        <p:txBody>
          <a:bodyPr wrap="square" lIns="0" tIns="0" rIns="0" bIns="0" anchor="t">
            <a:normAutofit/>
          </a:bodyPr>
          <a:lstStyle/>
          <a:p>
            <a:pPr algn="l">
              <a:lnSpc>
                <a:spcPct val="108000"/>
              </a:lnSpc>
              <a:buNone/>
              <a:defRPr sz="825" b="0">
                <a:solidFill>
                  <a:srgbClr val="8191A1"/>
                </a:solidFill>
                <a:latin typeface="微软雅黑" panose="020B0503020204020204" charset="-122"/>
                <a:ea typeface="微软雅黑" panose="020B0503020204020204" charset="-122"/>
                <a:cs typeface="微软雅黑" panose="020B0503020204020204" charset="-122"/>
              </a:defRPr>
            </a:pPr>
            <a:r>
              <a:rPr sz="825" b="0">
                <a:solidFill>
                  <a:srgbClr val="8191A1"/>
                </a:solidFill>
                <a:latin typeface="微软雅黑" panose="020B0503020204020204" charset="-122"/>
                <a:ea typeface="微软雅黑" panose="020B0503020204020204" charset="-122"/>
                <a:cs typeface="微软雅黑" panose="020B0503020204020204" charset="-122"/>
              </a:rPr>
              <a:t>多智能体医疗论文分享</a:t>
            </a:r>
            <a:endParaRPr sz="825" b="0">
              <a:solidFill>
                <a:srgbClr val="8191A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C"/>
        </a:solidFill>
        <a:effectLst/>
      </p:bgPr>
    </p:bg>
    <p:spTree>
      <p:nvGrpSpPr>
        <p:cNvPr id="1" name=""/>
        <p:cNvGrpSpPr/>
        <p:nvPr/>
      </p:nvGrpSpPr>
      <p:grpSpPr/>
      <p:sp>
        <p:nvSpPr>
          <p:cNvPr id="17" name="矩形 16"/>
          <p:cNvSpPr>
            <a:spLocks noGrp="1"/>
          </p:cNvSpPr>
          <p:nvPr/>
        </p:nvSpPr>
        <p:spPr>
          <a:xfrm>
            <a:off x="609600" y="342900"/>
            <a:ext cx="10191750" cy="514350"/>
          </a:xfrm>
          <a:prstGeom prst="rect">
            <a:avLst/>
          </a:prstGeom>
          <a:noFill/>
          <a:ln w="0">
            <a:noFill/>
          </a:ln>
        </p:spPr>
        <p:txBody>
          <a:bodyPr wrap="square" lIns="0" tIns="0" rIns="0" bIns="0" anchor="t">
            <a:normAutofit/>
          </a:bodyPr>
          <a:lstStyle/>
          <a:p>
            <a:pPr algn="l">
              <a:lnSpc>
                <a:spcPct val="108000"/>
              </a:lnSpc>
              <a:buNone/>
              <a:defRPr sz="2550" b="1">
                <a:solidFill>
                  <a:srgbClr val="102A43"/>
                </a:solidFill>
                <a:latin typeface="微软雅黑" panose="020B0503020204020204" charset="-122"/>
                <a:ea typeface="微软雅黑" panose="020B0503020204020204" charset="-122"/>
                <a:cs typeface="微软雅黑" panose="020B0503020204020204" charset="-122"/>
              </a:defRPr>
            </a:pPr>
            <a:r>
              <a:rPr sz="2550" b="1">
                <a:solidFill>
                  <a:srgbClr val="102A43"/>
                </a:solidFill>
                <a:latin typeface="微软雅黑" panose="020B0503020204020204" charset="-122"/>
                <a:ea typeface="微软雅黑" panose="020B0503020204020204" charset="-122"/>
                <a:cs typeface="微软雅黑" panose="020B0503020204020204" charset="-122"/>
              </a:rPr>
              <a:t>DoctorAgent-RL：通过强化学习实现主动问诊</a:t>
            </a:r>
            <a:endParaRPr sz="255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1049000" y="400050"/>
            <a:ext cx="533400" cy="304800"/>
          </a:xfrm>
          <a:prstGeom prst="rect">
            <a:avLst/>
          </a:prstGeom>
          <a:noFill/>
          <a:ln w="0">
            <a:noFill/>
          </a:ln>
        </p:spPr>
        <p:txBody>
          <a:bodyPr wrap="square" lIns="0" tIns="0" rIns="0" bIns="0" anchor="t">
            <a:normAutofit/>
          </a:bodyPr>
          <a:lstStyle/>
          <a:p>
            <a:pPr algn="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09</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609600" y="990600"/>
            <a:ext cx="10972800" cy="0"/>
          </a:xfrm>
          <a:prstGeom prst="line">
            <a:avLst/>
          </a:prstGeom>
          <a:noFill/>
          <a:ln w="9525">
            <a:solidFill>
              <a:srgbClr val="C8D6E2"/>
            </a:solidFill>
          </a:ln>
        </p:spPr>
      </p:sp>
      <p:sp>
        <p:nvSpPr>
          <p:cNvPr id="4" name="矩形 3"/>
          <p:cNvSpPr>
            <a:spLocks noGrp="1"/>
          </p:cNvSpPr>
          <p:nvPr/>
        </p:nvSpPr>
        <p:spPr>
          <a:xfrm>
            <a:off x="609600" y="1257300"/>
            <a:ext cx="2667000" cy="323850"/>
          </a:xfrm>
          <a:prstGeom prst="rect">
            <a:avLst/>
          </a:prstGeom>
          <a:noFill/>
          <a:ln w="0">
            <a:noFill/>
          </a:ln>
        </p:spPr>
        <p:txBody>
          <a:bodyPr wrap="square" lIns="0" tIns="0" rIns="0" bIns="0" anchor="t">
            <a:normAutofit/>
          </a:bodyPr>
          <a:lstStyle/>
          <a:p>
            <a:pPr algn="l">
              <a:lnSpc>
                <a:spcPct val="108000"/>
              </a:lnSpc>
              <a:buNone/>
              <a:defRPr sz="1800" b="1">
                <a:solidFill>
                  <a:srgbClr val="0E7C86"/>
                </a:solidFill>
                <a:latin typeface="微软雅黑" panose="020B0503020204020204" charset="-122"/>
                <a:ea typeface="微软雅黑" panose="020B0503020204020204" charset="-122"/>
                <a:cs typeface="微软雅黑" panose="020B0503020204020204" charset="-122"/>
              </a:defRPr>
            </a:pPr>
            <a:r>
              <a:rPr sz="1800" b="1">
                <a:solidFill>
                  <a:srgbClr val="0E7C86"/>
                </a:solidFill>
                <a:latin typeface="微软雅黑" panose="020B0503020204020204" charset="-122"/>
                <a:ea typeface="微软雅黑" panose="020B0503020204020204" charset="-122"/>
                <a:cs typeface="微软雅黑" panose="020B0503020204020204" charset="-122"/>
              </a:rPr>
              <a:t>传统系统的问题</a:t>
            </a:r>
            <a:endParaRPr sz="18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09600" y="1790700"/>
            <a:ext cx="3333750" cy="1504950"/>
          </a:xfrm>
          <a:prstGeom prst="rect">
            <a:avLst/>
          </a:prstGeom>
          <a:noFill/>
          <a:ln w="0">
            <a:noFill/>
          </a:ln>
        </p:spPr>
        <p:txBody>
          <a:bodyPr wrap="square" lIns="0" tIns="0" rIns="0" bIns="0" anchor="t">
            <a:normAutofit/>
          </a:bodyPr>
          <a:lstStyle/>
          <a:p>
            <a:pPr algn="l">
              <a:lnSpc>
                <a:spcPct val="124000"/>
              </a:lnSpc>
              <a:buNone/>
              <a:defRPr sz="1575" b="0">
                <a:solidFill>
                  <a:srgbClr val="1C2733"/>
                </a:solidFill>
                <a:latin typeface="微软雅黑" panose="020B0503020204020204" charset="-122"/>
                <a:ea typeface="微软雅黑" panose="020B0503020204020204" charset="-122"/>
                <a:cs typeface="微软雅黑" panose="020B0503020204020204" charset="-122"/>
              </a:defRPr>
            </a:pPr>
            <a:r>
              <a:rPr sz="1575" b="0">
                <a:solidFill>
                  <a:srgbClr val="1C2733"/>
                </a:solidFill>
                <a:latin typeface="微软雅黑" panose="020B0503020204020204" charset="-122"/>
                <a:ea typeface="微软雅黑" panose="020B0503020204020204" charset="-122"/>
                <a:cs typeface="微软雅黑" panose="020B0503020204020204" charset="-122"/>
              </a:rPr>
              <a:t>患者难以一次说清所有症状</a:t>
            </a:r>
            <a:endParaRPr sz="1575" b="0">
              <a:solidFill>
                <a:srgbClr val="1C2733"/>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575" b="0">
                <a:solidFill>
                  <a:srgbClr val="1C2733"/>
                </a:solidFill>
                <a:latin typeface="微软雅黑" panose="020B0503020204020204" charset="-122"/>
                <a:ea typeface="微软雅黑" panose="020B0503020204020204" charset="-122"/>
                <a:cs typeface="微软雅黑" panose="020B0503020204020204" charset="-122"/>
              </a:defRPr>
            </a:pPr>
            <a:r>
              <a:rPr sz="1575" b="0">
                <a:solidFill>
                  <a:srgbClr val="1C2733"/>
                </a:solidFill>
                <a:latin typeface="微软雅黑" panose="020B0503020204020204" charset="-122"/>
                <a:ea typeface="微软雅黑" panose="020B0503020204020204" charset="-122"/>
                <a:cs typeface="微软雅黑" panose="020B0503020204020204" charset="-122"/>
              </a:rPr>
              <a:t>单轮问答容易缺少关键信息</a:t>
            </a:r>
            <a:endParaRPr sz="1575" b="0">
              <a:solidFill>
                <a:srgbClr val="1C2733"/>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575" b="0">
                <a:solidFill>
                  <a:srgbClr val="1C2733"/>
                </a:solidFill>
                <a:latin typeface="微软雅黑" panose="020B0503020204020204" charset="-122"/>
                <a:ea typeface="微软雅黑" panose="020B0503020204020204" charset="-122"/>
                <a:cs typeface="微软雅黑" panose="020B0503020204020204" charset="-122"/>
              </a:defRPr>
            </a:pPr>
            <a:r>
              <a:rPr sz="1575" b="0">
                <a:solidFill>
                  <a:srgbClr val="1C2733"/>
                </a:solidFill>
                <a:latin typeface="微软雅黑" panose="020B0503020204020204" charset="-122"/>
                <a:ea typeface="微软雅黑" panose="020B0503020204020204" charset="-122"/>
                <a:cs typeface="微软雅黑" panose="020B0503020204020204" charset="-122"/>
              </a:rPr>
              <a:t>传统多轮模型主要模仿既有对话</a:t>
            </a:r>
            <a:endParaRPr sz="1575" b="0">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4619625" y="2457450"/>
            <a:ext cx="2000250" cy="914400"/>
          </a:xfrm>
          <a:prstGeom prst="roundRect">
            <a:avLst>
              <a:gd name="adj" fmla="val 8333"/>
            </a:avLst>
          </a:prstGeom>
          <a:solidFill>
            <a:srgbClr val="EDF3FF"/>
          </a:solidFill>
          <a:ln w="14288">
            <a:solidFill>
              <a:srgbClr val="AFC4F5"/>
            </a:solidFill>
          </a:ln>
        </p:spPr>
        <p:txBody>
          <a:bodyPr wrap="square" lIns="114300" tIns="76200" rIns="114300" bIns="76200" anchor="ctr">
            <a:normAutofit/>
          </a:bodyPr>
          <a:lstStyle/>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患者智能体</a:t>
            </a:r>
            <a:endParaRPr sz="1575"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75" b="1">
                <a:solidFill>
                  <a:srgbClr val="1C2733"/>
                </a:solidFill>
                <a:latin typeface="微软雅黑" panose="020B0503020204020204" charset="-122"/>
                <a:ea typeface="微软雅黑" panose="020B0503020204020204" charset="-122"/>
                <a:cs typeface="微软雅黑" panose="020B0503020204020204" charset="-122"/>
              </a:defRPr>
            </a:pPr>
            <a:r>
              <a:rPr sz="1575" b="1">
                <a:solidFill>
                  <a:srgbClr val="1C2733"/>
                </a:solidFill>
                <a:latin typeface="微软雅黑" panose="020B0503020204020204" charset="-122"/>
                <a:ea typeface="微软雅黑" panose="020B0503020204020204" charset="-122"/>
                <a:cs typeface="微软雅黑" panose="020B0503020204020204" charset="-122"/>
              </a:rPr>
              <a:t>模拟真实表达</a:t>
            </a:r>
            <a:endParaRPr sz="1575" b="1">
              <a:solidFill>
                <a:srgbClr val="1C2733"/>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7286625" y="2457450"/>
            <a:ext cx="2000250" cy="914400"/>
          </a:xfrm>
          <a:prstGeom prst="roundRect">
            <a:avLst>
              <a:gd name="adj" fmla="val 8333"/>
            </a:avLst>
          </a:prstGeom>
          <a:solidFill>
            <a:srgbClr val="102A43"/>
          </a:solidFill>
          <a:ln w="14288">
            <a:solidFill>
              <a:srgbClr val="102A43"/>
            </a:solidFill>
          </a:ln>
        </p:spPr>
        <p:txBody>
          <a:bodyPr wrap="square" lIns="114300" tIns="76200" rIns="114300" bIns="76200" anchor="ctr">
            <a:normAutofit/>
          </a:bodyPr>
          <a:lstStyle/>
          <a:p>
            <a:pPr algn="ctr">
              <a:lnSpc>
                <a:spcPct val="105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latin typeface="微软雅黑" panose="020B0503020204020204" charset="-122"/>
                <a:ea typeface="微软雅黑" panose="020B0503020204020204" charset="-122"/>
                <a:cs typeface="微软雅黑" panose="020B0503020204020204" charset="-122"/>
              </a:rPr>
              <a:t>医生智能体</a:t>
            </a:r>
            <a:endParaRPr sz="1575"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latin typeface="微软雅黑" panose="020B0503020204020204" charset="-122"/>
                <a:ea typeface="微软雅黑" panose="020B0503020204020204" charset="-122"/>
                <a:cs typeface="微软雅黑" panose="020B0503020204020204" charset="-122"/>
              </a:rPr>
              <a:t>选择下一步问题</a:t>
            </a:r>
            <a:endParaRPr sz="15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10200640" y="2637155"/>
            <a:ext cx="1809750" cy="914400"/>
          </a:xfrm>
          <a:prstGeom prst="roundRect">
            <a:avLst>
              <a:gd name="adj" fmla="val 8333"/>
            </a:avLst>
          </a:prstGeom>
          <a:solidFill>
            <a:srgbClr val="EAF4F6"/>
          </a:solidFill>
          <a:ln w="14288">
            <a:solidFill>
              <a:srgbClr val="9DD4D9"/>
            </a:solidFill>
          </a:ln>
        </p:spPr>
        <p:txBody>
          <a:bodyPr wrap="square" lIns="114300" tIns="76200" rIns="114300" bIns="76200" anchor="ctr">
            <a:normAutofit/>
          </a:bodyPr>
          <a:lstStyle/>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问诊评估器</a:t>
            </a:r>
            <a:endParaRPr sz="1500" b="1">
              <a:solidFill>
                <a:srgbClr val="1C2733"/>
              </a:solidFill>
              <a:latin typeface="微软雅黑" panose="020B0503020204020204" charset="-122"/>
              <a:ea typeface="微软雅黑" panose="020B0503020204020204" charset="-122"/>
              <a:cs typeface="微软雅黑" panose="020B0503020204020204" charset="-122"/>
            </a:endParaRPr>
          </a:p>
          <a:p>
            <a:pPr algn="ctr">
              <a:lnSpc>
                <a:spcPct val="105000"/>
              </a:lnSpc>
              <a:buNone/>
              <a:defRPr sz="1500" b="1">
                <a:solidFill>
                  <a:srgbClr val="1C2733"/>
                </a:solidFill>
                <a:latin typeface="微软雅黑" panose="020B0503020204020204" charset="-122"/>
                <a:ea typeface="微软雅黑" panose="020B0503020204020204" charset="-122"/>
                <a:cs typeface="微软雅黑" panose="020B0503020204020204" charset="-122"/>
              </a:defRPr>
            </a:pPr>
            <a:r>
              <a:rPr sz="1500" b="1">
                <a:solidFill>
                  <a:srgbClr val="1C2733"/>
                </a:solidFill>
                <a:latin typeface="微软雅黑" panose="020B0503020204020204" charset="-122"/>
                <a:ea typeface="微软雅黑" panose="020B0503020204020204" charset="-122"/>
                <a:cs typeface="微软雅黑" panose="020B0503020204020204" charset="-122"/>
              </a:rPr>
              <a:t>提供多维奖励</a:t>
            </a:r>
            <a:endParaRPr sz="1500" b="1">
              <a:solidFill>
                <a:srgbClr val="1C2733"/>
              </a:solidFill>
              <a:latin typeface="微软雅黑" panose="020B0503020204020204" charset="-122"/>
              <a:ea typeface="微软雅黑" panose="020B0503020204020204" charset="-122"/>
              <a:cs typeface="微软雅黑" panose="020B0503020204020204" charset="-122"/>
            </a:endParaRPr>
          </a:p>
        </p:txBody>
      </p:sp>
      <p:cxnSp>
        <p:nvCxnSpPr>
          <p:cNvPr id="25" name="直接箭头连接符 24"/>
          <p:cNvCxnSpPr>
            <a:stCxn id="6" idx="3"/>
            <a:endCxn id="7" idx="1"/>
          </p:cNvCxnSpPr>
          <p:nvPr/>
        </p:nvCxnSpPr>
        <p:spPr>
          <a:xfrm>
            <a:off x="6619875" y="2914650"/>
            <a:ext cx="666750" cy="0"/>
          </a:xfrm>
          <a:prstGeom prst="straightConnector1">
            <a:avLst/>
          </a:prstGeom>
          <a:ln w="20955">
            <a:solidFill>
              <a:srgbClr val="0E7C86"/>
            </a:solidFill>
            <a:prstDash val="solid"/>
            <a:headEnd type="triangle" w="sm" len="sm"/>
            <a:tailEnd type="triangle" w="sm" len="sm"/>
          </a:ln>
        </p:spPr>
      </p:cxnSp>
      <p:cxnSp>
        <p:nvCxnSpPr>
          <p:cNvPr id="26" name="直接箭头连接符 25"/>
          <p:cNvCxnSpPr>
            <a:stCxn id="7" idx="3"/>
            <a:endCxn id="8" idx="1"/>
          </p:cNvCxnSpPr>
          <p:nvPr/>
        </p:nvCxnSpPr>
        <p:spPr>
          <a:xfrm>
            <a:off x="9286875" y="2914650"/>
            <a:ext cx="913765" cy="179705"/>
          </a:xfrm>
          <a:prstGeom prst="straightConnector1">
            <a:avLst/>
          </a:prstGeom>
          <a:ln w="20955">
            <a:solidFill>
              <a:srgbClr val="0E7C86"/>
            </a:solidFill>
            <a:prstDash val="solid"/>
            <a:tailEnd type="triangle" w="sm" len="sm"/>
          </a:ln>
        </p:spPr>
      </p:cxnSp>
      <p:cxnSp>
        <p:nvCxnSpPr>
          <p:cNvPr id="27" name="肘形连接符 26"/>
          <p:cNvCxnSpPr>
            <a:stCxn id="8" idx="2"/>
            <a:endCxn id="7" idx="2"/>
          </p:cNvCxnSpPr>
          <p:nvPr/>
        </p:nvCxnSpPr>
        <p:spPr>
          <a:xfrm rot="5400000" flipH="1">
            <a:off x="9606280" y="2052320"/>
            <a:ext cx="179705" cy="2818765"/>
          </a:xfrm>
          <a:prstGeom prst="bentConnector3">
            <a:avLst>
              <a:gd name="adj1" fmla="val -132509"/>
            </a:avLst>
          </a:prstGeom>
          <a:ln w="20955">
            <a:solidFill>
              <a:srgbClr val="E28A3B"/>
            </a:solidFill>
            <a:prstDash val="solid"/>
            <a:tailEnd type="triangle" w="sm" len="sm"/>
          </a:ln>
        </p:spPr>
      </p:cxnSp>
      <p:sp>
        <p:nvSpPr>
          <p:cNvPr id="12" name="矩形 11"/>
          <p:cNvSpPr>
            <a:spLocks noGrp="1"/>
          </p:cNvSpPr>
          <p:nvPr/>
        </p:nvSpPr>
        <p:spPr>
          <a:xfrm>
            <a:off x="6572250" y="2047875"/>
            <a:ext cx="1381125" cy="228600"/>
          </a:xfrm>
          <a:prstGeom prst="rect">
            <a:avLst/>
          </a:prstGeom>
          <a:noFill/>
          <a:ln w="0">
            <a:noFill/>
          </a:ln>
        </p:spPr>
        <p:txBody>
          <a:bodyPr wrap="square" lIns="0" tIns="0" rIns="0" bIns="0" anchor="t">
            <a:normAutofit/>
          </a:bodyPr>
          <a:lstStyle/>
          <a:p>
            <a:pPr algn="ctr">
              <a:lnSpc>
                <a:spcPct val="108000"/>
              </a:lnSpc>
              <a:buNone/>
              <a:defRPr sz="1200" b="1">
                <a:solidFill>
                  <a:srgbClr val="0E7C86"/>
                </a:solidFill>
                <a:latin typeface="微软雅黑" panose="020B0503020204020204" charset="-122"/>
                <a:ea typeface="微软雅黑" panose="020B0503020204020204" charset="-122"/>
                <a:cs typeface="微软雅黑" panose="020B0503020204020204" charset="-122"/>
              </a:defRPr>
            </a:pPr>
            <a:r>
              <a:rPr sz="1200" b="1">
                <a:solidFill>
                  <a:srgbClr val="0E7C86"/>
                </a:solidFill>
                <a:latin typeface="微软雅黑" panose="020B0503020204020204" charset="-122"/>
                <a:ea typeface="微软雅黑" panose="020B0503020204020204" charset="-122"/>
                <a:cs typeface="微软雅黑" panose="020B0503020204020204" charset="-122"/>
              </a:rPr>
              <a:t>提问与回答</a:t>
            </a:r>
            <a:endParaRPr sz="1200" b="1">
              <a:solidFill>
                <a:srgbClr val="0E7C86"/>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9048750" y="3829050"/>
            <a:ext cx="1714500" cy="228600"/>
          </a:xfrm>
          <a:prstGeom prst="rect">
            <a:avLst/>
          </a:prstGeom>
          <a:noFill/>
          <a:ln w="0">
            <a:noFill/>
          </a:ln>
        </p:spPr>
        <p:txBody>
          <a:bodyPr wrap="square" lIns="0" tIns="0" rIns="0" bIns="0" anchor="t">
            <a:normAutofit/>
          </a:bodyPr>
          <a:lstStyle/>
          <a:p>
            <a:pPr algn="ctr">
              <a:lnSpc>
                <a:spcPct val="108000"/>
              </a:lnSpc>
              <a:buNone/>
              <a:defRPr sz="1200" b="1">
                <a:solidFill>
                  <a:srgbClr val="E28A3B"/>
                </a:solidFill>
                <a:latin typeface="微软雅黑" panose="020B0503020204020204" charset="-122"/>
                <a:ea typeface="微软雅黑" panose="020B0503020204020204" charset="-122"/>
                <a:cs typeface="微软雅黑" panose="020B0503020204020204" charset="-122"/>
              </a:defRPr>
            </a:pPr>
            <a:r>
              <a:rPr sz="1200" b="1">
                <a:solidFill>
                  <a:srgbClr val="E28A3B"/>
                </a:solidFill>
                <a:latin typeface="微软雅黑" panose="020B0503020204020204" charset="-122"/>
                <a:ea typeface="微软雅黑" panose="020B0503020204020204" charset="-122"/>
                <a:cs typeface="微软雅黑" panose="020B0503020204020204" charset="-122"/>
              </a:rPr>
              <a:t>奖励反馈</a:t>
            </a:r>
            <a:endParaRPr sz="1200" b="1">
              <a:solidFill>
                <a:srgbClr val="E28A3B"/>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2647950" y="5391150"/>
            <a:ext cx="6896100" cy="419100"/>
          </a:xfrm>
          <a:prstGeom prst="rect">
            <a:avLst/>
          </a:prstGeom>
          <a:noFill/>
          <a:ln w="0">
            <a:noFill/>
          </a:ln>
        </p:spPr>
        <p:txBody>
          <a:bodyPr wrap="square" lIns="0" tIns="0" rIns="0" bIns="0" anchor="t">
            <a:normAutofit/>
          </a:bodyPr>
          <a:lstStyle/>
          <a:p>
            <a:pPr algn="ctr">
              <a:lnSpc>
                <a:spcPct val="108000"/>
              </a:lnSpc>
              <a:buNone/>
              <a:defRPr sz="2100" b="1">
                <a:solidFill>
                  <a:srgbClr val="102A43"/>
                </a:solidFill>
                <a:latin typeface="微软雅黑" panose="020B0503020204020204" charset="-122"/>
                <a:ea typeface="微软雅黑" panose="020B0503020204020204" charset="-122"/>
                <a:cs typeface="微软雅黑" panose="020B0503020204020204" charset="-122"/>
              </a:defRPr>
            </a:pPr>
            <a:r>
              <a:rPr sz="2100" b="1">
                <a:solidFill>
                  <a:srgbClr val="102A43"/>
                </a:solidFill>
                <a:latin typeface="微软雅黑" panose="020B0503020204020204" charset="-122"/>
                <a:ea typeface="微软雅黑" panose="020B0503020204020204" charset="-122"/>
                <a:cs typeface="微软雅黑" panose="020B0503020204020204" charset="-122"/>
              </a:rPr>
              <a:t>学习重点：如何通过提问逐步找到答案</a:t>
            </a:r>
            <a:endParaRPr sz="2100" b="1">
              <a:solidFill>
                <a:srgbClr val="102A4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09600" y="6477000"/>
            <a:ext cx="4572000" cy="190500"/>
          </a:xfrm>
          <a:prstGeom prst="rect">
            <a:avLst/>
          </a:prstGeom>
          <a:noFill/>
          <a:ln w="0">
            <a:noFill/>
          </a:ln>
        </p:spPr>
        <p:txBody>
          <a:bodyPr wrap="square" lIns="0" tIns="0" rIns="0" bIns="0" anchor="t">
            <a:normAutofit/>
          </a:bodyPr>
          <a:lstStyle/>
          <a:p>
            <a:pPr algn="l">
              <a:lnSpc>
                <a:spcPct val="108000"/>
              </a:lnSpc>
              <a:buNone/>
              <a:defRPr sz="825" b="0">
                <a:solidFill>
                  <a:srgbClr val="8191A1"/>
                </a:solidFill>
                <a:latin typeface="微软雅黑" panose="020B0503020204020204" charset="-122"/>
                <a:ea typeface="微软雅黑" panose="020B0503020204020204" charset="-122"/>
                <a:cs typeface="微软雅黑" panose="020B0503020204020204" charset="-122"/>
              </a:defRPr>
            </a:pPr>
            <a:r>
              <a:rPr sz="825" b="0">
                <a:solidFill>
                  <a:srgbClr val="8191A1"/>
                </a:solidFill>
                <a:latin typeface="微软雅黑" panose="020B0503020204020204" charset="-122"/>
                <a:ea typeface="微软雅黑" panose="020B0503020204020204" charset="-122"/>
                <a:cs typeface="微软雅黑" panose="020B0503020204020204" charset="-122"/>
              </a:rPr>
              <a:t>多智能体医疗论文分享</a:t>
            </a:r>
            <a:endParaRPr sz="825" b="0">
              <a:solidFill>
                <a:srgbClr val="8191A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23795" y="2636520"/>
            <a:ext cx="7325360" cy="768350"/>
          </a:xfrm>
          <a:prstGeom prst="rect">
            <a:avLst/>
          </a:prstGeom>
          <a:noFill/>
        </p:spPr>
        <p:txBody>
          <a:bodyPr wrap="square" rtlCol="0" anchor="t">
            <a:spAutoFit/>
          </a:bodyPr>
          <a:p>
            <a:r>
              <a:rPr sz="4400" b="1">
                <a:solidFill>
                  <a:srgbClr val="102A43"/>
                </a:solidFill>
                <a:latin typeface="微软雅黑" panose="020B0503020204020204" charset="-122"/>
                <a:ea typeface="微软雅黑" panose="020B0503020204020204" charset="-122"/>
                <a:cs typeface="微软雅黑" panose="020B0503020204020204" charset="-122"/>
                <a:sym typeface="+mn-ea"/>
              </a:rPr>
              <a:t>MDAgents</a:t>
            </a:r>
            <a:r>
              <a:rPr lang="zh-CN" sz="4400" b="1">
                <a:solidFill>
                  <a:srgbClr val="102A43"/>
                </a:solidFill>
                <a:latin typeface="微软雅黑" panose="020B0503020204020204" charset="-122"/>
                <a:ea typeface="微软雅黑" panose="020B0503020204020204" charset="-122"/>
                <a:cs typeface="微软雅黑" panose="020B0503020204020204" charset="-122"/>
                <a:sym typeface="+mn-ea"/>
              </a:rPr>
              <a:t>论文复现情况</a:t>
            </a:r>
            <a:endParaRPr lang="zh-CN" sz="4400" b="1">
              <a:solidFill>
                <a:srgbClr val="102A43"/>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265430"/>
            <a:ext cx="12192000" cy="59950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992370" y="620395"/>
            <a:ext cx="6813550" cy="2392680"/>
          </a:xfrm>
          <a:prstGeom prst="rect">
            <a:avLst/>
          </a:prstGeom>
        </p:spPr>
      </p:pic>
      <p:sp>
        <p:nvSpPr>
          <p:cNvPr id="3" name="文本框 2"/>
          <p:cNvSpPr txBox="1"/>
          <p:nvPr/>
        </p:nvSpPr>
        <p:spPr>
          <a:xfrm>
            <a:off x="407670" y="260350"/>
            <a:ext cx="4584700" cy="368300"/>
          </a:xfrm>
          <a:prstGeom prst="rect">
            <a:avLst/>
          </a:prstGeom>
          <a:noFill/>
        </p:spPr>
        <p:txBody>
          <a:bodyPr wrap="square" rtlCol="0">
            <a:spAutoFit/>
          </a:bodyPr>
          <a:p>
            <a:r>
              <a:rPr lang="en-US" altLang="zh-CN"/>
              <a:t>Basic</a:t>
            </a:r>
            <a:r>
              <a:rPr lang="zh-CN" altLang="en-US"/>
              <a:t>题的处理结果</a:t>
            </a:r>
            <a:r>
              <a:rPr lang="zh-CN" altLang="en-US"/>
              <a:t>演示</a:t>
            </a:r>
            <a:endParaRPr lang="zh-CN" altLang="en-US"/>
          </a:p>
        </p:txBody>
      </p:sp>
      <p:pic>
        <p:nvPicPr>
          <p:cNvPr id="4" name="图片 3"/>
          <p:cNvPicPr>
            <a:picLocks noChangeAspect="1"/>
          </p:cNvPicPr>
          <p:nvPr/>
        </p:nvPicPr>
        <p:blipFill>
          <a:blip r:embed="rId2"/>
          <a:stretch>
            <a:fillRect/>
          </a:stretch>
        </p:blipFill>
        <p:spPr>
          <a:xfrm>
            <a:off x="119380" y="3284855"/>
            <a:ext cx="11634470" cy="2392680"/>
          </a:xfrm>
          <a:prstGeom prst="rect">
            <a:avLst/>
          </a:prstGeom>
        </p:spPr>
      </p:pic>
      <p:pic>
        <p:nvPicPr>
          <p:cNvPr id="6" name="图片 5"/>
          <p:cNvPicPr>
            <a:picLocks noChangeAspect="1"/>
          </p:cNvPicPr>
          <p:nvPr/>
        </p:nvPicPr>
        <p:blipFill>
          <a:blip r:embed="rId3"/>
          <a:stretch>
            <a:fillRect/>
          </a:stretch>
        </p:blipFill>
        <p:spPr>
          <a:xfrm>
            <a:off x="191135" y="5805170"/>
            <a:ext cx="12192000" cy="243205"/>
          </a:xfrm>
          <a:prstGeom prst="rect">
            <a:avLst/>
          </a:prstGeom>
        </p:spPr>
      </p:pic>
      <p:sp>
        <p:nvSpPr>
          <p:cNvPr id="7" name="文本框 6"/>
          <p:cNvSpPr txBox="1"/>
          <p:nvPr/>
        </p:nvSpPr>
        <p:spPr>
          <a:xfrm>
            <a:off x="335280" y="980440"/>
            <a:ext cx="4267200" cy="9213850"/>
          </a:xfrm>
          <a:prstGeom prst="rect">
            <a:avLst/>
          </a:prstGeom>
          <a:noFill/>
        </p:spPr>
        <p:txBody>
          <a:bodyPr wrap="square" rtlCol="0">
            <a:noAutofit/>
          </a:bodyPr>
          <a:p>
            <a:r>
              <a:rPr lang="en-US" altLang="zh-CN" sz="1000"/>
              <a:t>Question:** A 23-year-old man presents to his primary care physician after bleeding from his gums while brushing his teeth for the past week. Although he has had gum bleeding in the past, it has never been this severe. He has no family history available as he was adopted. He does not have any significant past medical history. His physical exam is within normal limits. Screening lab work is ordered with the following values:\nPlatelet count 330,000/mm3\nBleeding time 6 mins\nProthrombin time 12 sec\nActivated partial thromboplastin time 42 sec\nFactor VIII activity decreased\nRistocetin cofactor assay decreased\nHe is subsequently referred to a hematologist for further work-up and treatment. Which of the following aspects of coagulation would most likely be affected? Options: (B) Factor XI (C) Vitamin K (D) Antithrombin III (A) Gp Ib\nAnswer: </a:t>
            </a:r>
            <a:endParaRPr lang="en-US" altLang="zh-CN"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627380"/>
            <a:ext cx="12192000" cy="5397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4765" y="188595"/>
            <a:ext cx="12299950" cy="6203950"/>
          </a:xfrm>
          <a:prstGeom prst="rect">
            <a:avLst/>
          </a:prstGeom>
        </p:spPr>
      </p:pic>
      <p:pic>
        <p:nvPicPr>
          <p:cNvPr id="3" name="图片 2"/>
          <p:cNvPicPr>
            <a:picLocks noChangeAspect="1"/>
          </p:cNvPicPr>
          <p:nvPr/>
        </p:nvPicPr>
        <p:blipFill>
          <a:blip r:embed="rId2"/>
          <a:stretch>
            <a:fillRect/>
          </a:stretch>
        </p:blipFill>
        <p:spPr>
          <a:xfrm>
            <a:off x="4511675" y="2564765"/>
            <a:ext cx="7828915" cy="15735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637540"/>
            <a:ext cx="12192000" cy="5238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7625" y="44450"/>
            <a:ext cx="12192000" cy="4897120"/>
          </a:xfrm>
          <a:prstGeom prst="rect">
            <a:avLst/>
          </a:prstGeom>
        </p:spPr>
      </p:pic>
      <p:pic>
        <p:nvPicPr>
          <p:cNvPr id="3" name="图片 2"/>
          <p:cNvPicPr>
            <a:picLocks noChangeAspect="1"/>
          </p:cNvPicPr>
          <p:nvPr/>
        </p:nvPicPr>
        <p:blipFill>
          <a:blip r:embed="rId2"/>
          <a:stretch>
            <a:fillRect/>
          </a:stretch>
        </p:blipFill>
        <p:spPr>
          <a:xfrm>
            <a:off x="-168910" y="4797425"/>
            <a:ext cx="12192000" cy="2249170"/>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1858</Words>
  <Application>WPS 演示</Application>
  <PresentationFormat>Converted Presentation</PresentationFormat>
  <Paragraphs>206</Paragraphs>
  <Slides>15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Arial</vt:lpstr>
      <vt:lpstr>宋体</vt:lpstr>
      <vt:lpstr>Wingdings</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p:lastModifiedBy>
  <cp:revision>4</cp:revision>
  <dcterms:created xsi:type="dcterms:W3CDTF">2026-09-17T05:19:00Z</dcterms:created>
  <dcterms:modified xsi:type="dcterms:W3CDTF">2026-09-17T06:21:03Z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066B66EEC75943CB9CD783A4C7C21B3F_12</vt:lpwstr>
  </property>
  <property fmtid="{D5CDD505-2E9C-101B-9397-08002B2CF9AE}" pid="3" name="KSOProductBuildVer">
    <vt:lpwstr>2052-12.1.0.28505</vt:lpwstr>
  </property>
</Properties>
</file>