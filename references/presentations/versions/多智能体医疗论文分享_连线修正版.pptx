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ffdaf9e15c424a" /><Relationship Type="http://schemas.openxmlformats.org/officeDocument/2006/relationships/extended-properties" Target="/docProps/app.xml" Id="Re3351d919dc1470d" /><Relationship Type="http://schemas.openxmlformats.org/officeDocument/2006/relationships/officeDocument" Target="/ppt/presentation.xml" Id="R46de5b1f854a42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a37002137440f7"/>
  </p:sldMasterIdLst>
  <p:notesMasterIdLst>
    <p:notesMasterId xmlns:r="http://schemas.openxmlformats.org/officeDocument/2006/relationships" r:id="Rf26fbf81c5c2466c"/>
  </p:notesMasterIdLst>
  <p:sldIdLst>
    <p:sldId xmlns:r="http://schemas.openxmlformats.org/officeDocument/2006/relationships" id="256" r:id="R8afc809e57504fad"/>
    <p:sldId xmlns:r="http://schemas.openxmlformats.org/officeDocument/2006/relationships" id="257" r:id="Reb120b9817eb434f"/>
    <p:sldId xmlns:r="http://schemas.openxmlformats.org/officeDocument/2006/relationships" id="258" r:id="R428c603fbe8b4405"/>
    <p:sldId xmlns:r="http://schemas.openxmlformats.org/officeDocument/2006/relationships" id="259" r:id="R0d2cfb8fa6644bb2"/>
    <p:sldId xmlns:r="http://schemas.openxmlformats.org/officeDocument/2006/relationships" id="260" r:id="Rf014e4eab35e4910"/>
    <p:sldId xmlns:r="http://schemas.openxmlformats.org/officeDocument/2006/relationships" id="261" r:id="Re51bf2ad3df34982"/>
    <p:sldId xmlns:r="http://schemas.openxmlformats.org/officeDocument/2006/relationships" id="262" r:id="R488a1916adcd4bc8"/>
    <p:sldId xmlns:r="http://schemas.openxmlformats.org/officeDocument/2006/relationships" id="263" r:id="R1049819d90c74682"/>
    <p:sldId xmlns:r="http://schemas.openxmlformats.org/officeDocument/2006/relationships" id="264" r:id="Rfd6276bc384e48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04f2c2fc764667" /><Relationship Type="http://schemas.openxmlformats.org/officeDocument/2006/relationships/slideMaster" Target="/ppt/slideMasters/slideMaster1.xml" Id="Rf7a37002137440f7" /><Relationship Type="http://schemas.openxmlformats.org/officeDocument/2006/relationships/notesMaster" Target="/ppt/notesMasters/notesMaster1.xml" Id="Rf26fbf81c5c2466c" /><Relationship Type="http://schemas.openxmlformats.org/officeDocument/2006/relationships/presProps" Target="/ppt/presProps.xml" Id="R0c09369823674532" /><Relationship Type="http://schemas.openxmlformats.org/officeDocument/2006/relationships/tableStyles" Target="/ppt/tableStyles.xml" Id="R49c16f33234d4873" /><Relationship Type="http://schemas.openxmlformats.org/officeDocument/2006/relationships/slide" Target="/ppt/slides/slide1.xml" Id="R8afc809e57504fad" /><Relationship Type="http://schemas.openxmlformats.org/officeDocument/2006/relationships/slide" Target="/ppt/slides/slide2.xml" Id="Reb120b9817eb434f" /><Relationship Type="http://schemas.openxmlformats.org/officeDocument/2006/relationships/slide" Target="/ppt/slides/slide3.xml" Id="R428c603fbe8b4405" /><Relationship Type="http://schemas.openxmlformats.org/officeDocument/2006/relationships/slide" Target="/ppt/slides/slide4.xml" Id="R0d2cfb8fa6644bb2" /><Relationship Type="http://schemas.openxmlformats.org/officeDocument/2006/relationships/slide" Target="/ppt/slides/slide5.xml" Id="Rf014e4eab35e4910" /><Relationship Type="http://schemas.openxmlformats.org/officeDocument/2006/relationships/slide" Target="/ppt/slides/slide6.xml" Id="Re51bf2ad3df34982" /><Relationship Type="http://schemas.openxmlformats.org/officeDocument/2006/relationships/slide" Target="/ppt/slides/slide7.xml" Id="R488a1916adcd4bc8" /><Relationship Type="http://schemas.openxmlformats.org/officeDocument/2006/relationships/slide" Target="/ppt/slides/slide8.xml" Id="R1049819d90c74682" /><Relationship Type="http://schemas.openxmlformats.org/officeDocument/2006/relationships/slide" Target="/ppt/slides/slide9.xml" Id="Rfd6276bc384e48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12b30c798e43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03979d2b8e4edf" /><Relationship Type="http://schemas.openxmlformats.org/officeDocument/2006/relationships/notesMaster" Target="/ppt/notesMasters/notesMaster1.xml" Id="R7f727f65588947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fe5653faf24982" /><Relationship Type="http://schemas.openxmlformats.org/officeDocument/2006/relationships/notesMaster" Target="/ppt/notesMasters/notesMaster1.xml" Id="Rc04bb107327446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799d0c60724bc3" /><Relationship Type="http://schemas.openxmlformats.org/officeDocument/2006/relationships/notesMaster" Target="/ppt/notesMasters/notesMaster1.xml" Id="R0b03266c973d4c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2bbab0cf8541c7" /><Relationship Type="http://schemas.openxmlformats.org/officeDocument/2006/relationships/notesMaster" Target="/ppt/notesMasters/notesMaster1.xml" Id="R981cabad250b4e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a93c24dcc14edb" /><Relationship Type="http://schemas.openxmlformats.org/officeDocument/2006/relationships/notesMaster" Target="/ppt/notesMasters/notesMaster1.xml" Id="R0e06c72628e24a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0a05382a4242df" /><Relationship Type="http://schemas.openxmlformats.org/officeDocument/2006/relationships/notesMaster" Target="/ppt/notesMasters/notesMaster1.xml" Id="R4e699cf9817446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fcdc08f9bf4abe" /><Relationship Type="http://schemas.openxmlformats.org/officeDocument/2006/relationships/notesMaster" Target="/ppt/notesMasters/notesMaster1.xml" Id="Ra82f64c892de4f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1b17ca735c4268" /><Relationship Type="http://schemas.openxmlformats.org/officeDocument/2006/relationships/notesMaster" Target="/ppt/notesMasters/notesMaster1.xml" Id="R8c79f1219bdc47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8f45c83eee43e7" /><Relationship Type="http://schemas.openxmlformats.org/officeDocument/2006/relationships/notesMaster" Target="/ppt/notesMasters/notesMaster1.xml" Id="Rcd8b9500846c46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资料来源：用户提供的论文与内容规划文档。</a:t>
            </a:r>
          </a:p>
          <a:p xmlns:a="http://schemas.openxmlformats.org/drawingml/2006/main">
            <a:r>
              <a:t>开场说明本次分享关注多智能体医疗系统的协作机制。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资料来源：综合用户提供的五篇论文。</a:t>
            </a:r>
          </a:p>
          <a:p xmlns:a="http://schemas.openxmlformats.org/drawingml/2006/main">
            <a:r>
              <a:t>强调多智能体的动机来自医学知识跨度、数据复杂性和临床协作结构。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资料来源：用户提供的内容规划文档。</a:t>
            </a:r>
          </a:p>
          <a:p xmlns:a="http://schemas.openxmlformats.org/drawingml/2006/main">
            <a:r>
              <a:t>本页只展示整体协作流程。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资料来源：MDAgents: An Adaptive Collaboration of LLMs for Medical Decision-Making, NeurIPS 2024。</a:t>
            </a:r>
          </a:p>
          <a:p xmlns:a="http://schemas.openxmlformats.org/drawingml/2006/main">
            <a:r>
              <a:t>论文根据低、中、高复杂度选择不同协作结构。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资料来源：A Knowledge-driven Adaptive Collaboration of LLMs for Enhancing Medical Decision-making, EMNLP 2025。</a:t>
            </a:r>
          </a:p>
          <a:p xmlns:a="http://schemas.openxmlformats.org/drawingml/2006/main">
            <a:r>
              <a:t>重点讲知识缺口检测和讨论中招募新专家。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资料来源：An agentic system for rare disease diagnosis with traceable reasoning, Nature 2026。</a:t>
            </a:r>
          </a:p>
          <a:p xmlns:a="http://schemas.openxmlformats.org/drawingml/2006/main">
            <a:r>
              <a:t>本页合并系统能力和诊断流程。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资料来源：An agentic system for rare disease diagnosis with traceable reasoning, Nature 2026。</a:t>
            </a:r>
          </a:p>
          <a:p xmlns:a="http://schemas.openxmlformats.org/drawingml/2006/main">
            <a:r>
              <a:t>图表比较 168 个多模态病例中的 Recall@1。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资料来源：MedLA: A Logic-Driven Multi-Agent Framework for Complex Medical Reasoning with Large Language Models, AAAI 2026。</a:t>
            </a:r>
          </a:p>
          <a:p xmlns:a="http://schemas.openxmlformats.org/drawingml/2006/main">
            <a:r>
              <a:t>重点讲大前提、小前提、结论和前提级冲突定位。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资料来源：Real-World Doctor Agent with Proactive Consultation through Multi-Agent Reinforcement Learning, arXiv:2505.19630v4。</a:t>
            </a:r>
          </a:p>
          <a:p xmlns:a="http://schemas.openxmlformats.org/drawingml/2006/main">
            <a:r>
              <a:t>介绍患者智能体、医生智能体和问诊评估器的互动。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81246c0604e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5f5d6b4dd24221" /><Relationship Type="http://schemas.openxmlformats.org/officeDocument/2006/relationships/slideLayout" Target="/ppt/slideLayouts/slideLayout1.xml" Id="R125ec71dd76a42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5ec71dd76a42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925c1ba3f4270" /><Relationship Type="http://schemas.openxmlformats.org/officeDocument/2006/relationships/notesSlide" Target="/ppt/notesSlides/notesSlide1.xml" Id="Rced50ceaa46544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0fe4059cb48ab" /><Relationship Type="http://schemas.openxmlformats.org/officeDocument/2006/relationships/notesSlide" Target="/ppt/notesSlides/notesSlide2.xml" Id="R25e29b0a84a74e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e3faba43b472f" /><Relationship Type="http://schemas.openxmlformats.org/officeDocument/2006/relationships/notesSlide" Target="/ppt/notesSlides/notesSlide3.xml" Id="Rb1ab283ae07c44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e971d20904839" /><Relationship Type="http://schemas.openxmlformats.org/officeDocument/2006/relationships/notesSlide" Target="/ppt/notesSlides/notesSlide4.xml" Id="Rccaaec0665534f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4ef04b300454e" /><Relationship Type="http://schemas.openxmlformats.org/officeDocument/2006/relationships/notesSlide" Target="/ppt/notesSlides/notesSlide5.xml" Id="R01ec5d22c56b4f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50bf21e8f49bd" /><Relationship Type="http://schemas.openxmlformats.org/officeDocument/2006/relationships/notesSlide" Target="/ppt/notesSlides/notesSlide6.xml" Id="R3a3a9f012a834b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62b39161648f6" /><Relationship Type="http://schemas.openxmlformats.org/officeDocument/2006/relationships/chart" Target="/ppt/slides/charts/chart1.xml" Id="Ra55776f4f20b4abd" /><Relationship Type="http://schemas.openxmlformats.org/officeDocument/2006/relationships/notesSlide" Target="/ppt/notesSlides/notesSlide7.xml" Id="Rf196095f2a7f4f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1927b4ad2473c" /><Relationship Type="http://schemas.openxmlformats.org/officeDocument/2006/relationships/notesSlide" Target="/ppt/notesSlides/notesSlide8.xml" Id="R5cb7394429d942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0db0701af443f" /><Relationship Type="http://schemas.openxmlformats.org/officeDocument/2006/relationships/notesSlide" Target="/ppt/notesSlides/notesSlide9.xml" Id="R42b9e75798ae4a0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Recall@1</c:v>
          </c:tx>
          <c:spPr>
            <a:solidFill xmlns:a="http://schemas.openxmlformats.org/drawingml/2006/main">
              <a:srgbClr val="0E7C86"/>
            </a:solidFill>
          </c:spPr>
          <c:cat>
            <c:strRef>
              <c:f>'Chart Data'!$A$2:$A$3</c:f>
              <c:strCache>
                <c:ptCount val="2"/>
                <c:pt idx="0">
                  <c:v>DeepRare</c:v>
                </c:pt>
                <c:pt idx="1">
                  <c:v>Exomiser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69.1</c:v>
                </c:pt>
                <c:pt idx="1">
                  <c:v>55.9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C27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6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30FE7-10AA-47B6-9D7C-3DBEF1A3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多智能体大语言模型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6E4F0-4670-42D1-9161-F59BD0A1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在医疗决策中的应用与发展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B8487-7422-46F2-9827-C630A928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F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FB8C6"/>
                </a:solidFill>
                <a:latin typeface="Microsoft YaHei"/>
                <a:ea typeface="Microsoft YaHei"/>
                <a:cs typeface="Microsoft YaHei"/>
              </a:rPr>
              <a:t>论文分享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0ABCB-DF51-4E39-B7E5-9E10C9D5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FB8C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61265-967F-4843-9C92-913D1639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黄锦佳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F9B7B-88C3-495E-B94D-9A34AB7D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BCD0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CD0DE"/>
                </a:solidFill>
                <a:latin typeface="Microsoft YaHei"/>
                <a:ea typeface="Microsoft YaHei"/>
                <a:cs typeface="Microsoft YaHei"/>
              </a:rPr>
              <a:t>2026 年 9 月 17 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B5B8B-4A05-4561-85D9-BCF689EB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BCD0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CD0DE"/>
                </a:solidFill>
                <a:latin typeface="Microsoft YaHei"/>
                <a:ea typeface="Microsoft YaHei"/>
                <a:cs typeface="Microsoft YaHei"/>
              </a:rPr>
              <a:t>MDAgents · KAMAC · DeepRare · MedLA · DoctorAgent-RL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55268-A8C1-450C-9A0D-E7BA4E9A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71625"/>
            <a:ext cx="247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550" b="1">
                <a:solidFill>
                  <a:srgbClr val="5DA7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DA7B0"/>
                </a:solidFill>
                <a:latin typeface="Microsoft YaHei"/>
                <a:ea typeface="Microsoft YaHei"/>
                <a:cs typeface="Microsoft YaHei"/>
              </a:rPr>
              <a:t>AI × MEDICINE</a:t>
            </a:r>
          </a:p>
        </p:txBody>
      </p:sp>
    </p:spTree>
    <p:extLst>
      <p:ext uri="{BB962C8B-B14F-4D97-AF65-F5344CB8AC3E}">
        <p14:creationId xmlns:p14="http://schemas.microsoft.com/office/powerpoint/2010/main" val="8425924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5D846B-8328-43FB-8F21-FE4BDF64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为什么医疗需要多智能体系统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79B3B-E535-4F8A-BCCA-56A73313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FA269-6F5E-4434-9B32-E836405F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2CEED-E4AC-4A44-ACA4-B208E35C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24125"/>
            <a:ext cx="2952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复杂医疗决策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1FA4D-AFE6-440A-A570-E4C235AB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多专科知识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需要共同参与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D1FDD-1774-4461-9DDA-B47FCEA3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4287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数据形式复杂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病历、影像、基因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D56D5-2879-40FC-AF83-1A842FC3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单模型可能遗漏信息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也可能产生幻觉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5905C-EE4F-446B-8099-FB2A42ED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910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4288">
            <a:solidFill>
              <a:srgbClr val="A8D6C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真实医疗本身依赖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团队分工与协作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383CF-4688-48C0-B2FA-755EA974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52800" y="1962150"/>
            <a:ext cx="1266825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9359C-5A6E-4404-BAFF-C8374699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62475" y="3038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1DE01-AA9A-4F25-BA28-16D039C7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572375" y="1962150"/>
            <a:ext cx="1266825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FA863-5A34-44C4-94D2-B28505DE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515225" y="3038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238E2-B8C9-4FC1-9F55-94D9F5EA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52800" y="3095625"/>
            <a:ext cx="1266825" cy="1628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653DB-48A5-4284-BFBF-6C062D4D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62475" y="3038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796E0-E0E1-42B8-95BC-847D1491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572375" y="3095625"/>
            <a:ext cx="1266825" cy="1628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DDE74-B0F9-4EB1-B76B-803071F2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515225" y="3038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8CDC1F-4FC9-4945-BC74-5186D95E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150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多个 AI 分别处理擅长的任务，再共同完成医疗决策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48954-6A5E-4262-9D4C-44D86A95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1998487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4104B3-35D4-4D7C-8E2E-BDB6C021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多智能体医疗系统的基本协作模式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F6FB3-E445-46EF-93F0-E9300761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8313C-5E9E-4C66-979B-E8B54FE4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56501-8E5F-4811-9075-D50B38B4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患者临床数据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DDA5C-F9C4-40E9-8B10-8390F349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5255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全科与专科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FF178-D7E9-4D91-A693-1FB3FC78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241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影像分析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A02AF-FC7C-4045-B3D4-AFD64824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9565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4288">
            <a:solidFill>
              <a:srgbClr val="A8D6C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基因分析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B6BFC-CF27-4C38-8308-FF353DB9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672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医学知识检索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B7040-52CC-4098-A521-DC874BEC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4288">
            <a:solidFill>
              <a:srgbClr val="0E7C86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讨论与相互验证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8B613-7BD0-4D86-8DE9-0D549179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6690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E7C86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综合分析结果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2DBDE-74C1-4DC3-A12B-1521DAF7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8140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诊断或医疗建议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A09C9-452D-4A31-B4DE-0998A51E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31527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5176D-4F9D-44D0-B7FB-860E84F4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09875" y="1733550"/>
            <a:ext cx="0" cy="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0D5B4-2649-4EA7-8985-417D0E43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9875" y="17335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F45FE-ED3D-4C4D-BC92-098D2D23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81350" y="1676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2FAD3-327A-4BB1-A9C4-FCDEE1AB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31527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85FC1-F9B8-4F9B-A903-20CC1059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09875" y="270510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D57480-334C-47FF-A68C-B23339A0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9875" y="27051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0057C-06F0-47A9-9C9C-FBC701EB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81350" y="26479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95A509-802C-4C7D-945C-71E5E7B6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31527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4E260-7925-4A67-9C5F-31779525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9875" y="3152775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969A08-BA48-49FB-91BE-E36C73E3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9875" y="36766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A2C173-C3BC-4FF6-886F-D8D656E5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81350" y="36195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F4E10F-1937-4869-A7E0-0CD60DD5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31527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709A67-BDC8-4CE2-8CF9-F0B8656E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9875" y="3152775"/>
            <a:ext cx="0" cy="1495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590027-7B54-4C0B-A653-7CBE122F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9875" y="46482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C3214C-18DA-403B-9690-4C713A60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81350" y="4591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926236-C845-454A-B4F1-1104C66C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0" y="1733550"/>
            <a:ext cx="5000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BAEB47-A4D5-4E58-A7FC-0E1C1B0D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34063" y="1733550"/>
            <a:ext cx="0" cy="1171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C59E8A-05B7-4054-B7F3-4928D446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34063" y="2905125"/>
            <a:ext cx="5000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24C3DE-FDAE-46A6-B2AA-1A5D4D27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76975" y="2847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B11709-8BD4-4EC0-8902-6F0BD10A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0" y="2705100"/>
            <a:ext cx="5000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077E18-F7A3-4A67-A778-BF12A1B0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34063" y="2705100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12AD68-A6BA-4216-8FB0-3BD5ADB0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34063" y="2905125"/>
            <a:ext cx="5000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E916F4-3997-4DAF-A0E0-3B582F49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76975" y="2847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36CADB-F258-4C46-8542-DCD1719B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0" y="3676650"/>
            <a:ext cx="5000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C5A3F6-20E1-4E2B-ABE7-9115068F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834063" y="2905125"/>
            <a:ext cx="0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776C12-12F7-4FD0-AB9B-66F7F1F4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34063" y="2905125"/>
            <a:ext cx="5000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E8394C-EEA1-495A-AB10-76C8308D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76975" y="2847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13FA24-7806-42FC-8CE4-C3595CC6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0" y="4648200"/>
            <a:ext cx="5000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E8749E-CF0F-43B4-A7F6-126C688F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834063" y="2905125"/>
            <a:ext cx="0" cy="1743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AE7B12-A8B9-4127-8012-F0CBD2BD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34063" y="2905125"/>
            <a:ext cx="5000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EB37EE-BE2B-4772-81E4-CD65E865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76975" y="2847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F9FAC8-E47E-4CE9-B12B-9247B989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429625" y="2257425"/>
            <a:ext cx="76200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07624B-2D15-4C43-9F91-02D751DC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34475" y="22002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F734E3-BC5B-49C8-A9BE-66C00A0A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39375" y="2647950"/>
            <a:ext cx="0" cy="93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F79734-F669-424C-83BD-105CBEAD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182225" y="3524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76832D-1DC9-492B-9878-E95F9831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6593395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30132D-1CE1-4C7E-9749-90A6D7E1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MDAgents：按问题难度选择协作规模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88D7F-B12B-4245-96CC-F9E57E82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ADD87-8AB4-4CF9-9957-7D02A1CB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2FEF3-C199-469A-A184-D37D7ABD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先判断复杂度，再分配协作资源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F62D2-8036-472F-8EC0-94AA119A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医疗问题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59766-6234-428F-8A00-7FB7C33F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9080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0E7C86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复杂度判断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7296C-7A52-4D3A-B266-C84F1D6D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28850" y="30099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5CD5E-3EC9-4BA7-A703-FD886DE1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762250" y="2952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5EA39-88E2-43D8-80D9-40579BC7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428750"/>
            <a:ext cx="2476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低复杂度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单个基层医生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9B671-67B9-473A-947C-09FB73C1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43200"/>
            <a:ext cx="2476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中等复杂度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多学科团队讨论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85F31-C0EB-4999-AABB-A8D50643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57650"/>
            <a:ext cx="2476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高复杂度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多个专业小组分析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D65B7-CB75-472E-B63A-123552A5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9150" y="30099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74A1C-99F4-4B24-886E-D60D38AC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162550" y="1933575"/>
            <a:ext cx="0" cy="1076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BDBDC-DFEF-417C-AE34-485171E6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193357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AA67AA-479E-478D-A2C5-6BB54878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38800" y="1876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37232-40A9-459A-A887-24F559D2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9150" y="30099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437B8-1B04-4907-A355-1B37E611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300990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AB40BE-E060-4010-8985-F42B67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32480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2BFB7E-CBE2-4987-A802-B0D82E57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38800" y="3190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19333-0842-404F-9BFC-0DD63519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9150" y="30099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40BF2-58AD-49CC-B424-DF8DE069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3009900"/>
            <a:ext cx="0" cy="1552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E7CABA-8C2F-4A6A-BE13-B1C51365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456247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42A97E-D362-4507-9C0F-972E7B8E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38800" y="45053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0123F2-CFCA-4AC9-9263-287F2F9A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9080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最终医疗决策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053F7E-31D8-449D-9384-A200D2D2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72450" y="1933575"/>
            <a:ext cx="561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AACAA7-C0E3-4994-A7E5-3973247F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34425" y="1933575"/>
            <a:ext cx="0" cy="1152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B5D105-4232-4FDB-8E7A-5CC461A8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34425" y="3086100"/>
            <a:ext cx="561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D0C755-2A78-4C71-BFC0-942CDA8F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39250" y="30289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0194E8-E36E-4F47-849B-C6F705CD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72450" y="3248025"/>
            <a:ext cx="561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D757C3-7ADE-42C7-BE58-F69F2536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734425" y="308610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AC544F-C999-421B-A625-C8594FC0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34425" y="3086100"/>
            <a:ext cx="561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1B58F8-D6A2-4996-814C-9303AAA8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39250" y="30289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CD970A-0033-4739-AD8B-33E116E9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72450" y="4562475"/>
            <a:ext cx="561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434183-C28D-4AF5-B5B4-1AD4F96D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734425" y="3086100"/>
            <a:ext cx="0" cy="1476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34BB27-042D-4F4A-AE11-4E604E80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34425" y="3086100"/>
            <a:ext cx="561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D4214E-0C55-41A8-B895-9C9BDE59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39250" y="30289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60BEAF-253A-4B03-8CE0-FBFC2C44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150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目标：在诊断准确率与调用成本之间取得平衡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892FE9-6CEA-42C9-BCDA-95D48F1B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3748040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051A7-8593-43DD-950D-88922504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KAMAC：根据知识缺口动态招募专家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87283-E3A0-4952-AFE0-56716539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5C1C1-9991-4596-A02F-FC567FA2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75EB8-87D1-40C8-9B16-E8A66E1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专家团队在讨论过程中逐步扩展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3539D-F498-4288-8EEC-454B41B1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初始专家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独立分析病例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E4F9B-7211-432E-988B-3919BCF0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多轮讨论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交换与修正意见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04296-7D4F-4C46-AC03-BA912E2C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知识缺口检测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现有专家是否足够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3FA59-B408-489B-9628-E738EF4E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4288">
            <a:solidFill>
              <a:srgbClr val="A8D6C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动态招募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相关领域新专家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DE9D0-7F21-4723-9609-C06B9548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33700" y="29051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68C7F-246B-4B1F-BB4C-D284E8B0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562350" y="2847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73851-CA03-4316-8DDC-E8CE2702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0" y="29051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628D4-11B3-490D-B72F-C8BF40D5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343650" y="2847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E6162-1238-4A47-9A4E-DC22E27A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96300" y="29051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B3009-8277-44EE-B794-04ACB1DC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24950" y="2847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ECAC1-DCF3-4935-BC59-4137B679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29850" y="342900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28A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DD9EE-D19B-4200-8BB4-6EA03AFE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667250" y="3657600"/>
            <a:ext cx="556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28A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1DBC13-6722-486E-9D59-B094AD16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667250" y="342900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28A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EADE3B-8A0F-418F-A40B-533C6C1B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3371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8A3B"/>
          </a:solidFill>
          <a:ln xmlns:a="http://schemas.openxmlformats.org/drawingml/2006/main" w="0">
            <a:solidFill>
              <a:srgbClr val="E28A3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6CA25C-DDE0-4A7E-95A8-772F18E5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38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E28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8A3B"/>
                </a:solidFill>
                <a:latin typeface="Microsoft YaHei"/>
                <a:ea typeface="Microsoft YaHei"/>
                <a:cs typeface="Microsoft YaHei"/>
              </a:rPr>
              <a:t>继续讨论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0134C4-FED2-4FD5-9FD4-BF697DA1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00625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主持者综合专家意见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输出最终决策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9D8AD4-435A-444C-A87A-D9E25EAF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3429000"/>
            <a:ext cx="0" cy="785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DF3A57-C0EE-47FC-8EBD-5CDA186D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96000" y="4214813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3B4542-BFC8-4EC8-9840-BD3FEB16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214813"/>
            <a:ext cx="0" cy="785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3202A4-B55C-415A-AF3C-DD3BE3C6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038850" y="4943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2934D5-DD0C-4377-968C-82653069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没有知识缺口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9EF245-F8C9-4AB8-AE72-52CAAAA2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6944794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8515B4-B2F5-4146-93F5-464C6117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DeepRare：工具增强的罕见病诊断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E3900-FBB9-4FC9-A614-A614D5D4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0820C-DF32-47EB-A127-64F0F48A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88FC2-9704-498A-9B58-ECBEC773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临床文本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33D06-E2E6-43BF-91CA-B3E97012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HPO 表型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05B2B-D5D7-4D88-8BD7-2E9CB6C1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4288">
            <a:solidFill>
              <a:srgbClr val="A8D6C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基因检测与 VCF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B0290-F3D9-493F-BA45-CD0E12A4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24075"/>
            <a:ext cx="2476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DeepRare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中央推理与工具调度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85B9F-5CDE-4A5C-983F-E11E0071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19350" y="17526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EA5D4-0654-475E-92CC-35F0F3A6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28925" y="1752600"/>
            <a:ext cx="0" cy="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C32A4-FC8C-41FC-B37F-CE98DBEA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28925" y="271462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F017B-4BCF-48CA-8212-883A8E5D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81350" y="2657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9EA00-6960-48CE-A498-DE9B3E89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19350" y="257175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AFB08-BA8C-4637-A01C-F5DFF665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28925" y="2571750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C09DD-6AF7-4A0A-84B5-7A061F2C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28925" y="271462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CA62E-F126-4A77-93C1-3BB2BEEB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81350" y="2657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DCEF6-1B29-4CCD-9B0B-552BE905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19350" y="33909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98CD8-315A-4B20-AC4D-ED5C625F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28925" y="2714625"/>
            <a:ext cx="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16E6E-AF45-4CA5-B824-DC8CBA87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28925" y="271462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E58308-2D19-4F10-9216-A9363BB5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81350" y="2657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164596-9889-4515-96E7-73488F72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05250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2EB"/>
          </a:solidFill>
          <a:ln xmlns:a="http://schemas.openxmlformats.org/drawingml/2006/main" w="14288">
            <a:solidFill>
              <a:srgbClr val="D9C9AF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40+ 专业工具与知识来源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表型 · 基因 · 论文 · 病例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FB813-37F8-4761-9E71-15D22B69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76750" y="3305175"/>
            <a:ext cx="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441C01-7D45-45FA-9EC3-83A5EFD6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32480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3AB81F-256E-484C-9382-14EAB08C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37160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生成初步诊断假设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8FC59E-A088-4D86-8829-27E10FFE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3840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自我反思与重新检索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4D0843-15B1-4625-978A-737AC75D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0520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验证或否定假设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AA2B35-B1E0-49E0-AC60-E2759306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715000" y="1704975"/>
            <a:ext cx="1000125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31D1E6-B5EA-49F4-815A-CD5ABC24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57975" y="1647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2E57C9-3960-4F5F-AEE3-378513F6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62875" y="20383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B4BEE2-14BC-46E7-857A-8041246B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705725" y="2381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747ECF-8D23-4300-9F01-CDF23570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62875" y="31051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54E710-E9D5-44E9-8EF4-94E0B6EE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705725" y="3448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F7B101-3439-4EBA-ACFC-71A6244C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486525" y="38385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28A3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97D8F9-7D72-4BF5-96D7-B0A22EB7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486525" y="2771775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28A3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4CD450-4114-4414-8B19-C15D78F0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86525" y="27717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28A3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6808C7-E7E6-461F-9BFB-028D51E0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57975" y="2714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8A3B"/>
          </a:solidFill>
          <a:ln xmlns:a="http://schemas.openxmlformats.org/drawingml/2006/main" w="0">
            <a:solidFill>
              <a:srgbClr val="E28A3B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A6FFAB-963E-4E69-A322-333A244E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2000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4288">
            <a:solidFill>
              <a:srgbClr val="0E7C86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候选疾病排名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推理过程与证据链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89EA2C-BE87-4A90-9CDB-3A31EA61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810625" y="2886075"/>
            <a:ext cx="809625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FEE8C3-F775-4AE4-A09D-95E217BF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2828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0A2BF0-AC08-4986-8926-17F8CC48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768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模型、医学工具和外部证据共同参与诊断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502FA4-DFDC-4765-8E78-5FBBC3D9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12479050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2AD54-5D99-4D31-BE3E-958D7F65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DeepRare 的实验表现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62309-C597-456A-8452-2D238337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4818C-E2AB-465C-ABE6-99863549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95AF8-0ED9-453A-A628-D79C2C87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4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82F73-7A3D-466E-9B34-49B55629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rPr>
              <a:t>个数据集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A6E7C-7A2D-40C8-A522-7030E9D0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38112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6A790-C6AB-478F-BF24-40C302E2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9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rPr>
              <a:t>个医学专科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212D0-9EC8-4940-BA59-B7C6493F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81125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2,919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59B59-4867-46E5-B91A-4F348FB7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9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rPr>
              <a:t>种罕见病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1F3E7-6A94-47BF-BEB8-5621E83B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95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多模态病例 Recall@1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286500" y="1714500"/>
          <a:ext xmlns:a="http://schemas.openxmlformats.org/drawingml/2006/main" cx="49530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5776f4f20b4abd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B150F-DB2E-4F08-807E-A1C8C845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57.18%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05329-F11F-4D76-9849-A163DFB9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71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rPr>
              <a:t>HPO 任务平均 Recall@1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784FDC-A319-4E53-A43A-6EB1BD23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95.4%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D7B8A-5CF1-43B1-81E7-3DB6AAE9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rPr>
              <a:t>专家认可推理链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4F4100-FAA1-414E-BDAE-F29F157D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外部工具与证据链提升了罕见病诊断的可用性，但临床使用仍需医生监督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76E9C-FB97-4ECB-8F7F-B5D14DAA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5884988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1A74F6-D3E8-43B2-B75F-D9231FC7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MedLA：用逻辑树定位推理错误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B94CE-F27A-4D89-A0C9-40D5792B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A2979-E81E-40E9-A4DD-D7FC26EA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F531A-F66E-46FC-A34D-FCE67A10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最小逻辑单元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8C3CC-AC11-45CB-9218-01FAE5A3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大前提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细菌感染常伴随白细胞升高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B5A34-8C80-40F3-9580-1CB2C188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小前提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患者白细胞明显升高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0DFD5-DD48-4CE7-9C8F-01D8D543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患者可能存在细菌感染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B48FD-93E2-4AEE-A6BE-483A57DE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038350" y="23241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05810-F724-44D1-958F-4DD145A8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38350" y="2324100"/>
            <a:ext cx="0" cy="272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B078B-8CB0-410E-9FAA-F7498238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9600" y="50482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8C214-7926-4ECF-A674-80F9EC07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2450" y="49911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37BA5-DFC5-4BE5-A2D1-EB27E9ED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038350" y="35433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6A06D-2142-4FA4-948E-096E21C0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38350" y="3543300"/>
            <a:ext cx="0" cy="1504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D77780-AB10-4218-9EC1-E8414806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9600" y="50482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5D8A8-C8C4-4B04-8834-95A1C222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2450" y="49911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BE24BA-8B70-42F5-8B63-15E1F54F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257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多个智能体的逻辑树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B11BB-413E-4128-BE56-3AC7D23B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161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E3F83-0DD5-4C16-9F30-5D73A5BC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医学规律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7EB564-6F93-4D47-BB31-E26A1C24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患者事实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7C0111-F437-4448-BECA-E54D7D7F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8120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中间推断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739863-C1E8-429E-969C-747FB976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1475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14288">
            <a:solidFill>
              <a:srgbClr val="E3A9A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95757"/>
                </a:solidFill>
                <a:latin typeface="Microsoft YaHei"/>
                <a:ea typeface="Microsoft YaHei"/>
                <a:cs typeface="Microsoft YaHei"/>
              </a:rPr>
              <a:t>冲突节点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A039C3-DB14-4140-9E14-AAC187CF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81750" y="2305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2F62AE-F31C-4069-B1F0-C90F9AFD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96100" y="2247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F18968-86FF-49A4-9B3B-996EEFFA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81750" y="33242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BB886C-B221-4A02-AF8B-22DC0C65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67500" y="2305050"/>
            <a:ext cx="0" cy="1019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07F335-56D1-4345-A7E2-781A971E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23050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469856-BA0B-4F35-9F3B-0309C5C6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96100" y="2247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25E5C1-3507-413A-8DEB-2D1B88D5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096250" y="2305050"/>
            <a:ext cx="47625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1961CB-2345-4CAA-8D4D-94FFCBC5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39100" y="2667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E7A4A9-807E-4365-B6C9-32B51965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1475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4288">
            <a:solidFill>
              <a:srgbClr val="A8D6C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可信度评估与多轮讨论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修正前提、遗漏和冲突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C1732C-51D0-4DFC-9C60-7AD712F0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0" y="4038600"/>
            <a:ext cx="66675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C957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8B2FBC-8806-412F-BDDA-16DF60BD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82100" y="4152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5757"/>
          </a:solidFill>
          <a:ln xmlns:a="http://schemas.openxmlformats.org/drawingml/2006/main" w="0">
            <a:solidFill>
              <a:srgbClr val="C9575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28888B-31CD-4D6C-A620-805B7D0A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334625" y="34861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B8A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2B0E1D-FABF-4590-B546-25911FC1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944100" y="34861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B8A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04E237-91EF-4E4C-ACD8-D9D2A702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944100" y="272415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B8A6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2B5A64-B20E-4325-8104-DB381BF7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715500" y="27241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B8A6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2E04A2-1554-4EA8-8331-84035599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9658350" y="2667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B8A66"/>
          </a:solidFill>
          <a:ln xmlns:a="http://schemas.openxmlformats.org/drawingml/2006/main" w="0">
            <a:solidFill>
              <a:srgbClr val="2B8A6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E85283-C573-44C0-AC72-1DD0D8BA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245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比较推理步骤，而不只比较最终答案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8E9361-2042-4D14-A427-F4D8D4D8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17655720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E4F649-8172-4ECA-B4E4-E48FBB50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DoctorAgent-RL：通过强化学习实现主动问诊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8380C-65CA-43AA-9EE4-E741250B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983F1-D86E-4788-9994-0D61F0DD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566E8-9B22-4DE1-8FAF-EEF4317D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传统系统的问题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D8D6B-A397-4ECF-AA3E-FCB4574A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333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患者难以一次说清所有症状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单轮问答容易缺少关键信息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传统多轮模型主要模仿既有对话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286A7-2C0B-49A4-A2C3-4FE0A60C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5745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患者智能体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模拟真实表达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5AC53-3753-4D56-9E69-34E83339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5745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医生智能体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选择下一步问题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B9C6E-0ABD-4E41-BA4B-AC5BFFC8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5745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问诊评估器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提供多维奖励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CE596-FD31-4CC4-8F51-3FD4AE5E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19875" y="29146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7B020-2918-462E-9E58-A3521793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562725" y="28575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1AD26E-3285-4317-83D3-F86D5DE2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29475" y="28575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EF261-1E6B-443B-8EEB-243D0DB4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86875" y="29146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47B77-93A0-4E6D-BBA0-4305211D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848850" y="28575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6508D-05C1-454D-939D-66561639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10875" y="3371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28A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7016C-9DED-426F-BF7C-19764743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286750" y="3600450"/>
            <a:ext cx="252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28A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F5787-D46B-4AE6-AD74-576F6F31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86750" y="3371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28A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9A561-DD5A-48EE-9D49-9ABFE3D5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3314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8A3B"/>
          </a:solidFill>
          <a:ln xmlns:a="http://schemas.openxmlformats.org/drawingml/2006/main" w="0">
            <a:solidFill>
              <a:srgbClr val="E28A3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DA21B-DBE8-40EA-AA8A-7C49F025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提问与回答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22280-0588-4EE8-9629-FE007778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29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E28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8A3B"/>
                </a:solidFill>
                <a:latin typeface="Microsoft YaHei"/>
                <a:ea typeface="Microsoft YaHei"/>
                <a:cs typeface="Microsoft YaHei"/>
              </a:rPr>
              <a:t>奖励反馈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8A8C81-314A-460B-AD1E-D79A4676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91150"/>
            <a:ext cx="689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学习重点：如何通过提问逐步找到答案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E8CFF6-FD1C-4753-AEAD-4EAD3341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531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论文报告完全诊断匹配率约 70%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4443D3-1BFA-4F13-9167-7D31FA1B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1113858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2026-09-17T05:24:24.0690000Z</dcterms:created>
  <dcterms:modified xsi:type="dcterms:W3CDTF">2026-09-17T05:24:24.0690000Z</dcterms:modified>
</coreProperties>
</file>