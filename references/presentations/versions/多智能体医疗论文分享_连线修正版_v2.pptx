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955702212a4c26" /><Relationship Type="http://schemas.openxmlformats.org/officeDocument/2006/relationships/extended-properties" Target="/docProps/app.xml" Id="R320de46511fc457c" /><Relationship Type="http://schemas.openxmlformats.org/officeDocument/2006/relationships/officeDocument" Target="/ppt/presentation.xml" Id="R6e48a09623c643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e91ae21b5547ff"/>
  </p:sldMasterIdLst>
  <p:notesMasterIdLst>
    <p:notesMasterId xmlns:r="http://schemas.openxmlformats.org/officeDocument/2006/relationships" r:id="Rf770ce34ab6d4b8b"/>
  </p:notesMasterIdLst>
  <p:sldIdLst>
    <p:sldId xmlns:r="http://schemas.openxmlformats.org/officeDocument/2006/relationships" id="256" r:id="R5a479bdadb894864"/>
    <p:sldId xmlns:r="http://schemas.openxmlformats.org/officeDocument/2006/relationships" id="257" r:id="Rb757639bfec249b8"/>
    <p:sldId xmlns:r="http://schemas.openxmlformats.org/officeDocument/2006/relationships" id="258" r:id="Rbfa7a152b1c54002"/>
    <p:sldId xmlns:r="http://schemas.openxmlformats.org/officeDocument/2006/relationships" id="259" r:id="R3232c5b0c2ee4f7a"/>
    <p:sldId xmlns:r="http://schemas.openxmlformats.org/officeDocument/2006/relationships" id="260" r:id="Rd68e19eab4654f9c"/>
    <p:sldId xmlns:r="http://schemas.openxmlformats.org/officeDocument/2006/relationships" id="261" r:id="R4bf0eef76da14fea"/>
    <p:sldId xmlns:r="http://schemas.openxmlformats.org/officeDocument/2006/relationships" id="262" r:id="R30b32984f106405b"/>
    <p:sldId xmlns:r="http://schemas.openxmlformats.org/officeDocument/2006/relationships" id="263" r:id="R9ab5ed06139e4724"/>
    <p:sldId xmlns:r="http://schemas.openxmlformats.org/officeDocument/2006/relationships" id="264" r:id="Rb7e4dd9ccc4143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688c1df7c4d7b" /><Relationship Type="http://schemas.openxmlformats.org/officeDocument/2006/relationships/slideMaster" Target="/ppt/slideMasters/slideMaster1.xml" Id="R80e91ae21b5547ff" /><Relationship Type="http://schemas.openxmlformats.org/officeDocument/2006/relationships/notesMaster" Target="/ppt/notesMasters/notesMaster1.xml" Id="Rf770ce34ab6d4b8b" /><Relationship Type="http://schemas.openxmlformats.org/officeDocument/2006/relationships/presProps" Target="/ppt/presProps.xml" Id="R5d5cc36072544f85" /><Relationship Type="http://schemas.openxmlformats.org/officeDocument/2006/relationships/tableStyles" Target="/ppt/tableStyles.xml" Id="R29023fd48f7f4ef6" /><Relationship Type="http://schemas.openxmlformats.org/officeDocument/2006/relationships/slide" Target="/ppt/slides/slide1.xml" Id="R5a479bdadb894864" /><Relationship Type="http://schemas.openxmlformats.org/officeDocument/2006/relationships/slide" Target="/ppt/slides/slide2.xml" Id="Rb757639bfec249b8" /><Relationship Type="http://schemas.openxmlformats.org/officeDocument/2006/relationships/slide" Target="/ppt/slides/slide3.xml" Id="Rbfa7a152b1c54002" /><Relationship Type="http://schemas.openxmlformats.org/officeDocument/2006/relationships/slide" Target="/ppt/slides/slide4.xml" Id="R3232c5b0c2ee4f7a" /><Relationship Type="http://schemas.openxmlformats.org/officeDocument/2006/relationships/slide" Target="/ppt/slides/slide5.xml" Id="Rd68e19eab4654f9c" /><Relationship Type="http://schemas.openxmlformats.org/officeDocument/2006/relationships/slide" Target="/ppt/slides/slide6.xml" Id="R4bf0eef76da14fea" /><Relationship Type="http://schemas.openxmlformats.org/officeDocument/2006/relationships/slide" Target="/ppt/slides/slide7.xml" Id="R30b32984f106405b" /><Relationship Type="http://schemas.openxmlformats.org/officeDocument/2006/relationships/slide" Target="/ppt/slides/slide8.xml" Id="R9ab5ed06139e4724" /><Relationship Type="http://schemas.openxmlformats.org/officeDocument/2006/relationships/slide" Target="/ppt/slides/slide9.xml" Id="Rb7e4dd9ccc4143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6f0c59faf41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cc162d39e84ea9" /><Relationship Type="http://schemas.openxmlformats.org/officeDocument/2006/relationships/notesMaster" Target="/ppt/notesMasters/notesMaster1.xml" Id="R8d195f73c2d841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3d5d3d764434a" /><Relationship Type="http://schemas.openxmlformats.org/officeDocument/2006/relationships/notesMaster" Target="/ppt/notesMasters/notesMaster1.xml" Id="R7f8728fdf4834b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51c4aa98a04884" /><Relationship Type="http://schemas.openxmlformats.org/officeDocument/2006/relationships/notesMaster" Target="/ppt/notesMasters/notesMaster1.xml" Id="R45e02b7fa124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c9b61ad9764564" /><Relationship Type="http://schemas.openxmlformats.org/officeDocument/2006/relationships/notesMaster" Target="/ppt/notesMasters/notesMaster1.xml" Id="R9895a11ea88744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8a9785ab1e4b1d" /><Relationship Type="http://schemas.openxmlformats.org/officeDocument/2006/relationships/notesMaster" Target="/ppt/notesMasters/notesMaster1.xml" Id="Raf0a6e56bc7846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acec9250b4a52" /><Relationship Type="http://schemas.openxmlformats.org/officeDocument/2006/relationships/notesMaster" Target="/ppt/notesMasters/notesMaster1.xml" Id="R95188459b31c4f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4be3b8b80343e0" /><Relationship Type="http://schemas.openxmlformats.org/officeDocument/2006/relationships/notesMaster" Target="/ppt/notesMasters/notesMaster1.xml" Id="R9121f8c66bc64e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ea10e82a14e63" /><Relationship Type="http://schemas.openxmlformats.org/officeDocument/2006/relationships/notesMaster" Target="/ppt/notesMasters/notesMaster1.xml" Id="R8187572b52584e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eaa2237eaf4180" /><Relationship Type="http://schemas.openxmlformats.org/officeDocument/2006/relationships/notesMaster" Target="/ppt/notesMasters/notesMaster1.xml" Id="Rfebcd59b156343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资料来源：用户提供的论文与内容规划文档。</a:t>
            </a:r>
          </a:p>
          <a:p xmlns:a="http://schemas.openxmlformats.org/drawingml/2006/main">
            <a:r>
              <a:t>开场说明本次分享关注多智能体医疗系统的协作机制。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资料来源：综合用户提供的五篇论文。</a:t>
            </a:r>
          </a:p>
          <a:p xmlns:a="http://schemas.openxmlformats.org/drawingml/2006/main">
            <a:r>
              <a:t>强调多智能体的动机来自医学知识跨度、数据复杂性和临床协作结构。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资料来源：用户提供的内容规划文档。</a:t>
            </a:r>
          </a:p>
          <a:p xmlns:a="http://schemas.openxmlformats.org/drawingml/2006/main">
            <a:r>
              <a:t>本页只展示整体协作流程。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资料来源：MDAgents: An Adaptive Collaboration of LLMs for Medical Decision-Making, NeurIPS 2024。</a:t>
            </a:r>
          </a:p>
          <a:p xmlns:a="http://schemas.openxmlformats.org/drawingml/2006/main">
            <a:r>
              <a:t>论文根据低、中、高复杂度选择不同协作结构。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 Knowledge-driven Adaptive Collaboration of LLMs for Enhancing Medical Decision-making, EMNLP 2025。</a:t>
            </a:r>
          </a:p>
          <a:p xmlns:a="http://schemas.openxmlformats.org/drawingml/2006/main">
            <a:r>
              <a:t>重点讲知识缺口检测和讨论中招募新专家。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本页合并系统能力和诊断流程。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图表比较 168 个多模态病例中的 Recall@1。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资料来源：MedLA: A Logic-Driven Multi-Agent Framework for Complex Medical Reasoning with Large Language Models, AAAI 2026。</a:t>
            </a:r>
          </a:p>
          <a:p xmlns:a="http://schemas.openxmlformats.org/drawingml/2006/main">
            <a:r>
              <a:t>重点讲大前提、小前提、结论和前提级冲突定位。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资料来源：Real-World Doctor Agent with Proactive Consultation through Multi-Agent Reinforcement Learning, arXiv:2505.19630v4。</a:t>
            </a:r>
          </a:p>
          <a:p xmlns:a="http://schemas.openxmlformats.org/drawingml/2006/main">
            <a:r>
              <a:t>介绍患者智能体、医生智能体和问诊评估器的互动。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dfff8683945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a1f280de404220" /><Relationship Type="http://schemas.openxmlformats.org/officeDocument/2006/relationships/slideLayout" Target="/ppt/slideLayouts/slideLayout1.xml" Id="R92abbbdece2f47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abbbdece2f47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4b06ddcd84f6f" /><Relationship Type="http://schemas.openxmlformats.org/officeDocument/2006/relationships/notesSlide" Target="/ppt/notesSlides/notesSlide1.xml" Id="R0473f8ca8a594a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1daf24d1f49b8" /><Relationship Type="http://schemas.openxmlformats.org/officeDocument/2006/relationships/notesSlide" Target="/ppt/notesSlides/notesSlide2.xml" Id="Rc175033de7c743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775810f1f4b94" /><Relationship Type="http://schemas.openxmlformats.org/officeDocument/2006/relationships/notesSlide" Target="/ppt/notesSlides/notesSlide3.xml" Id="Ref1603d026d445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dd219d5e34fff" /><Relationship Type="http://schemas.openxmlformats.org/officeDocument/2006/relationships/notesSlide" Target="/ppt/notesSlides/notesSlide4.xml" Id="R318499e24ff64c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f1759dcac45a6" /><Relationship Type="http://schemas.openxmlformats.org/officeDocument/2006/relationships/notesSlide" Target="/ppt/notesSlides/notesSlide5.xml" Id="Rc17c9143d36d4c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17e58a3c143df" /><Relationship Type="http://schemas.openxmlformats.org/officeDocument/2006/relationships/notesSlide" Target="/ppt/notesSlides/notesSlide6.xml" Id="Ra5b8ce7db089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97853f6034e2b" /><Relationship Type="http://schemas.openxmlformats.org/officeDocument/2006/relationships/chart" Target="/ppt/slides/charts/chart1.xml" Id="R139c3cc0b5cb44df" /><Relationship Type="http://schemas.openxmlformats.org/officeDocument/2006/relationships/notesSlide" Target="/ppt/notesSlides/notesSlide7.xml" Id="R6c2e230152a44f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1f60daa5240a9" /><Relationship Type="http://schemas.openxmlformats.org/officeDocument/2006/relationships/notesSlide" Target="/ppt/notesSlides/notesSlide8.xml" Id="R9142e111976344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ac588fc52462a" /><Relationship Type="http://schemas.openxmlformats.org/officeDocument/2006/relationships/notesSlide" Target="/ppt/notesSlides/notesSlide9.xml" Id="Rbe26e88a8b8441c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Recall@1</c:v>
          </c:tx>
          <c:spPr>
            <a:solidFill xmlns:a="http://schemas.openxmlformats.org/drawingml/2006/main">
              <a:srgbClr val="0E7C86"/>
            </a:solidFill>
          </c:spPr>
          <c:cat>
            <c:strRef>
              <c:f>'Chart Data'!$A$2:$A$3</c:f>
              <c:strCache>
                <c:ptCount val="2"/>
                <c:pt idx="0">
                  <c:v>DeepRare</c:v>
                </c:pt>
                <c:pt idx="1">
                  <c:v>Exomiser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69.1</c:v>
                </c:pt>
                <c:pt idx="1">
                  <c:v>55.9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C27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6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AE1F0-5C2D-4AFE-8E69-3874CF27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多智能体大语言模型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60B40-2F29-479E-88F6-3E97FA5A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在医疗决策中的应用与发展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63D-C336-4CA3-B960-529F82A1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rPr>
              <a:t>论文分享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A268D-0D4C-4AA5-B80F-1C723430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B8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7FB7F-3657-4822-8E20-6A1CC584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黄锦佳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5E8E6-041E-4869-AAE8-8F2590C4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2026 年 9 月 17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ECFDF-F62C-45A5-B11F-CC9F5BC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MDAgents · KAMAC · DeepRare · MedLA · DoctorAgent-RL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F24DE-2267-41DF-B9CB-E92DB79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rPr>
              <a:t>AI × MEDICINE</a:t>
            </a:r>
          </a:p>
        </p:txBody>
      </p:sp>
    </p:spTree>
    <p:extLst>
      <p:ext uri="{BB962C8B-B14F-4D97-AF65-F5344CB8AC3E}">
        <p14:creationId xmlns:p14="http://schemas.microsoft.com/office/powerpoint/2010/main" val="1148922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642FF-F41A-4720-8529-C2FB9359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为什么医疗需要多智能体系统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43B05-DD85-4A76-9CBE-A8246E30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4A36C-4CF0-41D6-845F-1AC5BE37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589B9-82EE-4D1D-A919-72763304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复杂医疗决策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D37FE-A5F0-4AC0-9440-6139F1C6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多专科知识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需要共同参与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3EF69-1C34-4792-B3FA-BE2AEA76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数据形式复杂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病历、影像、基因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964CC-D493-477D-8793-7602CF72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单模型可能遗漏信息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也可能产生幻觉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F54FE-EC67-4F73-89A7-5508ECCC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真实医疗本身依赖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团队分工与协作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F1E14-F484-4683-8070-1EC5426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52800" y="1962150"/>
            <a:ext cx="1266825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BFF9C-F578-4333-B31F-C413099A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6247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DB044-10AE-45D3-BE47-20FA711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572375" y="1962150"/>
            <a:ext cx="1266825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A054F-6967-42A8-AEE4-1F05517B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1522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F81C9-0FE7-4F04-BC5B-6FC6EF0B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52800" y="3095625"/>
            <a:ext cx="12668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DCD81-E5C5-48BD-AA64-92FA089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6247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6FFE2-96BF-4EF0-8993-75145639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572375" y="3095625"/>
            <a:ext cx="1266825" cy="1628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402CD-2CE6-481E-98A9-2EDC6E53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515225" y="3038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AE807-CCDC-4069-A6CE-275881E4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 AI 分别处理擅长的任务，再共同完成医疗决策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A313C-EAEC-4ABF-BB7D-B0AE32AC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525316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8806DE-48D0-4DE2-8A9C-924F5321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多智能体医疗系统的基本协作模式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A59A6-B163-4B6B-BB42-4736299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0A2AB-A9DC-4E17-8171-8A25ACA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A2AD2-B06F-454B-B893-DE820E5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患者临床数据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98472-F459-4AB0-B914-476BCAE7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全科与专科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290A9-4DE1-438F-855D-EBD714C0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影像分析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57F3A-327D-4E36-809F-3534EBCA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基因分析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24034-FF70-4B18-9C11-D057989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医学知识检索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C9A25-7AD6-4B3E-8BCF-438BA34A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讨论与相互验证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8E0D7-97BA-4A5B-8CD2-0EE34B40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综合分析结果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7EF09-8CC1-4817-A424-493E5BBF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814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诊断或医疗建议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881EB-0E49-4A0B-B59B-689FBD72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7117E-5B36-487D-830A-FE46620E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09875" y="1733550"/>
            <a:ext cx="0" cy="1419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FAD17-90EB-4C57-A60C-B1406C0A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17335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022DD-1DEF-4979-B09E-0B6304B6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1676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D3E49-C056-482B-B871-BB88D95F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FBB7F-501F-4D4F-B6C2-7D76C008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09875" y="27051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5BFB7-CD05-4E4D-8D95-FF31765E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27051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7A45F-9DA0-46DB-8DFD-B4F5CB0C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47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3ADF8-E72B-4560-86E6-7A3B29F7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1C5C4-576C-4564-901B-2B7F4E68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1527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5FCFD-2388-4648-916F-188014A5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6766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AFB9C-1800-4045-BDA3-9B23C420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3619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FD22A-1D70-4139-8A7C-EC28C25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81250" y="315277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74DD5E-0F8D-4A96-8118-3C49FC3A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3152775"/>
            <a:ext cx="0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DA408-0475-4BA0-B79B-BD5CD136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46482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D3291-8EA0-4271-8434-200E0FA7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4591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57ACC-00F9-4C09-A174-3A16EEC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173355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2F3C5D-730B-4399-B6DF-E7E667CB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1733550"/>
            <a:ext cx="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45889-721E-42E1-95B1-0092BCBD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56FB89-7DF1-4AD5-B8C6-F0AB93B9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5BA798-88ED-40E4-83E5-8CB94F4B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270510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0CAD87-9487-432A-8E06-C39CF22E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70510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108C91-A22E-4DC5-9B4F-FD119B2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F562F8-18E2-4BDA-A68A-FF60CDCC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9E9A20-DF0B-4467-B4AC-E71FBBC5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367665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9749EF-695E-4F36-9493-180CE4B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34063" y="2905125"/>
            <a:ext cx="0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03CF62-4214-491C-A392-264950D2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23AF67-3ABB-4816-960A-83E626B2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8B3CEF-58DB-4596-B878-464BC905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4648200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9056BB-2BB6-466A-89EA-A186198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34063" y="2905125"/>
            <a:ext cx="0" cy="1743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89C1E1-BA24-4D39-BFE3-9EFEB1AE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34063" y="2905125"/>
            <a:ext cx="5000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3A73E0-7BF9-4F8E-B758-09B45241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76975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0F5BC8-7FDE-4F90-9940-1C750225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429625" y="2257425"/>
            <a:ext cx="7620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F4AEBB-B0FC-4B85-85A0-01C8CCAB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34475" y="2200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F147C7-82C3-4F6D-9CE8-95C362FB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39375" y="2647950"/>
            <a:ext cx="0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AEBA35-F682-4F30-9936-92F9E328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182225" y="3524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134A61-2CF7-4D72-8E72-DA741528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4466318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948966-0BF1-4A99-9C25-2A0349DC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MDAgents：按问题难度选择协作规模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8B6AA-D54D-4D18-A6BC-1D44A1D5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746EA-F481-4075-A84F-FB1E1808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5D5F8-FD05-4EC8-B1DB-44B3EEB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先判断复杂度，再分配协作资源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ABDD7-D1A3-4E35-B2E3-BE26AE12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57998-D1B5-48E5-9E6E-B5460D3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复杂度判断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D8EF2-35AD-4E0A-A799-069CC081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28850" y="3009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FBABF-BA97-40EB-B0BB-DD655529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62250" y="2952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9F01C-94E9-4BF0-903A-8008CC5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287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低复杂度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单个基层医生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8238D-21B1-4B26-B2FA-FD139A50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4320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中等复杂度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多学科团队讨论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A3C49-D6A1-4E09-9C48-C0847D58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576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高复杂度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多个专业小组分析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FEA2E-F935-4076-A33E-09AA009C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009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3708E-90B9-43C0-8433-7EBDC3C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62550" y="1933575"/>
            <a:ext cx="0" cy="1076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07B910-89A0-460B-B754-7E08F5F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19335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9B72B-5078-4CDA-A2F5-0168BD33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1876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D3E5C-4CB4-4F70-AABC-8084F97B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009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9BE45-E8EF-4829-A7D2-854C10D9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099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2E3D7-6DEF-43FE-9212-CCEA00FC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2480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30208-8F1A-4DB1-AE0A-DC867C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3190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26656-29A5-4FB2-BC08-AFE28192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0099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6669A-B6AF-460D-B16B-0909671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09900"/>
            <a:ext cx="0" cy="155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1B553-E6ED-4FEE-804B-7E486960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624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7522D-EB63-44F7-AC7D-FB866111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38800" y="4505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3916E-AF03-4AC9-B047-1379B7DA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最终医疗决策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183C6-069B-428F-B261-338DA3F8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1933575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AC602-699D-4812-95BA-38C5DED9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1933575"/>
            <a:ext cx="0" cy="1152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BBF75B-54CF-4D08-8466-02BD9C1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30861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B41A0-C3F0-46B8-A3B0-D5DF9E22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028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B98D6B-547E-456E-92AE-E5632FF4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3248025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B0DA9-BF1B-48A4-897F-8B4ABF1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34425" y="30861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7C8AF2-064A-4A0B-A266-22A8FD8C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30861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57AFA5-4131-478A-BA45-DBF284F0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028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A5CB13-1D61-421C-B27C-6BD1DD25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450" y="4562475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4F7391-2B4F-490C-ACAB-31E05F70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734425" y="3086100"/>
            <a:ext cx="0" cy="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E429BE-4EFF-487C-A1AD-1BE0D4D3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34425" y="3086100"/>
            <a:ext cx="561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55B6B5-800F-40C3-AEEC-105EE51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028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749E0F-9CEC-4769-A422-8C9DAB1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目标：在诊断准确率与调用成本之间取得平衡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6B4A6C-0A17-42BF-AFF0-7724F020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23218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CAA59-B4A9-4CF6-A405-7795612D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KAMAC：根据知识缺口动态招募专家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51CA0-3C28-4324-B4A4-A4024249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0C7AC-EC37-40D2-B61D-D7986FAE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79D8C-8FC8-420A-B36F-130566E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专家团队在讨论过程中逐步扩展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BBDDC-4AE3-4E36-881F-B9071DDF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初始专家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独立分析病例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34EF3-76DE-4EB5-937B-A265F56E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交换与修正意见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F1226-9BD9-4F2C-8AE9-75A783BD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知识缺口检测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现有专家是否足够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4597B-F950-44B6-B1F1-78AA2281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动态招募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相关领域新专家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D4D52-DDDB-42DC-993E-0FDFB94E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2905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E749D-3F79-469F-9D8B-001B2F15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6235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6F294-96DE-4B20-87C1-6F5C8B12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0" y="2905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055A8-D8F2-4F01-A27D-2619F10C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4365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A5ACA-B40C-4657-8A6E-76EB1B1B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96300" y="29051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4D024-C0BE-42A1-89FC-FC47517C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24950" y="2847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5C011-3FC5-4E29-A677-7F93EC16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29850" y="34290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257F8-FCA2-4E3C-A794-9BE58323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67250" y="36576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A3F42-E0D4-42A3-AF2C-C2F3B25C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67250" y="342900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5CEDE-8560-4A95-9829-FA55FAF2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371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8A3B"/>
          </a:solidFill>
          <a:ln xmlns:a="http://schemas.openxmlformats.org/drawingml/2006/main" w="0">
            <a:solidFill>
              <a:srgbClr val="E28A3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4BA69-AEED-418F-B3A7-2CECF0B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继续讨论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7D050-F988-45EB-AF4A-D77C0C8D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主持者综合专家意见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输出最终决策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58AB9-F20E-4E7E-BB4B-4AF9C9F0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3429000"/>
            <a:ext cx="0" cy="785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946EF-C60E-463C-9B35-A9C2D28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4214813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1F21E-E11F-4E71-BF06-A490901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214813"/>
            <a:ext cx="0" cy="7858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43749-4C96-48BD-8FF1-62250F68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3885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5364FA-3599-43F7-9208-1EAC5AC9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没有知识缺口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DF077-6370-400A-9601-832C2F5D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6640966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D084A6-91C5-4D99-9041-9C0C3157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DeepRare：工具增强的罕见病诊断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C8CF2-5D39-4886-B63F-2F59A09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D53A2-67EE-4E58-81F8-434270F2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6EA90-EB3A-45F4-9E89-34976C6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临床文本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9A658-D4A7-4A16-9E44-64CD067F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HPO 表型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20684-6B2C-4DA4-8C9E-DD91A497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基因检测与 VCF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C2F42-8549-4FB9-84C9-1390C2FD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24075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DeepRare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中央推理与工具调度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DBA2D-9DA4-4F47-89A7-850948CA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350" y="1752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231DE-F07C-42CF-A3C2-A727109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1752600"/>
            <a:ext cx="0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90DFB-9654-442F-BD4D-29CC07F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7146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E1D2B-A6EE-49CB-8EEE-C9290B2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EBAC5-8805-4078-8F19-958BA017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350" y="25717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EC007-9CDD-4874-B9A8-5EA02FBA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5717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EC724-5C63-45A7-B375-CCBBF37C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7146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6471E-D47A-4A84-82EF-CCADA11B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E2372-B42E-4AED-B480-CFDFD85B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19350" y="33909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1FDD0-1C66-4423-B1CD-BFB6524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28925" y="271462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5AB72-C0BD-419E-9AF2-6E94D60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8925" y="27146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5528E-4EFA-4704-8E22-A343AC5E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81350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E3C2A-B792-400C-BDBD-860859E3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2EB"/>
          </a:solidFill>
          <a:ln xmlns:a="http://schemas.openxmlformats.org/drawingml/2006/main" w="14288">
            <a:solidFill>
              <a:srgbClr val="D9C9AF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40+ 专业工具与知识来源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表型 · 基因 · 论文 · 病例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AF575-A76A-4DB0-A65C-AE3B27ED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76750" y="3305175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9F692-4B10-4455-8FBA-CB1FB40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248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C770A-DE6D-44CE-BEF8-368D68B2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716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生成初步诊断假设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4FE76-8C2E-4B76-A994-3C20E19F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自我反思与重新检索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ECC75-8FDA-4FB2-8CE3-C883F3E3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验证或否定假设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EA118D-610D-4D72-9A8F-4301BCB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15000" y="1704975"/>
            <a:ext cx="1000125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C9CB09-1622-4720-8A37-239FEDA0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57975" y="1647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ED0C5-47B3-41C3-927C-1FB044C2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20383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8B81E-8C52-4729-87CF-F9BE2EB8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05725" y="2381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EF1C4E-8F36-4008-A4B8-1DDC080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31051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B6F32-9AFE-41EF-884E-5431D5E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705725" y="3448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2FD822-12FA-4E40-839B-4F494233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486525" y="38385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7A2702-FC01-47DA-A68D-64063841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86525" y="2771775"/>
            <a:ext cx="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1616A2-ED11-4D2F-9F8C-8613BC9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86525" y="27717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ED46A3-C09F-46F9-A8C1-F34CDBC9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57975" y="2714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8A3B"/>
          </a:solidFill>
          <a:ln xmlns:a="http://schemas.openxmlformats.org/drawingml/2006/main" w="0">
            <a:solidFill>
              <a:srgbClr val="E28A3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05E900-BF8B-4D95-A1E5-AF9B4C67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候选疾病排名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推理过程与证据链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07F148-E8A4-4C72-90B4-111956F4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810625" y="2886075"/>
            <a:ext cx="809625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671091-CC25-4FB2-933D-48F9DA9C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2828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46D3CC-80ED-4904-9141-823D3101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76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模型、医学工具和外部证据共同参与诊断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31E0BE-E248-413A-AFE0-D3D96F9C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5220907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B4C52-D639-4657-973F-F9AF21DB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 的实验表现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EEFE5-C89C-4C8C-98A0-3DE7A3A8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F7E8C-8398-4767-89F3-0920386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E43CF-0C20-4059-80F7-C35FE018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5A378-55B8-486D-82C2-B3AE798E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个数据集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C75E2-C7D3-47D4-B6F1-E2123FDB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81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0CA89-1D1A-4E92-852E-ECB1B77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个医学专科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C28DD-65EB-450C-9745-E4C3271E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2,919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4565F-56D5-4BC3-A18C-40D13033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种罕见病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29E74-2211-4861-8678-A7FEEFE0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95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多模态病例 Recall@1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286500" y="1714500"/>
          <a:ext xmlns:a="http://schemas.openxmlformats.org/drawingml/2006/main" cx="4953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9c3cc0b5cb44df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FBAE5-CFA6-4A04-BEB8-6D6B78A7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57.18%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C4C16-B882-464D-9835-8FC7D8CE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HPO 任务平均 Recall@1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02CC4-594A-473E-9D91-FA0DFC7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95.4%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85996-7BE5-4896-8266-97D9AFFA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专家认可推理链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6EDCD-E56E-4357-9F55-C402AE5D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外部工具与证据链提升了罕见病诊断的可用性，但临床使用仍需医生监督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AC5BB-56EF-474D-87EC-059BA303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466840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BF941E-ADAF-4D32-99BF-3AF224E6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MedLA：用逻辑树定位推理错误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21C3E-0B40-445A-92ED-EB41C673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A5A73-0F6B-4311-8421-CAE7656E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DD0D6-3AF4-4174-A21B-C4CB22FF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最小逻辑单元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30116-D3BA-4B65-B523-823FF80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大前提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细菌感染常伴随白细胞升高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409D5-8EA8-4C7E-A3FE-D834ACB1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2286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小前提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患者白细胞明显升高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26BC6-8EFF-4446-AA97-3F08B406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52800"/>
            <a:ext cx="952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2EB"/>
          </a:solidFill>
          <a:ln xmlns:a="http://schemas.openxmlformats.org/drawingml/2006/main" w="14288">
            <a:solidFill>
              <a:srgbClr val="D9C9AF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7339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共同支持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8CAA2-8ACC-4103-A67C-DD04FC5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患者可能存在细菌感染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A0161-99B6-4727-90C4-62151208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52600" y="2952750"/>
            <a:ext cx="13144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893C2-2BC9-4641-AD8F-8A9FB5F9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009900" y="3295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00210-035A-45CC-8503-F8E51B1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67050" y="2952750"/>
            <a:ext cx="13144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C39AB-6771-44CF-BBF1-D70DFCA2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009900" y="3295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B35AB-7330-47DF-BA95-A4235835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19425" y="3905250"/>
            <a:ext cx="47625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BA740-374E-405E-8B3C-5BBC99E6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62275" y="4457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F8681-7101-4FC6-B479-3B83BC19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57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多个智能体的逻辑树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D2EE-CC48-4B89-B533-71B88173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2147A-ED89-4B29-BDA6-45872668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医学规律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E8392-0ED6-49F0-B938-DDC46066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12A37-E65C-4EFA-B211-204C3D94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中间推断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FA72C-E2C8-490F-9639-536F4C8B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4288">
            <a:solidFill>
              <a:srgbClr val="E3A9A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rPr>
              <a:t>冲突节点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50A5B-7F03-4D89-97D1-DA948272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2305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D6D61-9912-46B7-9A8A-7AE197BC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6100" y="224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49051A-FA87-4389-B7B5-2FCBD36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33242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6CDAD-2319-4E04-9FA3-83E49A4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0" y="2305050"/>
            <a:ext cx="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193CF-934C-4377-8C92-9846BD00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23050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38483-BEA5-4687-8535-10A44C5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6100" y="224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AFBFA-1257-467A-936F-9B3F886D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096250" y="2305050"/>
            <a:ext cx="47625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0AC1A-FF91-430C-8E34-F4E558B0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3910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6CACD8-019A-40F6-849F-95C67312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可信度评估与多轮讨论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修正前提、遗漏和冲突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5C64D-CE8D-4EE1-9537-18D2A826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4038600"/>
            <a:ext cx="6667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C957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1C3BF-2DCD-4E35-867B-7A383436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82100" y="4152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5757"/>
          </a:solidFill>
          <a:ln xmlns:a="http://schemas.openxmlformats.org/drawingml/2006/main" w="0">
            <a:solidFill>
              <a:srgbClr val="C9575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58F0AE-E6CF-4788-8C9F-84CE6EB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334625" y="34861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9177CE-977D-4E76-9628-F5E5FB74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944100" y="34861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13078B-53D7-42E0-8AFD-C57BB828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944100" y="2724150"/>
            <a:ext cx="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84B74-8954-45CF-9D79-61B68E1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715500" y="27241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B8A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1FD44C-3784-435B-BF18-E48E6D3B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9658350" y="266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B8A66"/>
          </a:solidFill>
          <a:ln xmlns:a="http://schemas.openxmlformats.org/drawingml/2006/main" w="0">
            <a:solidFill>
              <a:srgbClr val="2B8A6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55D86C-C23C-4A70-B9C6-D98717B7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比较推理步骤，而不只比较最终答案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88DBE-CF88-44B3-B1BC-5947081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270785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78C47-BB83-4BE3-89B3-AAEA1500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DoctorAgent-RL：通过强化学习实现主动问诊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A4877-439C-4B6B-9D9C-58C76F9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EB106-0981-4FE8-BAAB-58A4FF77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9BD77-40A3-4A37-944D-2E08A318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传统系统的问题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02F44-00CC-411C-BAC3-3AEAF597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患者难以一次说清所有症状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单轮问答容易缺少关键信息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传统多轮模型主要模仿既有对话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8482E-B63B-4105-9C58-0AA8D72E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模拟真实表达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EA430-8DA7-4A3C-86DD-AB3F5A86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574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医生智能体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选择下一步问题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0F362-E9D1-4B7A-AF2C-1BAE000F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问诊评估器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提供多维奖励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66552-7B3C-4AA9-B4DF-E539B751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19875" y="29146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28A11-0CD0-484E-B055-85233FE8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562725" y="2857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0044A-9E87-4858-B530-D3EB3DF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29475" y="2857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37EBD-C249-4567-8680-33147A30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86875" y="29146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E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9A8E6-E6CF-4A36-81D3-B4491C37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848850" y="2857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E7C8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D417B-6F2E-420B-AF03-6DCA391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10875" y="3371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3CB67-A9DD-4DE6-BEAD-C26135B9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286750" y="3600450"/>
            <a:ext cx="2524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2E818-A843-427D-B8F9-40013B19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0" y="3371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28A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95FEC-A330-4FC0-80A3-6F16DA2A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28A3B"/>
          </a:solidFill>
          <a:ln xmlns:a="http://schemas.openxmlformats.org/drawingml/2006/main" w="0">
            <a:solidFill>
              <a:srgbClr val="E28A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8746B-1BDF-41E8-8C20-C78A0F0D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提问与回答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4F98D-0940-40E1-99F8-071DC1B1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奖励反馈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BF0E5-E69C-44B9-9282-92E7DC5B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689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学习重点：如何通过提问逐步找到答案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B455D-2536-41A4-B850-E1D3B33C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53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论文报告完全诊断匹配率约 70%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F2D67-5AC1-4CAB-9E1D-B862AD5C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179217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2026-09-17T05:25:12.0160000Z</dcterms:created>
  <dcterms:modified xsi:type="dcterms:W3CDTF">2026-09-17T05:25:12.0160000Z</dcterms:modified>
</coreProperties>
</file>