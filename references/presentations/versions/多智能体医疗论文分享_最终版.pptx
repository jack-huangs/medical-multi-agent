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d0c563a795d4331" /><Relationship Type="http://schemas.openxmlformats.org/officeDocument/2006/relationships/extended-properties" Target="/docProps/app.xml" Id="Rb44923aab0af4684" /><Relationship Type="http://schemas.openxmlformats.org/officeDocument/2006/relationships/officeDocument" Target="/ppt/presentation.xml" Id="R68dd3fbd2c0c410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423631207e34880"/>
  </p:sldMasterIdLst>
  <p:notesMasterIdLst>
    <p:notesMasterId xmlns:r="http://schemas.openxmlformats.org/officeDocument/2006/relationships" r:id="R291a779294b548d6"/>
  </p:notesMasterIdLst>
  <p:sldIdLst>
    <p:sldId xmlns:r="http://schemas.openxmlformats.org/officeDocument/2006/relationships" id="256" r:id="R45ad41b3af144bb1"/>
    <p:sldId xmlns:r="http://schemas.openxmlformats.org/officeDocument/2006/relationships" id="257" r:id="R9c3f996acdda4872"/>
    <p:sldId xmlns:r="http://schemas.openxmlformats.org/officeDocument/2006/relationships" id="258" r:id="R754df6f6d3e34699"/>
    <p:sldId xmlns:r="http://schemas.openxmlformats.org/officeDocument/2006/relationships" id="259" r:id="R21719e732d254da6"/>
    <p:sldId xmlns:r="http://schemas.openxmlformats.org/officeDocument/2006/relationships" id="260" r:id="Re8ab3b22a6954cd8"/>
    <p:sldId xmlns:r="http://schemas.openxmlformats.org/officeDocument/2006/relationships" id="261" r:id="Rfc27023663d24984"/>
    <p:sldId xmlns:r="http://schemas.openxmlformats.org/officeDocument/2006/relationships" id="262" r:id="R6dc00a020a134a8d"/>
    <p:sldId xmlns:r="http://schemas.openxmlformats.org/officeDocument/2006/relationships" id="263" r:id="Rc4caead53c0442f4"/>
    <p:sldId xmlns:r="http://schemas.openxmlformats.org/officeDocument/2006/relationships" id="264" r:id="R46bcd6b983fb411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4669f614a94448a" /><Relationship Type="http://schemas.openxmlformats.org/officeDocument/2006/relationships/slideMaster" Target="/ppt/slideMasters/slideMaster1.xml" Id="Rd423631207e34880" /><Relationship Type="http://schemas.openxmlformats.org/officeDocument/2006/relationships/notesMaster" Target="/ppt/notesMasters/notesMaster1.xml" Id="R291a779294b548d6" /><Relationship Type="http://schemas.openxmlformats.org/officeDocument/2006/relationships/presProps" Target="/ppt/presProps.xml" Id="Rbb5e8dff283d42f5" /><Relationship Type="http://schemas.openxmlformats.org/officeDocument/2006/relationships/tableStyles" Target="/ppt/tableStyles.xml" Id="R22f333c7f40c4b41" /><Relationship Type="http://schemas.openxmlformats.org/officeDocument/2006/relationships/slide" Target="/ppt/slides/slide1.xml" Id="R45ad41b3af144bb1" /><Relationship Type="http://schemas.openxmlformats.org/officeDocument/2006/relationships/slide" Target="/ppt/slides/slide2.xml" Id="R9c3f996acdda4872" /><Relationship Type="http://schemas.openxmlformats.org/officeDocument/2006/relationships/slide" Target="/ppt/slides/slide3.xml" Id="R754df6f6d3e34699" /><Relationship Type="http://schemas.openxmlformats.org/officeDocument/2006/relationships/slide" Target="/ppt/slides/slide4.xml" Id="R21719e732d254da6" /><Relationship Type="http://schemas.openxmlformats.org/officeDocument/2006/relationships/slide" Target="/ppt/slides/slide5.xml" Id="Re8ab3b22a6954cd8" /><Relationship Type="http://schemas.openxmlformats.org/officeDocument/2006/relationships/slide" Target="/ppt/slides/slide6.xml" Id="Rfc27023663d24984" /><Relationship Type="http://schemas.openxmlformats.org/officeDocument/2006/relationships/slide" Target="/ppt/slides/slide7.xml" Id="R6dc00a020a134a8d" /><Relationship Type="http://schemas.openxmlformats.org/officeDocument/2006/relationships/slide" Target="/ppt/slides/slide8.xml" Id="Rc4caead53c0442f4" /><Relationship Type="http://schemas.openxmlformats.org/officeDocument/2006/relationships/slide" Target="/ppt/slides/slide9.xml" Id="R46bcd6b983fb411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cd1870fccd641d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cabb66d54a5425a" /><Relationship Type="http://schemas.openxmlformats.org/officeDocument/2006/relationships/notesMaster" Target="/ppt/notesMasters/notesMaster1.xml" Id="R1943022bd95e41c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fe5694f68a147c7" /><Relationship Type="http://schemas.openxmlformats.org/officeDocument/2006/relationships/notesMaster" Target="/ppt/notesMasters/notesMaster1.xml" Id="R2d90d8c595374ee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0111e7eb62b46c7" /><Relationship Type="http://schemas.openxmlformats.org/officeDocument/2006/relationships/notesMaster" Target="/ppt/notesMasters/notesMaster1.xml" Id="R124a0f15945a4db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ca77d7976d04281" /><Relationship Type="http://schemas.openxmlformats.org/officeDocument/2006/relationships/notesMaster" Target="/ppt/notesMasters/notesMaster1.xml" Id="R3f5fbaf18f6d472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0657e879b1d4172" /><Relationship Type="http://schemas.openxmlformats.org/officeDocument/2006/relationships/notesMaster" Target="/ppt/notesMasters/notesMaster1.xml" Id="R99456a929fef49a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5e887c801ed4bb6" /><Relationship Type="http://schemas.openxmlformats.org/officeDocument/2006/relationships/notesMaster" Target="/ppt/notesMasters/notesMaster1.xml" Id="Re2c724c56e5046c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179bdbd9f3b47cc" /><Relationship Type="http://schemas.openxmlformats.org/officeDocument/2006/relationships/notesMaster" Target="/ppt/notesMasters/notesMaster1.xml" Id="Rc4d1fc041c184dc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59bec26ddfe46be" /><Relationship Type="http://schemas.openxmlformats.org/officeDocument/2006/relationships/notesMaster" Target="/ppt/notesMasters/notesMaster1.xml" Id="R18ad3f942fd743e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834c9fc815341d3" /><Relationship Type="http://schemas.openxmlformats.org/officeDocument/2006/relationships/notesMaster" Target="/ppt/notesMasters/notesMaster1.xml" Id="R530b58b10059461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资料来源：用户提供的论文与内容规划文档。</a:t>
            </a:r>
          </a:p>
          <a:p xmlns:a="http://schemas.openxmlformats.org/drawingml/2006/main">
            <a:r>
              <a:t>开场说明本次分享关注多智能体医疗系统的协作机制。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资料来源：综合用户提供的五篇论文。</a:t>
            </a:r>
          </a:p>
          <a:p xmlns:a="http://schemas.openxmlformats.org/drawingml/2006/main">
            <a:r>
              <a:t>强调多智能体的动机来自医学知识跨度、数据复杂性和临床协作结构。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资料来源：用户提供的内容规划文档。</a:t>
            </a:r>
          </a:p>
          <a:p xmlns:a="http://schemas.openxmlformats.org/drawingml/2006/main">
            <a:r>
              <a:t>本页只展示整体协作流程。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资料来源：MDAgents: An Adaptive Collaboration of LLMs for Medical Decision-Making, NeurIPS 2024。</a:t>
            </a:r>
          </a:p>
          <a:p xmlns:a="http://schemas.openxmlformats.org/drawingml/2006/main">
            <a:r>
              <a:t>论文根据低、中、高复杂度选择不同协作结构。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资料来源：A Knowledge-driven Adaptive Collaboration of LLMs for Enhancing Medical Decision-making, EMNLP 2025。</a:t>
            </a:r>
          </a:p>
          <a:p xmlns:a="http://schemas.openxmlformats.org/drawingml/2006/main">
            <a:r>
              <a:t>重点讲知识缺口检测和讨论中招募新专家。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资料来源：An agentic system for rare disease diagnosis with traceable reasoning, Nature 2026。</a:t>
            </a:r>
          </a:p>
          <a:p xmlns:a="http://schemas.openxmlformats.org/drawingml/2006/main">
            <a:r>
              <a:t>本页合并系统能力和诊断流程。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资料来源：An agentic system for rare disease diagnosis with traceable reasoning, Nature 2026。</a:t>
            </a:r>
          </a:p>
          <a:p xmlns:a="http://schemas.openxmlformats.org/drawingml/2006/main">
            <a:r>
              <a:t>图表比较 168 个多模态病例中的 Recall@1。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资料来源：MedLA: A Logic-Driven Multi-Agent Framework for Complex Medical Reasoning with Large Language Models, AAAI 2026。</a:t>
            </a:r>
          </a:p>
          <a:p xmlns:a="http://schemas.openxmlformats.org/drawingml/2006/main">
            <a:r>
              <a:t>重点讲大前提、小前提、结论和前提级冲突定位。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资料来源：Real-World Doctor Agent with Proactive Consultation through Multi-Agent Reinforcement Learning, arXiv:2505.19630v4。</a:t>
            </a:r>
          </a:p>
          <a:p xmlns:a="http://schemas.openxmlformats.org/drawingml/2006/main">
            <a:r>
              <a:t>介绍患者智能体、医生智能体和问诊评估器的互动。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6993c33c41423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1af5d3672a443cc" /><Relationship Type="http://schemas.openxmlformats.org/officeDocument/2006/relationships/slideLayout" Target="/ppt/slideLayouts/slideLayout1.xml" Id="Rb6b7b085e36c49b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6b7b085e36c49b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bfb8ee6f61441c" /><Relationship Type="http://schemas.openxmlformats.org/officeDocument/2006/relationships/notesSlide" Target="/ppt/notesSlides/notesSlide1.xml" Id="R258ddb6c0f58463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9388d5873742c9" /><Relationship Type="http://schemas.openxmlformats.org/officeDocument/2006/relationships/notesSlide" Target="/ppt/notesSlides/notesSlide2.xml" Id="R40910a067dad42e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fc819971cf4707" /><Relationship Type="http://schemas.openxmlformats.org/officeDocument/2006/relationships/notesSlide" Target="/ppt/notesSlides/notesSlide3.xml" Id="R5601dceea32443a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f3b068abd64e89" /><Relationship Type="http://schemas.openxmlformats.org/officeDocument/2006/relationships/notesSlide" Target="/ppt/notesSlides/notesSlide4.xml" Id="R0785977912a5459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a6222b781a48c0" /><Relationship Type="http://schemas.openxmlformats.org/officeDocument/2006/relationships/notesSlide" Target="/ppt/notesSlides/notesSlide5.xml" Id="Ra383334e289a420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cbe4e966fb404b" /><Relationship Type="http://schemas.openxmlformats.org/officeDocument/2006/relationships/notesSlide" Target="/ppt/notesSlides/notesSlide6.xml" Id="Re1da53b4b7bf406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3ede5da93242f2" /><Relationship Type="http://schemas.openxmlformats.org/officeDocument/2006/relationships/chart" Target="/ppt/slides/charts/chart1.xml" Id="R1eb22b7511204403" /><Relationship Type="http://schemas.openxmlformats.org/officeDocument/2006/relationships/notesSlide" Target="/ppt/notesSlides/notesSlide7.xml" Id="R45ab2f37197b49d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740a860b3d4bf7" /><Relationship Type="http://schemas.openxmlformats.org/officeDocument/2006/relationships/notesSlide" Target="/ppt/notesSlides/notesSlide8.xml" Id="R817ff05b2f084d5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6fb55af42f4e39" /><Relationship Type="http://schemas.openxmlformats.org/officeDocument/2006/relationships/notesSlide" Target="/ppt/notesSlides/notesSlide9.xml" Id="R131592414cbb4ac8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Recall@1</c:v>
          </c:tx>
          <c:spPr>
            <a:solidFill xmlns:a="http://schemas.openxmlformats.org/drawingml/2006/main">
              <a:srgbClr val="0E7C86"/>
            </a:solidFill>
          </c:spPr>
          <c:cat>
            <c:strRef>
              <c:f>'Chart Data'!$A$2:$A$3</c:f>
              <c:strCache>
                <c:ptCount val="2"/>
                <c:pt idx="0">
                  <c:v>DeepRare</c:v>
                </c:pt>
                <c:pt idx="1">
                  <c:v>Exomiser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69.1</c:v>
                </c:pt>
                <c:pt idx="1">
                  <c:v>55.9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 b="1">
                  <a:solidFill>
                    <a:srgbClr val="1C2733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8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8D6E2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060311-0A6B-4F4D-BFE8-FFA1DFE5A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5255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多智能体大语言模型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8B28EF-6423-49CA-B446-E4CA7B4E9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7645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在医疗决策中的应用与发展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49CC5D-BA0F-45EB-A5DC-135DAAFA1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289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3FB8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FB8C6"/>
                </a:solidFill>
                <a:latin typeface="Microsoft YaHei"/>
                <a:ea typeface="Microsoft YaHei"/>
                <a:cs typeface="Microsoft YaHei"/>
              </a:rPr>
              <a:t>论文分享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0A2852-EA49-4FD4-B423-E90B372ED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71875"/>
            <a:ext cx="209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FB8C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EEEA46-9CDA-480D-B35D-EDEEC3129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148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黄锦佳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5BC725-776C-4FA9-ADA8-B8238F383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148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BCD0D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CD0DE"/>
                </a:solidFill>
                <a:latin typeface="Microsoft YaHei"/>
                <a:ea typeface="Microsoft YaHei"/>
                <a:cs typeface="Microsoft YaHei"/>
              </a:rPr>
              <a:t>2026 年 9 月 17 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AD86E8-1842-41EB-917A-174090EA4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19800"/>
            <a:ext cx="819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BCD0D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CD0DE"/>
                </a:solidFill>
                <a:latin typeface="Microsoft YaHei"/>
                <a:ea typeface="Microsoft YaHei"/>
                <a:cs typeface="Microsoft YaHei"/>
              </a:rPr>
              <a:t>MDAgents · KAMAC · DeepRare · MedLA · DoctorAgent-RL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CA7A33-2E46-4EDE-97E1-857D7DC17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571625"/>
            <a:ext cx="2476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2550" b="1">
                <a:solidFill>
                  <a:srgbClr val="5DA7B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5DA7B0"/>
                </a:solidFill>
                <a:latin typeface="Microsoft YaHei"/>
                <a:ea typeface="Microsoft YaHei"/>
                <a:cs typeface="Microsoft YaHei"/>
              </a:rPr>
              <a:t>AI × MEDICINE</a:t>
            </a:r>
          </a:p>
        </p:txBody>
      </p:sp>
    </p:spTree>
    <p:extLst>
      <p:ext uri="{BB962C8B-B14F-4D97-AF65-F5344CB8AC3E}">
        <p14:creationId xmlns:p14="http://schemas.microsoft.com/office/powerpoint/2010/main" val="5127179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03E3F6-84DF-4E41-B6D5-92992F87C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19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为什么医疗需要多智能体系统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357DC2-19D4-4396-801C-59818F2BE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E26B41-C688-4F1F-B40C-5B287CD11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6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DD613E-8BA6-488F-B243-CA8FE54F5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524125"/>
            <a:ext cx="2952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14288">
            <a:solidFill>
              <a:srgbClr val="102A43"/>
            </a:solidFill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复杂医疗决策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06E9B9-80E1-4B2E-B34D-FC6E5306D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28750"/>
            <a:ext cx="2476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DF3FF"/>
          </a:solidFill>
          <a:ln xmlns:a="http://schemas.openxmlformats.org/drawingml/2006/main" w="14288">
            <a:solidFill>
              <a:srgbClr val="AFC4F5"/>
            </a:solidFill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多专科知识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需要共同参与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094E0C-3BA7-4F51-90F9-ED310BA21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428750"/>
            <a:ext cx="2476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AF4F6"/>
          </a:solidFill>
          <a:ln xmlns:a="http://schemas.openxmlformats.org/drawingml/2006/main" w="14288">
            <a:solidFill>
              <a:srgbClr val="9DD4D9"/>
            </a:solidFill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数据形式复杂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病历、影像、基因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EA267D-E3A7-46A5-A31A-EB348A187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91000"/>
            <a:ext cx="2476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2E8"/>
          </a:solidFill>
          <a:ln xmlns:a="http://schemas.openxmlformats.org/drawingml/2006/main" w="14288">
            <a:solidFill>
              <a:srgbClr val="EFC397"/>
            </a:solidFill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单模型可能遗漏信息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也可能产生幻觉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0C1C0C-ECCE-4BB5-9C5B-E244A4005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191000"/>
            <a:ext cx="2476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DF7F2"/>
          </a:solidFill>
          <a:ln xmlns:a="http://schemas.openxmlformats.org/drawingml/2006/main" w="14288">
            <a:solidFill>
              <a:srgbClr val="A8D6C3"/>
            </a:solidFill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真实医疗本身依赖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团队分工与协作</a:t>
            </a:r>
          </a:p>
        </p:txBody>
      </p:sp>
      <p:cxnSp>
        <p:nvCxnSpPr>
          <p:cNvPr id="23" name=""/>
          <p:cNvCxnSpPr>
            <a:stCxn xmlns:a="http://schemas.openxmlformats.org/drawingml/2006/main" id="5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352800" y="1962150"/>
            <a:ext cx="1266825" cy="11334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E7C86"/>
            </a:solidFill>
            <a:prstDash val="solid"/>
            <a:tailEnd type="triangle" w="sm" len="sm"/>
          </a:ln>
        </p:spPr>
      </p:cxnSp>
      <p:cxnSp>
        <p:nvCxnSpPr>
          <p:cNvPr id="24" name=""/>
          <p:cNvCxnSpPr>
            <a:stCxn xmlns:a="http://schemas.openxmlformats.org/drawingml/2006/main" id="6" idx="1"/>
            <a:endCxn xmlns:a="http://schemas.openxmlformats.org/drawingml/2006/main" id="4" idx="3"/>
          </p:cNvCxnSpPr>
          <p:nvPr/>
        </p:nvCxnSpPr>
        <p:spPr>
          <a:xfrm xmlns:a="http://schemas.openxmlformats.org/drawingml/2006/main" flipH="1">
            <a:off x="7572375" y="1962150"/>
            <a:ext cx="1266825" cy="11334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E7C86"/>
            </a:solidFill>
            <a:prstDash val="solid"/>
            <a:tailEnd type="triangle" w="sm" len="sm"/>
          </a:ln>
        </p:spPr>
      </p:cxnSp>
      <p:cxnSp>
        <p:nvCxnSpPr>
          <p:cNvPr id="25" name=""/>
          <p:cNvCxnSpPr>
            <a:stCxn xmlns:a="http://schemas.openxmlformats.org/drawingml/2006/main" id="7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 flipV="1">
            <a:off x="3352800" y="3095625"/>
            <a:ext cx="1266825" cy="16287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E7C86"/>
            </a:solidFill>
            <a:prstDash val="solid"/>
            <a:tailEnd type="triangle" w="sm" len="sm"/>
          </a:ln>
        </p:spPr>
      </p:cxnSp>
      <p:cxnSp>
        <p:nvCxnSpPr>
          <p:cNvPr id="26" name=""/>
          <p:cNvCxnSpPr>
            <a:stCxn xmlns:a="http://schemas.openxmlformats.org/drawingml/2006/main" id="8" idx="1"/>
            <a:endCxn xmlns:a="http://schemas.openxmlformats.org/drawingml/2006/main" id="4" idx="3"/>
          </p:cNvCxnSpPr>
          <p:nvPr/>
        </p:nvCxnSpPr>
        <p:spPr>
          <a:xfrm xmlns:a="http://schemas.openxmlformats.org/drawingml/2006/main" flipH="1" flipV="1">
            <a:off x="7572375" y="3095625"/>
            <a:ext cx="1266825" cy="16287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E7C86"/>
            </a:solidFill>
            <a:prstDash val="solid"/>
            <a:tailEnd type="triangle" w="sm" len="sm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F6B25E-2AD0-43B1-9B9D-6A15DE4AF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715000"/>
            <a:ext cx="704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多个 AI 分别处理擅长的任务，再共同完成医疗决策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65DA4E-71B1-47B2-8044-CE2ED9972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8191A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191A1"/>
                </a:solidFill>
                <a:latin typeface="Microsoft YaHei"/>
                <a:ea typeface="Microsoft YaHei"/>
                <a:cs typeface="Microsoft YaHei"/>
              </a:rPr>
              <a:t>多智能体医疗论文分享</a:t>
            </a:r>
          </a:p>
        </p:txBody>
      </p:sp>
    </p:spTree>
    <p:extLst>
      <p:ext uri="{BB962C8B-B14F-4D97-AF65-F5344CB8AC3E}">
        <p14:creationId xmlns:p14="http://schemas.microsoft.com/office/powerpoint/2010/main" val="160342362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9A1DE2-ADA8-4B81-93BD-DAA1DD36E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19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多智能体医疗系统的基本协作模式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9AF768-5F0F-4AD9-BD8A-E41488744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D6C169-8EAB-46DB-A9EB-C2F24AE57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6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321359-0125-448D-ABFE-274B5D032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14625"/>
            <a:ext cx="1809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14288">
            <a:solidFill>
              <a:srgbClr val="102A43"/>
            </a:solidFill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患者临床数据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DC4628-77C6-4BDE-866D-EA55B447D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352550"/>
            <a:ext cx="20955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DF3FF"/>
          </a:solidFill>
          <a:ln xmlns:a="http://schemas.openxmlformats.org/drawingml/2006/main" w="14288">
            <a:solidFill>
              <a:srgbClr val="AFC4F5"/>
            </a:solidFill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全科与专科 AI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75446F-0B38-47BA-9F86-DE29CCE2C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324100"/>
            <a:ext cx="20955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AF4F6"/>
          </a:solidFill>
          <a:ln xmlns:a="http://schemas.openxmlformats.org/drawingml/2006/main" w="14288">
            <a:solidFill>
              <a:srgbClr val="9DD4D9"/>
            </a:solidFill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影像分析 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8D6F23-1028-43B8-A717-4219C56FF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295650"/>
            <a:ext cx="20955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DF7F2"/>
          </a:solidFill>
          <a:ln xmlns:a="http://schemas.openxmlformats.org/drawingml/2006/main" w="14288">
            <a:solidFill>
              <a:srgbClr val="A8D6C3"/>
            </a:solidFill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基因分析 AI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A16A75-FDBE-4131-BC80-2A01A781A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267200"/>
            <a:ext cx="20955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2E8"/>
          </a:solidFill>
          <a:ln xmlns:a="http://schemas.openxmlformats.org/drawingml/2006/main" w="14288">
            <a:solidFill>
              <a:srgbClr val="EFC397"/>
            </a:solidFill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医学知识检索 AI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EBB990-DB9B-4232-9D04-6C6B25892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381250"/>
            <a:ext cx="2095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0E7C86"/>
          </a:solidFill>
          <a:ln xmlns:a="http://schemas.openxmlformats.org/drawingml/2006/main" w="14288">
            <a:solidFill>
              <a:srgbClr val="0E7C86"/>
            </a:solidFill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讨论与相互验证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52E1EC-0449-4BAF-A303-4363C213E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866900"/>
            <a:ext cx="2095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E7C86"/>
            </a:solidFill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综合分析结果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6A2AF5-4FF6-412E-8C70-B42A9BA35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81400"/>
            <a:ext cx="2095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14288">
            <a:solidFill>
              <a:srgbClr val="102A43"/>
            </a:solidFill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诊断或医疗建议</a:t>
            </a:r>
          </a:p>
        </p:txBody>
      </p:sp>
      <p:cxnSp>
        <p:nvCxnSpPr>
          <p:cNvPr id="34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 flipV="1">
            <a:off x="2381250" y="1733550"/>
            <a:ext cx="857250" cy="14192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0955">
            <a:solidFill>
              <a:srgbClr val="0E7C86"/>
            </a:solidFill>
            <a:prstDash val="solid"/>
            <a:tailEnd type="triangle" w="sm" len="sm"/>
          </a:ln>
        </p:spPr>
      </p:cxnSp>
      <p:cxnSp>
        <p:nvCxnSpPr>
          <p:cNvPr id="35" name=""/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2381250" y="2705100"/>
            <a:ext cx="857250" cy="4476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0955">
            <a:solidFill>
              <a:srgbClr val="0E7C86"/>
            </a:solidFill>
            <a:prstDash val="solid"/>
            <a:tailEnd type="triangle" w="sm" len="sm"/>
          </a:ln>
        </p:spPr>
      </p:cxnSp>
      <p:cxnSp>
        <p:nvCxnSpPr>
          <p:cNvPr id="36" name=""/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381250" y="3152775"/>
            <a:ext cx="857250" cy="5238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0955">
            <a:solidFill>
              <a:srgbClr val="0E7C86"/>
            </a:solidFill>
            <a:prstDash val="solid"/>
            <a:tailEnd type="triangle" w="sm" len="sm"/>
          </a:ln>
        </p:spPr>
      </p:cxnSp>
      <p:cxnSp>
        <p:nvCxnSpPr>
          <p:cNvPr id="37" name=""/>
          <p:cNvCxnSpPr>
            <a:stCxn xmlns:a="http://schemas.openxmlformats.org/drawingml/2006/main" id="4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381250" y="3152775"/>
            <a:ext cx="857250" cy="14954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0955">
            <a:solidFill>
              <a:srgbClr val="0E7C86"/>
            </a:solidFill>
            <a:prstDash val="solid"/>
            <a:tailEnd type="triangle" w="sm" len="sm"/>
          </a:ln>
        </p:spPr>
      </p:cxnSp>
      <p:cxnSp>
        <p:nvCxnSpPr>
          <p:cNvPr id="38" name=""/>
          <p:cNvCxnSpPr>
            <a:stCxn xmlns:a="http://schemas.openxmlformats.org/drawingml/2006/main" id="5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5334000" y="1733550"/>
            <a:ext cx="1000125" cy="11715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0955">
            <a:solidFill>
              <a:srgbClr val="0E7C86"/>
            </a:solidFill>
            <a:prstDash val="solid"/>
            <a:tailEnd type="triangle" w="sm" len="sm"/>
          </a:ln>
        </p:spPr>
      </p:cxnSp>
      <p:cxnSp>
        <p:nvCxnSpPr>
          <p:cNvPr id="39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5334000" y="2705100"/>
            <a:ext cx="1000125" cy="2000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0955">
            <a:solidFill>
              <a:srgbClr val="0E7C86"/>
            </a:solidFill>
            <a:prstDash val="solid"/>
            <a:tailEnd type="triangle" w="sm" len="sm"/>
          </a:ln>
        </p:spPr>
      </p:cxnSp>
      <p:cxnSp>
        <p:nvCxnSpPr>
          <p:cNvPr id="40" name="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5334000" y="2905125"/>
            <a:ext cx="1000125" cy="7715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0955">
            <a:solidFill>
              <a:srgbClr val="0E7C86"/>
            </a:solidFill>
            <a:prstDash val="solid"/>
            <a:tailEnd type="triangle" w="sm" len="sm"/>
          </a:ln>
        </p:spPr>
      </p:cxnSp>
      <p:cxnSp>
        <p:nvCxnSpPr>
          <p:cNvPr id="41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5334000" y="2905125"/>
            <a:ext cx="1000125" cy="17430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0955">
            <a:solidFill>
              <a:srgbClr val="0E7C86"/>
            </a:solidFill>
            <a:prstDash val="solid"/>
            <a:tailEnd type="triangle" w="sm" len="sm"/>
          </a:ln>
        </p:spPr>
      </p:cxnSp>
      <p:cxnSp>
        <p:nvCxnSpPr>
          <p:cNvPr id="42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V="1">
            <a:off x="8429625" y="2257425"/>
            <a:ext cx="762000" cy="64770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E7C86"/>
            </a:solidFill>
            <a:prstDash val="solid"/>
            <a:tailEnd type="triangle" w="sm" len="sm"/>
          </a:ln>
        </p:spPr>
      </p:cxnSp>
      <p:cxnSp>
        <p:nvCxnSpPr>
          <p:cNvPr id="43" name=""/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10239375" y="2647950"/>
            <a:ext cx="0" cy="9334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E7C86"/>
            </a:solidFill>
            <a:prstDash val="solid"/>
            <a:tailEnd type="triangle" w="sm" len="sm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476D7C-5B9E-4B81-9542-B24B0BF8A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8191A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191A1"/>
                </a:solidFill>
                <a:latin typeface="Microsoft YaHei"/>
                <a:ea typeface="Microsoft YaHei"/>
                <a:cs typeface="Microsoft YaHei"/>
              </a:rPr>
              <a:t>多智能体医疗论文分享</a:t>
            </a:r>
          </a:p>
        </p:txBody>
      </p:sp>
    </p:spTree>
    <p:extLst>
      <p:ext uri="{BB962C8B-B14F-4D97-AF65-F5344CB8AC3E}">
        <p14:creationId xmlns:p14="http://schemas.microsoft.com/office/powerpoint/2010/main" val="130780393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04CE2F-8599-477B-8D85-BE001C16F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19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MDAgents：按问题难度选择协作规模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A65869-8929-4354-B49B-87C6E4C73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DDB0C0-E79C-4844-B164-6344EBAA9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6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EA2376-38BF-4ABF-99D6-1CE9FC20F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533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先判断复杂度，再分配协作资源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B75ED4-A22C-45BC-8434-4A7E0FD45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16192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14288">
            <a:solidFill>
              <a:srgbClr val="102A43"/>
            </a:solidFill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医疗问题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5FE8EA-F4EF-44FD-A2E8-C9CB63CDA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590800"/>
            <a:ext cx="18097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AF4F6"/>
          </a:solidFill>
          <a:ln xmlns:a="http://schemas.openxmlformats.org/drawingml/2006/main" w="14288">
            <a:solidFill>
              <a:srgbClr val="0E7C86"/>
            </a:solidFill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复杂度判断</a:t>
            </a:r>
          </a:p>
        </p:txBody>
      </p:sp>
      <p:cxnSp>
        <p:nvCxnSpPr>
          <p:cNvPr id="26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228850" y="3009900"/>
            <a:ext cx="5905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E7C86"/>
            </a:solidFill>
            <a:prstDash val="solid"/>
            <a:tailEnd type="triangle" w="sm" len="sm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DDBFF5-2CDD-4DE3-9175-AFD3E104C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1428750"/>
            <a:ext cx="24765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EDF3FF"/>
          </a:solidFill>
          <a:ln xmlns:a="http://schemas.openxmlformats.org/drawingml/2006/main" w="14288">
            <a:solidFill>
              <a:srgbClr val="AFC4F5"/>
            </a:solidFill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低复杂度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单个基层医生 AI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BD8AE1-917D-4ED6-86AE-50350AFAB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743200"/>
            <a:ext cx="24765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EAF4F6"/>
          </a:solidFill>
          <a:ln xmlns:a="http://schemas.openxmlformats.org/drawingml/2006/main" w="14288">
            <a:solidFill>
              <a:srgbClr val="9DD4D9"/>
            </a:solidFill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中等复杂度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多学科团队讨论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9CF74B-169E-4FE2-9566-C19439EE6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057650"/>
            <a:ext cx="24765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2E8"/>
          </a:solidFill>
          <a:ln xmlns:a="http://schemas.openxmlformats.org/drawingml/2006/main" w="14288">
            <a:solidFill>
              <a:srgbClr val="EFC397"/>
            </a:solidFill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高复杂度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多个专业小组分析</a:t>
            </a:r>
          </a:p>
        </p:txBody>
      </p:sp>
      <p:cxnSp>
        <p:nvCxnSpPr>
          <p:cNvPr id="30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4629150" y="1933575"/>
            <a:ext cx="1066800" cy="10763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0955">
            <a:solidFill>
              <a:srgbClr val="0E7C86"/>
            </a:solidFill>
            <a:prstDash val="solid"/>
            <a:tailEnd type="triangle" w="sm" len="sm"/>
          </a:ln>
        </p:spPr>
      </p:cxnSp>
      <p:cxnSp>
        <p:nvCxnSpPr>
          <p:cNvPr id="31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4629150" y="3009900"/>
            <a:ext cx="1066800" cy="2381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0955">
            <a:solidFill>
              <a:srgbClr val="0E7C86"/>
            </a:solidFill>
            <a:prstDash val="solid"/>
            <a:tailEnd type="triangle" w="sm" len="sm"/>
          </a:ln>
        </p:spPr>
      </p:cxnSp>
      <p:cxnSp>
        <p:nvCxnSpPr>
          <p:cNvPr id="32" name=""/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4629150" y="3009900"/>
            <a:ext cx="1066800" cy="15525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0955">
            <a:solidFill>
              <a:srgbClr val="0E7C86"/>
            </a:solidFill>
            <a:prstDash val="solid"/>
            <a:tailEnd type="triangle" w="sm" len="sm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96CF0C-D82B-4E24-8ADA-CD4F75A75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590800"/>
            <a:ext cx="20955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14288">
            <a:solidFill>
              <a:srgbClr val="102A43"/>
            </a:solidFill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最终医疗决策</a:t>
            </a:r>
          </a:p>
        </p:txBody>
      </p:sp>
      <p:cxnSp>
        <p:nvCxnSpPr>
          <p:cNvPr id="34" name=""/>
          <p:cNvCxnSpPr>
            <a:stCxn xmlns:a="http://schemas.openxmlformats.org/drawingml/2006/main" id="8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8172450" y="1933575"/>
            <a:ext cx="1123950" cy="11525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0955">
            <a:solidFill>
              <a:srgbClr val="0E7C86"/>
            </a:solidFill>
            <a:prstDash val="solid"/>
            <a:tailEnd type="triangle" w="sm" len="sm"/>
          </a:ln>
        </p:spPr>
      </p:cxnSp>
      <p:cxnSp>
        <p:nvCxnSpPr>
          <p:cNvPr id="35" name=""/>
          <p:cNvCxnSpPr>
            <a:stCxn xmlns:a="http://schemas.openxmlformats.org/drawingml/2006/main" id="9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 flipV="1">
            <a:off x="8172450" y="3086100"/>
            <a:ext cx="1123950" cy="1619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0955">
            <a:solidFill>
              <a:srgbClr val="0E7C86"/>
            </a:solidFill>
            <a:prstDash val="solid"/>
            <a:tailEnd type="triangle" w="sm" len="sm"/>
          </a:ln>
        </p:spPr>
      </p:cxnSp>
      <p:cxnSp>
        <p:nvCxnSpPr>
          <p:cNvPr id="36" name=""/>
          <p:cNvCxnSpPr>
            <a:stCxn xmlns:a="http://schemas.openxmlformats.org/drawingml/2006/main" id="10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 flipV="1">
            <a:off x="8172450" y="3086100"/>
            <a:ext cx="1123950" cy="14763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0955">
            <a:solidFill>
              <a:srgbClr val="0E7C86"/>
            </a:solidFill>
            <a:prstDash val="solid"/>
            <a:tailEnd type="triangle" w="sm" len="sm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80A6EE-4927-492C-B88B-4B50FFE03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7150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目标：在诊断准确率与调用成本之间取得平衡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CE340A-2265-4EDA-9C31-DC5B4AB50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8191A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191A1"/>
                </a:solidFill>
                <a:latin typeface="Microsoft YaHei"/>
                <a:ea typeface="Microsoft YaHei"/>
                <a:cs typeface="Microsoft YaHei"/>
              </a:rPr>
              <a:t>多智能体医疗论文分享</a:t>
            </a:r>
          </a:p>
        </p:txBody>
      </p:sp>
    </p:spTree>
    <p:extLst>
      <p:ext uri="{BB962C8B-B14F-4D97-AF65-F5344CB8AC3E}">
        <p14:creationId xmlns:p14="http://schemas.microsoft.com/office/powerpoint/2010/main" val="31753984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A0BB7F-8604-4362-B2A2-EFD61E6CF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19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KAMAC：根据知识缺口动态招募专家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D13348-3E5F-43FA-B915-D0F4C55EC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B85908-56E5-4657-A479-17948D934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6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6A122E-2B02-49DE-8B7D-010AA958A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533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专家团队在讨论过程中逐步扩展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5D0A00-1B83-40B4-B254-5616AECB1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81250"/>
            <a:ext cx="2095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DF3FF"/>
          </a:solidFill>
          <a:ln xmlns:a="http://schemas.openxmlformats.org/drawingml/2006/main" w="14288">
            <a:solidFill>
              <a:srgbClr val="AFC4F5"/>
            </a:solidFill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初始专家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独立分析病例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A32428-A2E8-46DE-A0A3-294CE8F9C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381250"/>
            <a:ext cx="2095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AF4F6"/>
          </a:solidFill>
          <a:ln xmlns:a="http://schemas.openxmlformats.org/drawingml/2006/main" w="14288">
            <a:solidFill>
              <a:srgbClr val="9DD4D9"/>
            </a:solidFill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多轮讨论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交换与修正意见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10695C-35E8-4F01-A761-3EC997707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381250"/>
            <a:ext cx="2095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2E8"/>
          </a:solidFill>
          <a:ln xmlns:a="http://schemas.openxmlformats.org/drawingml/2006/main" w="14288">
            <a:solidFill>
              <a:srgbClr val="EFC397"/>
            </a:solidFill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知识缺口检测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现有专家是否足够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9E0B48-2674-47AB-B463-034A80549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381250"/>
            <a:ext cx="2095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DF7F2"/>
          </a:solidFill>
          <a:ln xmlns:a="http://schemas.openxmlformats.org/drawingml/2006/main" w="14288">
            <a:solidFill>
              <a:srgbClr val="A8D6C3"/>
            </a:solidFill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动态招募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相关领域新专家</a:t>
            </a:r>
          </a:p>
        </p:txBody>
      </p:sp>
      <p:cxnSp>
        <p:nvCxnSpPr>
          <p:cNvPr id="26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933700" y="2905125"/>
            <a:ext cx="6858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E7C86"/>
            </a:solidFill>
            <a:prstDash val="solid"/>
            <a:tailEnd type="triangle" w="sm" len="sm"/>
          </a:ln>
        </p:spPr>
      </p:cxnSp>
      <p:cxnSp>
        <p:nvCxnSpPr>
          <p:cNvPr id="27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715000" y="2905125"/>
            <a:ext cx="6858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E7C86"/>
            </a:solidFill>
            <a:prstDash val="solid"/>
            <a:tailEnd type="triangle" w="sm" len="sm"/>
          </a:ln>
        </p:spPr>
      </p:cxnSp>
      <p:cxnSp>
        <p:nvCxnSpPr>
          <p:cNvPr id="28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8496300" y="2905125"/>
            <a:ext cx="6858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E7C86"/>
            </a:solidFill>
            <a:prstDash val="solid"/>
            <a:tailEnd type="triangle" w="sm" len="sm"/>
          </a:ln>
        </p:spPr>
      </p:cxnSp>
      <p:cxnSp>
        <p:nvCxnSpPr>
          <p:cNvPr id="29" name=""/>
          <p:cNvCxnSpPr>
            <a:stCxn xmlns:a="http://schemas.openxmlformats.org/drawingml/2006/main" id="8" idx="2"/>
            <a:endCxn xmlns:a="http://schemas.openxmlformats.org/drawingml/2006/main" id="6" idx="2"/>
          </p:cNvCxnSpPr>
          <p:nvPr/>
        </p:nvCxnSpPr>
        <p:spPr>
          <a:xfrm xmlns:a="http://schemas.openxmlformats.org/drawingml/2006/main" flipH="1">
            <a:off x="4667250" y="3429000"/>
            <a:ext cx="5562600" cy="228600"/>
          </a:xfrm>
          <a:prstGeom xmlns:a="http://schemas.openxmlformats.org/drawingml/2006/main" prst="bentConnector4">
            <a:avLst/>
          </a:prstGeom>
          <a:ln xmlns:a="http://schemas.openxmlformats.org/drawingml/2006/main" w="20955">
            <a:solidFill>
              <a:srgbClr val="E28A3B"/>
            </a:solidFill>
            <a:prstDash val="solid"/>
            <a:tailEnd type="triangle" w="sm" len="sm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995098-C7BB-4A39-B9A4-1A39FE85F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23862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E28A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E28A3B"/>
                </a:solidFill>
                <a:latin typeface="Microsoft YaHei"/>
                <a:ea typeface="Microsoft YaHei"/>
                <a:cs typeface="Microsoft YaHei"/>
              </a:rPr>
              <a:t>继续讨论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FD594E-FE00-45E6-9E06-F5C15ADA6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000625"/>
            <a:ext cx="3238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14288">
            <a:solidFill>
              <a:srgbClr val="102A43"/>
            </a:solidFill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主持者综合专家意见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输出最终决策</a:t>
            </a:r>
          </a:p>
        </p:txBody>
      </p:sp>
      <p:cxnSp>
        <p:nvCxnSpPr>
          <p:cNvPr id="32" name=""/>
          <p:cNvCxnSpPr>
            <a:stCxn xmlns:a="http://schemas.openxmlformats.org/drawingml/2006/main" id="7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 flipH="1">
            <a:off x="6096000" y="3429000"/>
            <a:ext cx="1352550" cy="1571625"/>
          </a:xfrm>
          <a:prstGeom xmlns:a="http://schemas.openxmlformats.org/drawingml/2006/main" prst="bentConnector4">
            <a:avLst>
              <a:gd name="adj1" fmla="val 0"/>
              <a:gd name="adj2" fmla="val 14545"/>
            </a:avLst>
          </a:prstGeom>
          <a:ln xmlns:a="http://schemas.openxmlformats.org/drawingml/2006/main" w="20955">
            <a:solidFill>
              <a:srgbClr val="0E7C86"/>
            </a:solidFill>
            <a:prstDash val="solid"/>
            <a:tailEnd type="triangle" w="sm" len="sm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33FFF6-B2BC-436E-9B84-2E57B8E59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5529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没有知识缺口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D5102C-B135-438F-8190-BD88FD7C3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8191A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191A1"/>
                </a:solidFill>
                <a:latin typeface="Microsoft YaHei"/>
                <a:ea typeface="Microsoft YaHei"/>
                <a:cs typeface="Microsoft YaHei"/>
              </a:rPr>
              <a:t>多智能体医疗论文分享</a:t>
            </a:r>
          </a:p>
        </p:txBody>
      </p:sp>
    </p:spTree>
    <p:extLst>
      <p:ext uri="{BB962C8B-B14F-4D97-AF65-F5344CB8AC3E}">
        <p14:creationId xmlns:p14="http://schemas.microsoft.com/office/powerpoint/2010/main" val="161704844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076C5C-5670-47EF-80EB-BC924B6C5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19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DeepRare：工具增强的罕见病诊断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D50925-9025-4550-8595-F28402093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9EECAE-74B4-4606-AFD8-5572DF355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6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F1FE63-2F28-4F37-AF8A-692BF5345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47800"/>
            <a:ext cx="18097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DF3FF"/>
          </a:solidFill>
          <a:ln xmlns:a="http://schemas.openxmlformats.org/drawingml/2006/main" w="14288">
            <a:solidFill>
              <a:srgbClr val="AFC4F5"/>
            </a:solidFill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临床文本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5AED96-5DBA-4F0D-8634-B0C631AD0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18097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4F6"/>
          </a:solidFill>
          <a:ln xmlns:a="http://schemas.openxmlformats.org/drawingml/2006/main" w="14288">
            <a:solidFill>
              <a:srgbClr val="9DD4D9"/>
            </a:solidFill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HPO 表型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499D5E-23F1-465B-908E-8059FE3B2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18097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DF7F2"/>
          </a:solidFill>
          <a:ln xmlns:a="http://schemas.openxmlformats.org/drawingml/2006/main" w="14288">
            <a:solidFill>
              <a:srgbClr val="A8D6C3"/>
            </a:solidFill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基因检测与 VCF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7E352D-4FBA-4A83-A1F3-EC5CF51F1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124075"/>
            <a:ext cx="24765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14288">
            <a:solidFill>
              <a:srgbClr val="102A43"/>
            </a:solidFill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DeepRare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中央推理与工具调度</a:t>
            </a:r>
          </a:p>
        </p:txBody>
      </p:sp>
      <p:cxnSp>
        <p:nvCxnSpPr>
          <p:cNvPr id="31" name=""/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419350" y="1752600"/>
            <a:ext cx="819150" cy="9620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0955">
            <a:solidFill>
              <a:srgbClr val="0E7C86"/>
            </a:solidFill>
            <a:prstDash val="solid"/>
            <a:tailEnd type="triangle" w="sm" len="sm"/>
          </a:ln>
        </p:spPr>
      </p:cxnSp>
      <p:cxnSp>
        <p:nvCxnSpPr>
          <p:cNvPr id="32" name=""/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419350" y="2571750"/>
            <a:ext cx="819150" cy="1428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0955">
            <a:solidFill>
              <a:srgbClr val="0E7C86"/>
            </a:solidFill>
            <a:prstDash val="solid"/>
            <a:tailEnd type="triangle" w="sm" len="sm"/>
          </a:ln>
        </p:spPr>
      </p:cxnSp>
      <p:cxnSp>
        <p:nvCxnSpPr>
          <p:cNvPr id="33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2419350" y="2714625"/>
            <a:ext cx="819150" cy="6762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0955">
            <a:solidFill>
              <a:srgbClr val="0E7C86"/>
            </a:solidFill>
            <a:prstDash val="solid"/>
            <a:tailEnd type="triangle" w="sm" len="sm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386461-94D4-4C02-80C5-829F5DD5C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905250"/>
            <a:ext cx="2476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6F2EB"/>
          </a:solidFill>
          <a:ln xmlns:a="http://schemas.openxmlformats.org/drawingml/2006/main" w="14288">
            <a:solidFill>
              <a:srgbClr val="D9C9AF"/>
            </a:solidFill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40+ 专业工具与知识来源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表型 · 基因 · 论文 · 病例</a:t>
            </a:r>
          </a:p>
        </p:txBody>
      </p:sp>
      <p:cxnSp>
        <p:nvCxnSpPr>
          <p:cNvPr id="35" name=""/>
          <p:cNvCxnSpPr>
            <a:stCxn xmlns:a="http://schemas.openxmlformats.org/drawingml/2006/main" id="11" idx="0"/>
            <a:endCxn xmlns:a="http://schemas.openxmlformats.org/drawingml/2006/main" id="7" idx="2"/>
          </p:cNvCxnSpPr>
          <p:nvPr/>
        </p:nvCxnSpPr>
        <p:spPr>
          <a:xfrm xmlns:a="http://schemas.openxmlformats.org/drawingml/2006/main" flipV="1">
            <a:off x="4476750" y="3305175"/>
            <a:ext cx="0" cy="6000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E7C86"/>
            </a:solidFill>
            <a:prstDash val="solid"/>
            <a:tailEnd type="triangle" w="sm" len="sm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7FAA52-2C7F-4452-AA1C-EE3B10E31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371600"/>
            <a:ext cx="2095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DF3FF"/>
          </a:solidFill>
          <a:ln xmlns:a="http://schemas.openxmlformats.org/drawingml/2006/main" w="14288">
            <a:solidFill>
              <a:srgbClr val="AFC4F5"/>
            </a:solidFill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生成初步诊断假设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D628E2-999B-4AD8-819D-F0D7256C1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438400"/>
            <a:ext cx="2095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2E8"/>
          </a:solidFill>
          <a:ln xmlns:a="http://schemas.openxmlformats.org/drawingml/2006/main" w="14288">
            <a:solidFill>
              <a:srgbClr val="EFC397"/>
            </a:solidFill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自我反思与重新检索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9DC008-7343-4014-9F51-62E789AE1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505200"/>
            <a:ext cx="2095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4F6"/>
          </a:solidFill>
          <a:ln xmlns:a="http://schemas.openxmlformats.org/drawingml/2006/main" w="14288">
            <a:solidFill>
              <a:srgbClr val="9DD4D9"/>
            </a:solidFill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验证或否定假设</a:t>
            </a:r>
          </a:p>
        </p:txBody>
      </p:sp>
      <p:cxnSp>
        <p:nvCxnSpPr>
          <p:cNvPr id="39" name=""/>
          <p:cNvCxnSpPr>
            <a:stCxn xmlns:a="http://schemas.openxmlformats.org/drawingml/2006/main" id="7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 flipV="1">
            <a:off x="5715000" y="1704975"/>
            <a:ext cx="1000125" cy="10096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E7C86"/>
            </a:solidFill>
            <a:prstDash val="solid"/>
            <a:tailEnd type="triangle" w="sm" len="sm"/>
          </a:ln>
        </p:spPr>
      </p:cxnSp>
      <p:cxnSp>
        <p:nvCxnSpPr>
          <p:cNvPr id="40" name=""/>
          <p:cNvCxnSpPr>
            <a:stCxn xmlns:a="http://schemas.openxmlformats.org/drawingml/2006/main" id="13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>
            <a:off x="7762875" y="2038350"/>
            <a:ext cx="0" cy="4000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E7C86"/>
            </a:solidFill>
            <a:prstDash val="solid"/>
            <a:tailEnd type="triangle" w="sm" len="sm"/>
          </a:ln>
        </p:spPr>
      </p:cxnSp>
      <p:cxnSp>
        <p:nvCxnSpPr>
          <p:cNvPr id="41" name=""/>
          <p:cNvCxnSpPr>
            <a:stCxn xmlns:a="http://schemas.openxmlformats.org/drawingml/2006/main" id="14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>
            <a:off x="7762875" y="3105150"/>
            <a:ext cx="0" cy="4000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E7C86"/>
            </a:solidFill>
            <a:prstDash val="solid"/>
            <a:tailEnd type="triangle" w="sm" len="sm"/>
          </a:ln>
        </p:spPr>
      </p:cxnSp>
      <p:cxnSp>
        <p:nvCxnSpPr>
          <p:cNvPr id="42" name=""/>
          <p:cNvCxnSpPr>
            <a:stCxn xmlns:a="http://schemas.openxmlformats.org/drawingml/2006/main" id="15" idx="1"/>
            <a:endCxn xmlns:a="http://schemas.openxmlformats.org/drawingml/2006/main" id="14" idx="1"/>
          </p:cNvCxnSpPr>
          <p:nvPr/>
        </p:nvCxnSpPr>
        <p:spPr>
          <a:xfrm xmlns:a="http://schemas.openxmlformats.org/drawingml/2006/main" flipV="1">
            <a:off x="6486525" y="2771775"/>
            <a:ext cx="228600" cy="1066800"/>
          </a:xfrm>
          <a:prstGeom xmlns:a="http://schemas.openxmlformats.org/drawingml/2006/main" prst="bentConnector4">
            <a:avLst/>
          </a:prstGeom>
          <a:ln xmlns:a="http://schemas.openxmlformats.org/drawingml/2006/main" w="20955">
            <a:solidFill>
              <a:srgbClr val="E28A3B"/>
            </a:solidFill>
            <a:prstDash val="solid"/>
            <a:tailEnd type="triangle" w="sm" len="sm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63F500-197C-4BD5-B508-6D85D0D48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333625"/>
            <a:ext cx="20002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0E7C86"/>
          </a:solidFill>
          <a:ln xmlns:a="http://schemas.openxmlformats.org/drawingml/2006/main" w="14288">
            <a:solidFill>
              <a:srgbClr val="0E7C86"/>
            </a:solidFill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候选疾病排名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推理过程与证据链</a:t>
            </a:r>
          </a:p>
        </p:txBody>
      </p:sp>
      <p:cxnSp>
        <p:nvCxnSpPr>
          <p:cNvPr id="44" name=""/>
          <p:cNvCxnSpPr>
            <a:stCxn xmlns:a="http://schemas.openxmlformats.org/drawingml/2006/main" id="15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 flipV="1">
            <a:off x="8810625" y="2886075"/>
            <a:ext cx="809625" cy="95250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E7C86"/>
            </a:solidFill>
            <a:prstDash val="solid"/>
            <a:tailEnd type="triangle" w="sm" len="sm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ECC513-C2C2-443D-9466-439A96ABC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476875"/>
            <a:ext cx="571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模型、医学工具和外部证据共同参与诊断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EA90EC-F26B-493F-BB6D-A92833C1C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8191A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191A1"/>
                </a:solidFill>
                <a:latin typeface="Microsoft YaHei"/>
                <a:ea typeface="Microsoft YaHei"/>
                <a:cs typeface="Microsoft YaHei"/>
              </a:rPr>
              <a:t>多智能体医疗论文分享</a:t>
            </a:r>
          </a:p>
        </p:txBody>
      </p:sp>
    </p:spTree>
    <p:extLst>
      <p:ext uri="{BB962C8B-B14F-4D97-AF65-F5344CB8AC3E}">
        <p14:creationId xmlns:p14="http://schemas.microsoft.com/office/powerpoint/2010/main" val="200906189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4F574E-7682-4678-A774-FB2158238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19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DeepRare 的实验表现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EEC7AE-BFB1-4BCA-8332-E306AD5F7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AF095B-216F-4B2E-9D5F-B66A6DFD8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6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926107-FEAE-430F-B089-B69D919B6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81125"/>
            <a:ext cx="1047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9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790571-83C3-4004-9674-508B929D6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097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07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7080"/>
                </a:solidFill>
                <a:latin typeface="Microsoft YaHei"/>
                <a:ea typeface="Microsoft YaHei"/>
                <a:cs typeface="Microsoft YaHei"/>
              </a:rPr>
              <a:t>个数据集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C939AE-45FE-45E4-B850-E4965FAE5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381125"/>
            <a:ext cx="1238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90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6BE0B7-5EF5-4EB8-8371-F5888758E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0097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07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7080"/>
                </a:solidFill>
                <a:latin typeface="Microsoft YaHei"/>
                <a:ea typeface="Microsoft YaHei"/>
                <a:cs typeface="Microsoft YaHei"/>
              </a:rPr>
              <a:t>个医学专科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3B1C88-8E4B-46D3-B04A-79B003FE8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381125"/>
            <a:ext cx="1714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9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2,919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4B8F9C-69D7-4496-91E1-7403AACD9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0097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07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7080"/>
                </a:solidFill>
                <a:latin typeface="Microsoft YaHei"/>
                <a:ea typeface="Microsoft YaHei"/>
                <a:cs typeface="Microsoft YaHei"/>
              </a:rPr>
              <a:t>种罕见病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FEB96C-3492-4AD2-93E9-68E8EAB07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29540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多模态病例 Recall@1</a:t>
            </a:r>
          </a:p>
        </p:txBody>
      </p:sp>
      <p:graphicFrame>
        <p:nvGraphicFramePr>
          <p:cNvPr id="28" name="Chart"/>
          <p:cNvGraphicFramePr/>
          <p:nvPr/>
        </p:nvGraphicFramePr>
        <p:xfrm>
          <a:off xmlns:a="http://schemas.openxmlformats.org/drawingml/2006/main" x="6286500" y="1714500"/>
          <a:ext xmlns:a="http://schemas.openxmlformats.org/drawingml/2006/main" cx="4953000" cy="2000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eb22b7511204403"/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8E37BC-56EA-4FDE-A34F-59F919529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2425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36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57.18%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E919BF-F7F9-4823-9011-AC2AF91C7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719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607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7080"/>
                </a:solidFill>
                <a:latin typeface="Microsoft YaHei"/>
                <a:ea typeface="Microsoft YaHei"/>
                <a:cs typeface="Microsoft YaHei"/>
              </a:rPr>
              <a:t>HPO 任务平均 Recall@1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77BE50-90F5-48F4-9161-8C673EBE4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52425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360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95.4%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EE85F3-BCCB-43D2-A5D0-FDF95C962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1719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607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7080"/>
                </a:solidFill>
                <a:latin typeface="Microsoft YaHei"/>
                <a:ea typeface="Microsoft YaHei"/>
                <a:cs typeface="Microsoft YaHei"/>
              </a:rPr>
              <a:t>专家认可推理链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D123B6-82CA-4AA0-8793-F2FC582C1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29250"/>
            <a:ext cx="1009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外部工具与证据链提升了罕见病诊断的可用性，但临床使用仍需医生监督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52376D-AA85-4C1B-948F-0AF8E92D8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8191A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191A1"/>
                </a:solidFill>
                <a:latin typeface="Microsoft YaHei"/>
                <a:ea typeface="Microsoft YaHei"/>
                <a:cs typeface="Microsoft YaHei"/>
              </a:rPr>
              <a:t>多智能体医疗论文分享</a:t>
            </a:r>
          </a:p>
        </p:txBody>
      </p:sp>
    </p:spTree>
    <p:extLst>
      <p:ext uri="{BB962C8B-B14F-4D97-AF65-F5344CB8AC3E}">
        <p14:creationId xmlns:p14="http://schemas.microsoft.com/office/powerpoint/2010/main" val="204857903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2342A9F-C7DB-4274-8E53-7169008EA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19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MedLA：用逻辑树定位推理错误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6C6D68-ACBE-4220-9B30-89B8F2C79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459C16-70A4-4035-A105-60972152D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6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1D3B98-2B9E-4690-AFA0-B4CE5C7FB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最小逻辑单元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A87173-AED9-4BAF-B6F5-F86A81BE9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2857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DF3FF"/>
          </a:solidFill>
          <a:ln xmlns:a="http://schemas.openxmlformats.org/drawingml/2006/main" w="14288">
            <a:solidFill>
              <a:srgbClr val="AFC4F5"/>
            </a:solidFill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大前提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细菌感染常伴随白细胞升高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CF4927-FD49-4B04-9924-08E15684C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2857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AF4F6"/>
          </a:solidFill>
          <a:ln xmlns:a="http://schemas.openxmlformats.org/drawingml/2006/main" w="14288">
            <a:solidFill>
              <a:srgbClr val="9DD4D9"/>
            </a:solidFill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小前提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患者白细胞明显升高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FA01E1-EBB0-489B-8AE9-05DC0C790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0100"/>
            <a:ext cx="2857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14288">
            <a:solidFill>
              <a:srgbClr val="102A43"/>
            </a:solidFill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结论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患者可能存在细菌感染</a:t>
            </a:r>
          </a:p>
        </p:txBody>
      </p:sp>
      <p:cxnSp>
        <p:nvCxnSpPr>
          <p:cNvPr id="32" name=""/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H="1">
            <a:off x="381000" y="2324100"/>
            <a:ext cx="3314700" cy="2724150"/>
          </a:xfrm>
          <a:prstGeom xmlns:a="http://schemas.openxmlformats.org/drawingml/2006/main" prst="bentConnector4">
            <a:avLst/>
          </a:prstGeom>
          <a:ln xmlns:a="http://schemas.openxmlformats.org/drawingml/2006/main" w="20955">
            <a:solidFill>
              <a:srgbClr val="0E7C86"/>
            </a:solidFill>
            <a:prstDash val="solid"/>
            <a:tailEnd type="triangle" w="sm" len="sm"/>
          </a:ln>
        </p:spPr>
      </p:cxnSp>
      <p:cxnSp>
        <p:nvCxnSpPr>
          <p:cNvPr id="33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H="1">
            <a:off x="381000" y="3543300"/>
            <a:ext cx="3314700" cy="1504950"/>
          </a:xfrm>
          <a:prstGeom xmlns:a="http://schemas.openxmlformats.org/drawingml/2006/main" prst="bentConnector4">
            <a:avLst/>
          </a:prstGeom>
          <a:ln xmlns:a="http://schemas.openxmlformats.org/drawingml/2006/main" w="20955">
            <a:solidFill>
              <a:srgbClr val="0E7C86"/>
            </a:solidFill>
            <a:prstDash val="solid"/>
            <a:tailEnd type="triangle" w="sm" len="sm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EA5A05-0976-4C63-B02A-A3162D21B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2573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多个智能体的逻辑树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B221D6-C31F-4F2D-91FD-2327D2EB1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81250"/>
            <a:ext cx="1619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14288">
            <a:solidFill>
              <a:srgbClr val="102A43"/>
            </a:solidFill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最终判断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7AA1F6-D913-4E6C-B90C-B8396B254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981200"/>
            <a:ext cx="16192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DF3FF"/>
          </a:solidFill>
          <a:ln xmlns:a="http://schemas.openxmlformats.org/drawingml/2006/main" w="14288">
            <a:solidFill>
              <a:srgbClr val="AFC4F5"/>
            </a:solidFill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医学规律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5BE1A2-E577-445F-B138-D8C1A04ED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00375"/>
            <a:ext cx="16192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4F6"/>
          </a:solidFill>
          <a:ln xmlns:a="http://schemas.openxmlformats.org/drawingml/2006/main" w="14288">
            <a:solidFill>
              <a:srgbClr val="9DD4D9"/>
            </a:solidFill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患者事实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E83AD8-8C28-4643-8F10-A4343D576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981200"/>
            <a:ext cx="16192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2E8"/>
          </a:solidFill>
          <a:ln xmlns:a="http://schemas.openxmlformats.org/drawingml/2006/main" w="14288">
            <a:solidFill>
              <a:srgbClr val="EFC397"/>
            </a:solidFill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中间推断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392F14-BFC4-4ED2-9E03-0A2034FF6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714750"/>
            <a:ext cx="16192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BECEC"/>
          </a:solidFill>
          <a:ln xmlns:a="http://schemas.openxmlformats.org/drawingml/2006/main" w="14288">
            <a:solidFill>
              <a:srgbClr val="E3A9A9"/>
            </a:solidFill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C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95757"/>
                </a:solidFill>
                <a:latin typeface="Microsoft YaHei"/>
                <a:ea typeface="Microsoft YaHei"/>
                <a:cs typeface="Microsoft YaHei"/>
              </a:rPr>
              <a:t>冲突节点</a:t>
            </a:r>
          </a:p>
        </p:txBody>
      </p:sp>
      <p:cxnSp>
        <p:nvCxnSpPr>
          <p:cNvPr id="40" name=""/>
          <p:cNvCxnSpPr>
            <a:stCxn xmlns:a="http://schemas.openxmlformats.org/drawingml/2006/main" id="12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6381750" y="230505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E7C86"/>
            </a:solidFill>
            <a:prstDash val="solid"/>
            <a:tailEnd type="triangle" w="sm" len="sm"/>
          </a:ln>
        </p:spPr>
      </p:cxnSp>
      <p:cxnSp>
        <p:nvCxnSpPr>
          <p:cNvPr id="41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 flipV="1">
            <a:off x="6381750" y="2305050"/>
            <a:ext cx="571500" cy="10191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0955">
            <a:solidFill>
              <a:srgbClr val="0E7C86"/>
            </a:solidFill>
            <a:prstDash val="solid"/>
            <a:tailEnd type="triangle" w="sm" len="sm"/>
          </a:ln>
        </p:spPr>
      </p:cxnSp>
      <p:cxnSp>
        <p:nvCxnSpPr>
          <p:cNvPr id="42" name=""/>
          <p:cNvCxnSpPr>
            <a:stCxn xmlns:a="http://schemas.openxmlformats.org/drawingml/2006/main" id="14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 flipH="1">
            <a:off x="8096250" y="2305050"/>
            <a:ext cx="476250" cy="41910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E7C86"/>
            </a:solidFill>
            <a:prstDash val="solid"/>
            <a:tailEnd type="triangle" w="sm" len="sm"/>
          </a:ln>
        </p:spPr>
      </p:cxnSp>
      <p:cxnSp>
        <p:nvCxnSpPr>
          <p:cNvPr id="43" name=""/>
          <p:cNvCxnSpPr>
            <a:stCxn xmlns:a="http://schemas.openxmlformats.org/drawingml/2006/main" id="15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 flipH="1" flipV="1">
            <a:off x="8096250" y="2724150"/>
            <a:ext cx="476250" cy="13144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0955">
            <a:solidFill>
              <a:srgbClr val="C95757"/>
            </a:solidFill>
            <a:prstDash val="solid"/>
            <a:tailEnd type="triangle" w="sm" len="sm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9859D9-F6EC-4D53-969C-1B0A6F7B0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714750"/>
            <a:ext cx="21907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DF7F2"/>
          </a:solidFill>
          <a:ln xmlns:a="http://schemas.openxmlformats.org/drawingml/2006/main" w="14288">
            <a:solidFill>
              <a:srgbClr val="A8D6C3"/>
            </a:solidFill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可信度评估与多轮讨论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修正前提、遗漏和冲突</a:t>
            </a:r>
          </a:p>
        </p:txBody>
      </p:sp>
      <p:cxnSp>
        <p:nvCxnSpPr>
          <p:cNvPr id="45" name=""/>
          <p:cNvCxnSpPr>
            <a:stCxn xmlns:a="http://schemas.openxmlformats.org/drawingml/2006/main" id="15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8572500" y="4038600"/>
            <a:ext cx="666750" cy="1714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C95757"/>
            </a:solidFill>
            <a:prstDash val="solid"/>
            <a:tailEnd type="triangle" w="sm" len="sm"/>
          </a:ln>
        </p:spPr>
      </p:cxnSp>
      <p:cxnSp>
        <p:nvCxnSpPr>
          <p:cNvPr id="46" name=""/>
          <p:cNvCxnSpPr>
            <a:stCxn xmlns:a="http://schemas.openxmlformats.org/drawingml/2006/main" id="20" idx="0"/>
            <a:endCxn xmlns:a="http://schemas.openxmlformats.org/drawingml/2006/main" id="11" idx="3"/>
          </p:cNvCxnSpPr>
          <p:nvPr/>
        </p:nvCxnSpPr>
        <p:spPr>
          <a:xfrm xmlns:a="http://schemas.openxmlformats.org/drawingml/2006/main" flipH="1" flipV="1">
            <a:off x="9715500" y="2724150"/>
            <a:ext cx="619125" cy="990600"/>
          </a:xfrm>
          <a:prstGeom xmlns:a="http://schemas.openxmlformats.org/drawingml/2006/main" prst="bentConnector5">
            <a:avLst>
              <a:gd name="adj1" fmla="val 0"/>
              <a:gd name="adj2" fmla="val 23077"/>
              <a:gd name="adj3" fmla="val 63077"/>
            </a:avLst>
          </a:prstGeom>
          <a:ln xmlns:a="http://schemas.openxmlformats.org/drawingml/2006/main" w="20955">
            <a:solidFill>
              <a:srgbClr val="2B8A66"/>
            </a:solidFill>
            <a:prstDash val="solid"/>
            <a:tailEnd type="triangle" w="sm" len="sm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A4CF9A-5D98-4891-92F8-3A938607C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524500"/>
            <a:ext cx="581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比较推理步骤，而不只比较最终答案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1E1E446-5A26-4BBC-9E47-A8E410405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8191A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191A1"/>
                </a:solidFill>
                <a:latin typeface="Microsoft YaHei"/>
                <a:ea typeface="Microsoft YaHei"/>
                <a:cs typeface="Microsoft YaHei"/>
              </a:rPr>
              <a:t>多智能体医疗论文分享</a:t>
            </a:r>
          </a:p>
        </p:txBody>
      </p:sp>
    </p:spTree>
    <p:extLst>
      <p:ext uri="{BB962C8B-B14F-4D97-AF65-F5344CB8AC3E}">
        <p14:creationId xmlns:p14="http://schemas.microsoft.com/office/powerpoint/2010/main" val="148267562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00448A-7FD5-4B69-A3BC-38789C551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19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DoctorAgent-RL：通过强化学习实现主动问诊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935579-814D-4BAB-9170-49B9CE532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E53AA4-4B41-4BCA-9AA5-87B359BBE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6E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D88210-C0F9-4E67-AD8F-51418ED0E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传统系统的问题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F0CE12-275D-4067-9E67-84ADE16A1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33337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575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患者难以一次说清所有症状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75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单轮问答容易缺少关键信息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575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传统多轮模型主要模仿既有对话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C4F311-2FB2-4B15-9987-F2472F0F5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457450"/>
            <a:ext cx="20002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DF3FF"/>
          </a:solidFill>
          <a:ln xmlns:a="http://schemas.openxmlformats.org/drawingml/2006/main" w="14288">
            <a:solidFill>
              <a:srgbClr val="AFC4F5"/>
            </a:solidFill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患者智能体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模拟真实表达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48FFE4-8B73-4671-8F2A-9755D8E07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457450"/>
            <a:ext cx="20002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14288">
            <a:solidFill>
              <a:srgbClr val="102A43"/>
            </a:solidFill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医生智能体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选择下一步问题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1A05A7-9264-4DB8-A8B8-5E4D1781C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457450"/>
            <a:ext cx="18097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AF4F6"/>
          </a:solidFill>
          <a:ln xmlns:a="http://schemas.openxmlformats.org/drawingml/2006/main" w="14288">
            <a:solidFill>
              <a:srgbClr val="9DD4D9"/>
            </a:solidFill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问诊评估器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C2733"/>
                </a:solidFill>
                <a:latin typeface="Microsoft YaHei"/>
                <a:ea typeface="Microsoft YaHei"/>
                <a:cs typeface="Microsoft YaHei"/>
              </a:rPr>
              <a:t>提供多维奖励</a:t>
            </a:r>
          </a:p>
        </p:txBody>
      </p:sp>
      <p:cxnSp>
        <p:nvCxnSpPr>
          <p:cNvPr id="25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6619875" y="2914650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E7C86"/>
            </a:solidFill>
            <a:prstDash val="solid"/>
            <a:headEnd type="triangle" w="sm" len="sm"/>
            <a:tailEnd type="triangle" w="sm" len="sm"/>
          </a:ln>
        </p:spPr>
      </p:cxnSp>
      <p:cxnSp>
        <p:nvCxnSpPr>
          <p:cNvPr id="26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9286875" y="2914650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E7C86"/>
            </a:solidFill>
            <a:prstDash val="solid"/>
            <a:tailEnd type="triangle" w="sm" len="sm"/>
          </a:ln>
        </p:spPr>
      </p:cxnSp>
      <p:cxnSp>
        <p:nvCxnSpPr>
          <p:cNvPr id="27" name=""/>
          <p:cNvCxnSpPr>
            <a:stCxn xmlns:a="http://schemas.openxmlformats.org/drawingml/2006/main" id="8" idx="2"/>
            <a:endCxn xmlns:a="http://schemas.openxmlformats.org/drawingml/2006/main" id="7" idx="2"/>
          </p:cNvCxnSpPr>
          <p:nvPr/>
        </p:nvCxnSpPr>
        <p:spPr>
          <a:xfrm xmlns:a="http://schemas.openxmlformats.org/drawingml/2006/main" flipH="1">
            <a:off x="8286750" y="3371850"/>
            <a:ext cx="2524125" cy="228600"/>
          </a:xfrm>
          <a:prstGeom xmlns:a="http://schemas.openxmlformats.org/drawingml/2006/main" prst="bentConnector4">
            <a:avLst/>
          </a:prstGeom>
          <a:ln xmlns:a="http://schemas.openxmlformats.org/drawingml/2006/main" w="20955">
            <a:solidFill>
              <a:srgbClr val="E28A3B"/>
            </a:solidFill>
            <a:prstDash val="solid"/>
            <a:tailEnd type="triangle" w="sm" len="sm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C844CF-6D79-46A7-A2F0-384A94D39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47875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提问与回答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A62A1D-C3EC-4D25-A396-5D776266A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8290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E28A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E28A3B"/>
                </a:solidFill>
                <a:latin typeface="Microsoft YaHei"/>
                <a:ea typeface="Microsoft YaHei"/>
                <a:cs typeface="Microsoft YaHei"/>
              </a:rPr>
              <a:t>奖励反馈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18B9A4-8F77-4C40-93F2-323B669B7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391150"/>
            <a:ext cx="6896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学习重点：如何通过提问逐步找到答案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CF8572-9744-4613-B012-FC0C6B668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953125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论文报告完全诊断匹配率约 70%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252591-F865-4986-8818-627B45A38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8191A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191A1"/>
                </a:solidFill>
                <a:latin typeface="Microsoft YaHei"/>
                <a:ea typeface="Microsoft YaHei"/>
                <a:cs typeface="Microsoft YaHei"/>
              </a:rPr>
              <a:t>多智能体医疗论文分享</a:t>
            </a:r>
          </a:p>
        </p:txBody>
      </p:sp>
    </p:spTree>
    <p:extLst>
      <p:ext uri="{BB962C8B-B14F-4D97-AF65-F5344CB8AC3E}">
        <p14:creationId xmlns:p14="http://schemas.microsoft.com/office/powerpoint/2010/main" val="85670736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2026-09-17T05:07:33.2770000Z</dcterms:created>
  <dcterms:modified xsi:type="dcterms:W3CDTF">2026-09-17T05:07:33.2770000Z</dcterms:modified>
</coreProperties>
</file>