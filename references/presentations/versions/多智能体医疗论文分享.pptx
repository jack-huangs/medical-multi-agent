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530a16de284100" /><Relationship Type="http://schemas.openxmlformats.org/officeDocument/2006/relationships/extended-properties" Target="/docProps/app.xml" Id="Re43a4da9151a4def" /><Relationship Type="http://schemas.openxmlformats.org/officeDocument/2006/relationships/officeDocument" Target="/ppt/presentation.xml" Id="R46ab5e64667b40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e3c2cd0d349d4"/>
  </p:sldMasterIdLst>
  <p:notesMasterIdLst>
    <p:notesMasterId xmlns:r="http://schemas.openxmlformats.org/officeDocument/2006/relationships" r:id="R847c3218f14440c8"/>
  </p:notesMasterIdLst>
  <p:sldIdLst>
    <p:sldId xmlns:r="http://schemas.openxmlformats.org/officeDocument/2006/relationships" id="256" r:id="R56e97828bc744dfe"/>
    <p:sldId xmlns:r="http://schemas.openxmlformats.org/officeDocument/2006/relationships" id="257" r:id="Re0778c4991894dd3"/>
    <p:sldId xmlns:r="http://schemas.openxmlformats.org/officeDocument/2006/relationships" id="258" r:id="R35b1aaf8108d4ce5"/>
    <p:sldId xmlns:r="http://schemas.openxmlformats.org/officeDocument/2006/relationships" id="259" r:id="R89475109c0934749"/>
    <p:sldId xmlns:r="http://schemas.openxmlformats.org/officeDocument/2006/relationships" id="260" r:id="Rda90d37087c94d91"/>
    <p:sldId xmlns:r="http://schemas.openxmlformats.org/officeDocument/2006/relationships" id="261" r:id="R0a4508194d474d3b"/>
    <p:sldId xmlns:r="http://schemas.openxmlformats.org/officeDocument/2006/relationships" id="262" r:id="Ra2d38a77ffac487f"/>
    <p:sldId xmlns:r="http://schemas.openxmlformats.org/officeDocument/2006/relationships" id="263" r:id="Re05d70be343e4480"/>
    <p:sldId xmlns:r="http://schemas.openxmlformats.org/officeDocument/2006/relationships" id="264" r:id="R540d2aea515542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3dee53e144489" /><Relationship Type="http://schemas.openxmlformats.org/officeDocument/2006/relationships/slideMaster" Target="/ppt/slideMasters/slideMaster1.xml" Id="Rd3de3c2cd0d349d4" /><Relationship Type="http://schemas.openxmlformats.org/officeDocument/2006/relationships/notesMaster" Target="/ppt/notesMasters/notesMaster1.xml" Id="R847c3218f14440c8" /><Relationship Type="http://schemas.openxmlformats.org/officeDocument/2006/relationships/presProps" Target="/ppt/presProps.xml" Id="R696d8f702e6148e9" /><Relationship Type="http://schemas.openxmlformats.org/officeDocument/2006/relationships/tableStyles" Target="/ppt/tableStyles.xml" Id="Rddd5eda586214b91" /><Relationship Type="http://schemas.openxmlformats.org/officeDocument/2006/relationships/slide" Target="/ppt/slides/slide1.xml" Id="R56e97828bc744dfe" /><Relationship Type="http://schemas.openxmlformats.org/officeDocument/2006/relationships/slide" Target="/ppt/slides/slide2.xml" Id="Re0778c4991894dd3" /><Relationship Type="http://schemas.openxmlformats.org/officeDocument/2006/relationships/slide" Target="/ppt/slides/slide3.xml" Id="R35b1aaf8108d4ce5" /><Relationship Type="http://schemas.openxmlformats.org/officeDocument/2006/relationships/slide" Target="/ppt/slides/slide4.xml" Id="R89475109c0934749" /><Relationship Type="http://schemas.openxmlformats.org/officeDocument/2006/relationships/slide" Target="/ppt/slides/slide5.xml" Id="Rda90d37087c94d91" /><Relationship Type="http://schemas.openxmlformats.org/officeDocument/2006/relationships/slide" Target="/ppt/slides/slide6.xml" Id="R0a4508194d474d3b" /><Relationship Type="http://schemas.openxmlformats.org/officeDocument/2006/relationships/slide" Target="/ppt/slides/slide7.xml" Id="Ra2d38a77ffac487f" /><Relationship Type="http://schemas.openxmlformats.org/officeDocument/2006/relationships/slide" Target="/ppt/slides/slide8.xml" Id="Re05d70be343e4480" /><Relationship Type="http://schemas.openxmlformats.org/officeDocument/2006/relationships/slide" Target="/ppt/slides/slide9.xml" Id="R540d2aea515542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15c303a2f1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f439706cf40f3" /><Relationship Type="http://schemas.openxmlformats.org/officeDocument/2006/relationships/notesMaster" Target="/ppt/notesMasters/notesMaster1.xml" Id="R3ca5cf43d9bc4c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e85568f25c42a6" /><Relationship Type="http://schemas.openxmlformats.org/officeDocument/2006/relationships/notesMaster" Target="/ppt/notesMasters/notesMaster1.xml" Id="Recf4157922a5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ec6eb8ff84cd1" /><Relationship Type="http://schemas.openxmlformats.org/officeDocument/2006/relationships/notesMaster" Target="/ppt/notesMasters/notesMaster1.xml" Id="R1287f260e3be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1ddd719b14be6" /><Relationship Type="http://schemas.openxmlformats.org/officeDocument/2006/relationships/notesMaster" Target="/ppt/notesMasters/notesMaster1.xml" Id="Red469b164ae944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f6f74b0e14957" /><Relationship Type="http://schemas.openxmlformats.org/officeDocument/2006/relationships/notesMaster" Target="/ppt/notesMasters/notesMaster1.xml" Id="Rc54024f9ff35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b8059dbe0f4565" /><Relationship Type="http://schemas.openxmlformats.org/officeDocument/2006/relationships/notesMaster" Target="/ppt/notesMasters/notesMaster1.xml" Id="Rc860b91f25bf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a85250cf146ee" /><Relationship Type="http://schemas.openxmlformats.org/officeDocument/2006/relationships/notesMaster" Target="/ppt/notesMasters/notesMaster1.xml" Id="Rad36410536d14b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9b425efa7248c0" /><Relationship Type="http://schemas.openxmlformats.org/officeDocument/2006/relationships/notesMaster" Target="/ppt/notesMasters/notesMaster1.xml" Id="R1d7290d35f9845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215cfd32674594" /><Relationship Type="http://schemas.openxmlformats.org/officeDocument/2006/relationships/notesMaster" Target="/ppt/notesMasters/notesMaster1.xml" Id="Rff18403973df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资料来源：用户提供的论文与内容规划文档。</a:t>
            </a:r>
          </a:p>
          <a:p xmlns:a="http://schemas.openxmlformats.org/drawingml/2006/main">
            <a:r>
              <a:t>开场说明本次分享关注多智能体医疗系统的协作机制。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资料来源：综合用户提供的五篇论文。</a:t>
            </a:r>
          </a:p>
          <a:p xmlns:a="http://schemas.openxmlformats.org/drawingml/2006/main">
            <a:r>
              <a:t>强调多智能体的动机来自医学知识跨度、数据复杂性和临床协作结构。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资料来源：用户提供的内容规划文档。</a:t>
            </a:r>
          </a:p>
          <a:p xmlns:a="http://schemas.openxmlformats.org/drawingml/2006/main">
            <a:r>
              <a:t>本页只展示整体协作流程。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资料来源：MDAgents: An Adaptive Collaboration of LLMs for Medical Decision-Making, NeurIPS 2024。</a:t>
            </a:r>
          </a:p>
          <a:p xmlns:a="http://schemas.openxmlformats.org/drawingml/2006/main">
            <a:r>
              <a:t>论文根据低、中、高复杂度选择不同协作结构。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 Knowledge-driven Adaptive Collaboration of LLMs for Enhancing Medical Decision-making, EMNLP 2025。</a:t>
            </a:r>
          </a:p>
          <a:p xmlns:a="http://schemas.openxmlformats.org/drawingml/2006/main">
            <a:r>
              <a:t>重点讲知识缺口检测和讨论中招募新专家。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本页合并系统能力和诊断流程。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图表比较 168 个多模态病例中的 Recall@1。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资料来源：MedLA: A Logic-Driven Multi-Agent Framework for Complex Medical Reasoning with Large Language Models, AAAI 2026。</a:t>
            </a:r>
          </a:p>
          <a:p xmlns:a="http://schemas.openxmlformats.org/drawingml/2006/main">
            <a:r>
              <a:t>重点讲大前提、小前提、结论和前提级冲突定位。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资料来源：Real-World Doctor Agent with Proactive Consultation through Multi-Agent Reinforcement Learning, arXiv:2505.19630v4。</a:t>
            </a:r>
          </a:p>
          <a:p xmlns:a="http://schemas.openxmlformats.org/drawingml/2006/main">
            <a:r>
              <a:t>介绍患者智能体、医生智能体和问诊评估器的互动。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6ec39c9bd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2fed9b8cc4477" /><Relationship Type="http://schemas.openxmlformats.org/officeDocument/2006/relationships/slideLayout" Target="/ppt/slideLayouts/slideLayout1.xml" Id="Rc0eb5ec3adcf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b5ec3adcf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d47466ecf4b46" /><Relationship Type="http://schemas.openxmlformats.org/officeDocument/2006/relationships/notesSlide" Target="/ppt/notesSlides/notesSlide1.xml" Id="R84fb45739ede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c5e6b9c5a4c51" /><Relationship Type="http://schemas.openxmlformats.org/officeDocument/2006/relationships/notesSlide" Target="/ppt/notesSlides/notesSlide2.xml" Id="Ra7995ae206764b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970a3be374cf4" /><Relationship Type="http://schemas.openxmlformats.org/officeDocument/2006/relationships/notesSlide" Target="/ppt/notesSlides/notesSlide3.xml" Id="R556bb92038a5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9c319bba6444c" /><Relationship Type="http://schemas.openxmlformats.org/officeDocument/2006/relationships/notesSlide" Target="/ppt/notesSlides/notesSlide4.xml" Id="Rfe1d421c4df0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815c22614fb9" /><Relationship Type="http://schemas.openxmlformats.org/officeDocument/2006/relationships/notesSlide" Target="/ppt/notesSlides/notesSlide5.xml" Id="Rb72e21fc81e449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32aa0c27844fb" /><Relationship Type="http://schemas.openxmlformats.org/officeDocument/2006/relationships/notesSlide" Target="/ppt/notesSlides/notesSlide6.xml" Id="Rcdf0489e4c7d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843da028b4eda" /><Relationship Type="http://schemas.openxmlformats.org/officeDocument/2006/relationships/chart" Target="/ppt/slides/charts/chart1.xml" Id="R97f9039d49504945" /><Relationship Type="http://schemas.openxmlformats.org/officeDocument/2006/relationships/notesSlide" Target="/ppt/notesSlides/notesSlide7.xml" Id="R6160b0e3fb55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e6cc7ff2740ca" /><Relationship Type="http://schemas.openxmlformats.org/officeDocument/2006/relationships/notesSlide" Target="/ppt/notesSlides/notesSlide8.xml" Id="Rb9dfa7d1c69e42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b0a81a7944c03" /><Relationship Type="http://schemas.openxmlformats.org/officeDocument/2006/relationships/notesSlide" Target="/ppt/notesSlides/notesSlide9.xml" Id="R0094c5a144874e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Recall@1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Data'!$A$2:$A$3</c:f>
              <c:strCache>
                <c:ptCount val="2"/>
                <c:pt idx="0">
                  <c:v>DeepRare</c:v>
                </c:pt>
                <c:pt idx="1">
                  <c:v>Exomiser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69.1</c:v>
                </c:pt>
                <c:pt idx="1">
                  <c:v>55.9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C27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6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FF77B-273C-4383-B3AB-43FB3E50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多智能体大语言模型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FBA6B-82AE-4B4A-AF16-E931EC5B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在医疗决策中的应用与发展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AA554-6402-4C77-9A47-30334E18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rPr>
              <a:t>论文分享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D1EF6-D90C-4329-AB90-AA5915E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B8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658DD-B3C1-4183-921E-5074FD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黄锦佳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4EFFA-21FB-4429-8C78-37CC910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2026 年 9 月 17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79B9E-6EB9-47C8-B50A-0061021C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MDAgents · KAMAC · DeepRare · MedLA · DoctorAgent-RL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C7C7C-C55E-4DC3-B469-25D8CD1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rPr>
              <a:t>AI × MEDICINE</a:t>
            </a:r>
          </a:p>
        </p:txBody>
      </p:sp>
    </p:spTree>
    <p:extLst>
      <p:ext uri="{BB962C8B-B14F-4D97-AF65-F5344CB8AC3E}">
        <p14:creationId xmlns:p14="http://schemas.microsoft.com/office/powerpoint/2010/main" val="150533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57219-7933-4F68-87BB-BA08E12C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为什么医疗需要多智能体系统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72504-21B7-4785-BF6A-B9302300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D68F-D513-4084-92BE-33E1792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950BC-39B0-4576-BF05-439211D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复杂医疗决策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339EF-C8F4-45F2-B950-C43576D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多专科知识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需要共同参与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AA1C9-1629-4BD0-8DE9-7D19296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数据形式复杂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病历、影像、基因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1748-3FF8-4D83-8263-FBAC154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单模型可能遗漏信息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也可能产生幻觉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18EA-3CAF-4F3F-BB62-9936506B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真实医疗本身依赖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团队分工与协作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52800" y="1962150"/>
            <a:ext cx="126682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572375" y="1962150"/>
            <a:ext cx="126682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52800" y="3095625"/>
            <a:ext cx="12668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572375" y="3095625"/>
            <a:ext cx="12668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33940-296F-4C1E-A661-8CC6D9A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 AI 分别处理擅长的任务，再共同完成医疗决策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6BA79-A9D5-4D33-9F5A-B11B6DE4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77418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5A86E-CD95-433A-A5FD-98CB0C9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多智能体医疗系统的基本协作模式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83F40-7161-41C8-B192-E9DCFB2E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A1C6D-2A4F-400E-A583-5D3B0CA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A6287-D8A1-4F59-B026-72A8BAF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患者临床数据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40D1C-998E-4615-8664-FD36C060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全科与专科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D0CDF-05E6-4CFD-8CE7-F06E9DB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影像分析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EA64E-7E46-45B3-8130-1F8ECE4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基因分析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F810-EBD4-4D60-91CC-39DD772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医学知识检索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8FA28-6035-4C58-A1EE-AB9F2DD8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讨论与相互验证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8E9B6-E55E-425A-83A1-043705B2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综合分析结果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97D38-F4A9-438F-8393-83DBD8C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814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诊断或医疗建议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381250" y="1733550"/>
            <a:ext cx="857250" cy="1419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705100"/>
            <a:ext cx="85725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3152775"/>
            <a:ext cx="857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3152775"/>
            <a:ext cx="857250" cy="1495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34000" y="1733550"/>
            <a:ext cx="1000125" cy="1171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34000" y="2705100"/>
            <a:ext cx="100012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334000" y="2905125"/>
            <a:ext cx="100012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334000" y="2905125"/>
            <a:ext cx="1000125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429625" y="2257425"/>
            <a:ext cx="762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26479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08F04-BCCA-4C66-B45A-919FC35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377489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1FEC8-D7DF-4330-A067-B46CE032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MDAgents：按问题难度选择协作规模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62E67-B805-46EB-9A92-554249C3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47B4B-D8E5-4D16-A989-24D0E8A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E42A1-DEDE-4997-8EFC-A8E3F1C4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先判断复杂度，再分配协作资源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3BE8-C5B6-4748-B444-08F5D128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CF29-B00A-48F3-AE37-6C3DDB2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复杂度判断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8850" y="30099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6C4EA-B9D0-4C78-99E8-D26CB9B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287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单个基层医生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4DF40-3BA0-4CE7-AE98-63798E1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4320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中等复杂度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多学科团队讨论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B245-8D3B-4476-B7FF-5CB8FBA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高复杂度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多个专业小组分析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29150" y="1933575"/>
            <a:ext cx="1066800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29150" y="3009900"/>
            <a:ext cx="10668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29150" y="3009900"/>
            <a:ext cx="1066800" cy="1552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B711-1987-4464-AC51-BC570AD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最终医疗决策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72450" y="1933575"/>
            <a:ext cx="11239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172450" y="3086100"/>
            <a:ext cx="11239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172450" y="3086100"/>
            <a:ext cx="11239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037A1-8A49-41B1-901A-ED13A8D4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目标：在诊断准确率与调用成本之间取得平衡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5D0B8-6A32-4C19-903A-10872507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889806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A1E75-008A-4CA4-B8F8-66E1AE1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KAMAC：根据知识缺口动态招募专家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E4C22-1A72-46A4-92D0-4FD2EAF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FA1C2-13A3-4BC3-937B-D4967D1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D6FAD-18AA-496C-8A0A-3C84CA61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专家团队在讨论过程中逐步扩展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91D1B-18F4-4C68-BD7E-72C04D7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初始专家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独立分析病例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4B77B-3CA0-4E9A-A0F5-B10F7A9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交换与修正意见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F0F09-FB96-4056-A0C2-8F36F4EE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知识缺口检测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现有专家是否足够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2883-1AF3-4575-BECD-7CF5B827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动态招募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相关领域新专家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963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4667250" y="3429000"/>
            <a:ext cx="556260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E28A3B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7D70E-E1CB-477B-A20B-91802DB0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继续讨论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74527-0F66-4CBD-9BDA-62AD082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主持者综合专家意见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输出最终决策</a:t>
            </a:r>
          </a:p>
        </p:txBody>
      </p: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3429000"/>
            <a:ext cx="1352550" cy="1571625"/>
          </a:xfrm>
          <a:prstGeom xmlns:a="http://schemas.openxmlformats.org/drawingml/2006/main" prst="bentConnector4">
            <a:avLst>
              <a:gd name="adj1" fmla="val 0"/>
              <a:gd name="adj2" fmla="val 14545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94539-AB7C-4ABC-9385-45DCA311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没有知识缺口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C1ECE-222B-4A61-8BC8-0186094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714239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DF8F6-8F8A-4A9A-B41F-8230CEB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DeepRare：工具增强的罕见病诊断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3045-52F7-4738-AF60-8288F406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776B-6251-4EEF-95D9-F19B256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49AB0-5FE4-403D-BBF6-7A9158C0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临床文本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BA5BC-E630-4B9D-8930-072AA8C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HPO 表型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ECA85-B44B-4F2E-A024-2D328DFC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基因检测与 VCF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52DD4-E23C-43B9-989B-F81D4F7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24075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DeepRare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中央推理与工具调度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1752600"/>
            <a:ext cx="8191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2571750"/>
            <a:ext cx="8191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19350" y="2714625"/>
            <a:ext cx="8191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5F7FF-7125-464D-B00E-191260B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2EB"/>
          </a:solidFill>
          <a:ln xmlns:a="http://schemas.openxmlformats.org/drawingml/2006/main" w="14288">
            <a:solidFill>
              <a:srgbClr val="D9C9AF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40+ 专业工具与知识来源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表型 · 基因 · 论文 · 病例</a:t>
            </a:r>
          </a:p>
        </p:txBody>
      </p:sp>
      <p:cxnSp>
        <p:nvCxnSpPr>
          <p:cNvPr id="35" name=""/>
          <p:cNvCxnSpPr>
            <a:stCxn xmlns:a="http://schemas.openxmlformats.org/drawingml/2006/main" id="1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476750" y="330517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A9F5E-6342-43A2-B1E4-F61FF06C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生成初步诊断假设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4F5F4-887D-486B-9D81-DD7FAAE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自我反思与重新检索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58CD5-4771-467D-BD90-A5C638B3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验证或否定假设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715000" y="1704975"/>
            <a:ext cx="1000125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762875" y="20383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762875" y="31051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5" idx="1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486525" y="2771775"/>
            <a:ext cx="228600" cy="10668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E28A3B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7FCF5-89B0-4F03-A9DA-2E9B18F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候选疾病排名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推理过程与证据链</a:t>
            </a:r>
          </a:p>
        </p:txBody>
      </p: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810625" y="288607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4B5D3-55F0-47D2-80AB-575C2465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7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模型、医学工具和外部证据共同参与诊断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8A19E-05D4-41D1-93BD-4167821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759551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323CF-5D9C-4CB7-B595-C6A61CA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 的实验表现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D19D2-10AE-4554-886A-3F9846FA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23976-C616-401A-920E-2171996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8315F-6896-4037-916E-F3862A0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4D617-50A8-4831-ABD3-0671E88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个数据集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C87E-3180-4B6A-82F6-13D9B1F0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81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9A097-96C1-431A-B4CF-6619A47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个医学专科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48AE9-116B-4456-B72A-41CC5C6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2,919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5BA22-2BFC-420F-ABAB-98EF8B9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种罕见病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A7183-23AD-4D1C-9C39-2BD8507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9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多模态病例 Recall@1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286500" y="1714500"/>
          <a:ext xmlns:a="http://schemas.openxmlformats.org/drawingml/2006/main" cx="4953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f9039d4950494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AAD2E-3DEE-44E4-B8AD-E70AD13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57.18%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B2C77-119A-4FC6-87BB-9747CAB9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HPO 任务平均 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5FD82-1E76-469D-BCEE-2D13CAF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95.4%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00E3C-8596-422A-AB53-8765526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专家认可推理链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993D4-6813-4DDB-BBF5-3FA35C8E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外部工具与证据链提升了罕见病诊断的可用性，但临床使用仍需医生监督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852BD-1501-4D21-A5EC-1064930D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463747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A6C8F-294F-47E1-BB30-4328F69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MedLA：用逻辑树定位推理错误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D57E8-BC8F-4F85-ACD8-047385EE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208E7-7891-44C5-8569-3F83556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DEF37-C955-445F-A86F-A4C36F9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最小逻辑单元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84CFD-2E5B-46B2-AAA2-1B5CA6C3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大前提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细菌感染常伴随白细胞升高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E9BCB-A367-4290-A8AE-EF1E4A4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小前提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患者白细胞明显升高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C9FF9-241E-4BD1-A645-32A8551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患者可能存在细菌感染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381000" y="2324100"/>
            <a:ext cx="3314700" cy="272415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381000" y="3543300"/>
            <a:ext cx="3314700" cy="150495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68AD1-ECAB-4F2B-A31B-49281E2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57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多个智能体的逻辑树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620C9-B43B-4C2B-8797-BF48252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7378B-0B42-4763-A669-17F6339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医学规律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820D8-5EC9-4F7C-89DB-C9F13FAC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F438A-2D66-4013-9C60-ABFD26F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中间推断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63FC8-1F32-4F9B-9AEF-201417B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4288">
            <a:solidFill>
              <a:srgbClr val="E3A9A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rPr>
              <a:t>冲突节点</a:t>
            </a:r>
          </a:p>
        </p:txBody>
      </p: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38175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381750" y="2305050"/>
            <a:ext cx="5715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8096250" y="2305050"/>
            <a:ext cx="476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8096250" y="2724150"/>
            <a:ext cx="476250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95757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4B5BA-EB5C-4C76-9BCF-003ED8D3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可信度评估与多轮讨论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修正前提、遗漏和冲突</a:t>
            </a:r>
          </a:p>
        </p:txBody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572500" y="4038600"/>
            <a:ext cx="666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95757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20" idx="0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9715500" y="2724150"/>
            <a:ext cx="619125" cy="990600"/>
          </a:xfrm>
          <a:prstGeom xmlns:a="http://schemas.openxmlformats.org/drawingml/2006/main" prst="bentConnector5">
            <a:avLst>
              <a:gd name="adj1" fmla="val 0"/>
              <a:gd name="adj2" fmla="val 23077"/>
              <a:gd name="adj3" fmla="val 63077"/>
            </a:avLst>
          </a:prstGeom>
          <a:ln xmlns:a="http://schemas.openxmlformats.org/drawingml/2006/main" w="20955">
            <a:solidFill>
              <a:srgbClr val="2B8A66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36557-FC6F-4CF5-9E8E-A6EBF72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比较推理步骤，而不只比较最终答案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47C1B-FD67-4955-B513-8657F25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6797095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3FF58-9E48-4ADC-8992-3E531B72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DoctorAgent-RL：通过强化学习实现主动问诊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6A903-F8C2-426E-8204-B91BBE7A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5DFEB-406F-4919-A15D-D709304F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7B7F9-FBD9-4663-B78D-C4144062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传统系统的问题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E5B8-DA58-4388-A16C-413E99C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患者难以一次说清所有症状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单轮问答容易缺少关键信息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传统多轮模型主要模仿既有对话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4B215-CA3C-4C9B-993A-09B26179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621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模拟真实表达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946AA-26F9-4C43-897F-BB5ED54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选择下一步问题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8174E-5A68-4C76-B7AF-92BC35B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问诊评估器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提供多维奖励</a:t>
            </a:r>
          </a:p>
        </p:txBody>
      </p:sp>
      <p:cxnSp>
        <p:nvCxnSpPr>
          <p:cNvPr id="27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629275" y="24765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1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00550" y="2019300"/>
            <a:ext cx="228600" cy="215265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2F6BFF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629400" y="3086100"/>
            <a:ext cx="137160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6629400" y="3543300"/>
            <a:ext cx="2419350" cy="628650"/>
          </a:xfrm>
          <a:prstGeom xmlns:a="http://schemas.openxmlformats.org/drawingml/2006/main" prst="bentConnector5">
            <a:avLst>
              <a:gd name="adj1" fmla="val 0"/>
              <a:gd name="adj2" fmla="val 36364"/>
              <a:gd name="adj3" fmla="val 90551"/>
            </a:avLst>
          </a:prstGeom>
          <a:ln xmlns:a="http://schemas.openxmlformats.org/drawingml/2006/main" w="20955">
            <a:solidFill>
              <a:srgbClr val="E28A3B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CE1DD-3C15-4524-9525-209AEC7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提问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E3CDA-B7E8-4311-B043-5B7CFD3F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A3894-E9F3-459C-A032-C198E8D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奖励反馈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983D6-60C3-4F1A-9CBB-4CF7691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学习重点：如何通过提问逐步找到答案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D5A9D-6E28-459B-889E-80C153A2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53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论文报告完全诊断匹配率约 70%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E1A99-4A13-4854-BB39-3A9F875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259583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2026-09-17T05:06:05.6220000Z</dcterms:created>
  <dcterms:modified xsi:type="dcterms:W3CDTF">2026-09-17T05:06:05.6220000Z</dcterms:modified>
</coreProperties>
</file>